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1DFA32-3869-40F3-9333-F0364E8BA30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18" autoAdjust="0"/>
    <p:restoredTop sz="94660"/>
  </p:normalViewPr>
  <p:slideViewPr>
    <p:cSldViewPr snapToGrid="0">
      <p:cViewPr varScale="1">
        <p:scale>
          <a:sx n="92" d="100"/>
          <a:sy n="92" d="100"/>
        </p:scale>
        <p:origin x="7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30DE50-6773-4B41-9F5B-B97962461D16}" type="datetimeFigureOut">
              <a:rPr lang="en-US" smtClean="0"/>
              <a:t>10/16/2025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ED368A-FDA4-417E-8250-85AD08DCF463}" type="slidenum">
              <a:rPr lang="en-US" smtClean="0"/>
              <a:t>‹#›</a:t>
            </a:fld>
            <a:endParaRPr lang="en-US"/>
          </a:p>
        </p:txBody>
      </p:sp>
    </p:spTree>
    <p:extLst>
      <p:ext uri="{BB962C8B-B14F-4D97-AF65-F5344CB8AC3E}">
        <p14:creationId xmlns:p14="http://schemas.microsoft.com/office/powerpoint/2010/main" val="1609248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ED368A-FDA4-417E-8250-85AD08DCF463}" type="slidenum">
              <a:rPr lang="en-US" smtClean="0"/>
              <a:t>38</a:t>
            </a:fld>
            <a:endParaRPr lang="en-US"/>
          </a:p>
        </p:txBody>
      </p:sp>
    </p:spTree>
    <p:extLst>
      <p:ext uri="{BB962C8B-B14F-4D97-AF65-F5344CB8AC3E}">
        <p14:creationId xmlns:p14="http://schemas.microsoft.com/office/powerpoint/2010/main" val="1287593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3E119F-B453-4E7B-93F3-63FA74934E67}" type="datetimeFigureOut">
              <a:rPr lang="en-US" smtClean="0"/>
              <a:t>10/16/2025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35219BA5-38EC-47CD-B46C-1994B2F69E2D}"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33610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3E119F-B453-4E7B-93F3-63FA74934E67}"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19BA5-38EC-47CD-B46C-1994B2F69E2D}"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7057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3E119F-B453-4E7B-93F3-63FA74934E67}"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19BA5-38EC-47CD-B46C-1994B2F69E2D}"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0888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3E119F-B453-4E7B-93F3-63FA74934E67}" type="datetimeFigureOut">
              <a:rPr lang="en-US"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219BA5-38EC-47CD-B46C-1994B2F69E2D}"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9736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3E119F-B453-4E7B-93F3-63FA74934E67}" type="datetimeFigureOut">
              <a:rPr lang="en-US" smtClean="0"/>
              <a:t>10/16/2025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219BA5-38EC-47CD-B46C-1994B2F69E2D}"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2691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3E119F-B453-4E7B-93F3-63FA74934E67}" type="datetimeFigureOut">
              <a:rPr lang="en-US" smtClean="0"/>
              <a:t>10/16/2025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219BA5-38EC-47CD-B46C-1994B2F69E2D}"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0351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3E119F-B453-4E7B-93F3-63FA74934E67}" type="datetimeFigureOut">
              <a:rPr lang="en-US" smtClean="0"/>
              <a:t>10/16/2025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219BA5-38EC-47CD-B46C-1994B2F69E2D}" type="slidenum">
              <a:rPr lang="en-US" smtClean="0"/>
              <a:t>‹#›</a:t>
            </a:fld>
            <a:endParaRPr lang="en-US"/>
          </a:p>
        </p:txBody>
      </p:sp>
    </p:spTree>
    <p:extLst>
      <p:ext uri="{BB962C8B-B14F-4D97-AF65-F5344CB8AC3E}">
        <p14:creationId xmlns:p14="http://schemas.microsoft.com/office/powerpoint/2010/main" val="520007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3E119F-B453-4E7B-93F3-63FA74934E67}" type="datetimeFigureOut">
              <a:rPr lang="en-US"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219BA5-38EC-47CD-B46C-1994B2F69E2D}"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922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53E119F-B453-4E7B-93F3-63FA74934E67}" type="datetimeFigureOut">
              <a:rPr lang="en-US" smtClean="0"/>
              <a:t>10/16/2025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35219BA5-38EC-47CD-B46C-1994B2F69E2D}"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663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3E119F-B453-4E7B-93F3-63FA74934E67}"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19BA5-38EC-47CD-B46C-1994B2F69E2D}"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4057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3E119F-B453-4E7B-93F3-63FA74934E67}"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19BA5-38EC-47CD-B46C-1994B2F69E2D}"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23465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53E119F-B453-4E7B-93F3-63FA74934E67}" type="datetimeFigureOut">
              <a:rPr lang="en-US" smtClean="0"/>
              <a:t>10/16/2025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35219BA5-38EC-47CD-B46C-1994B2F69E2D}"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64358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E0DF-8063-661D-2562-D8C097E84C09}"/>
              </a:ext>
            </a:extLst>
          </p:cNvPr>
          <p:cNvSpPr>
            <a:spLocks noGrp="1"/>
          </p:cNvSpPr>
          <p:nvPr>
            <p:ph type="ctrTitle"/>
          </p:nvPr>
        </p:nvSpPr>
        <p:spPr/>
        <p:txBody>
          <a:bodyPr>
            <a:normAutofit/>
          </a:bodyPr>
          <a:lstStyle/>
          <a:p>
            <a:r>
              <a:rPr lang="en-US" sz="4000" dirty="0">
                <a:cs typeface="Arabic Typesetting" panose="03020402040406030203" pitchFamily="66" charset="-78"/>
              </a:rPr>
              <a:t>Which DNA Patterns Play the Role of Molecular Clocks?</a:t>
            </a:r>
          </a:p>
        </p:txBody>
      </p:sp>
      <p:sp>
        <p:nvSpPr>
          <p:cNvPr id="3" name="Subtitle 2">
            <a:extLst>
              <a:ext uri="{FF2B5EF4-FFF2-40B4-BE49-F238E27FC236}">
                <a16:creationId xmlns:a16="http://schemas.microsoft.com/office/drawing/2014/main" id="{43AAB70A-5CAC-D8B5-A3AB-614CEDA7EC5A}"/>
              </a:ext>
            </a:extLst>
          </p:cNvPr>
          <p:cNvSpPr>
            <a:spLocks noGrp="1"/>
          </p:cNvSpPr>
          <p:nvPr>
            <p:ph type="subTitle" idx="1"/>
          </p:nvPr>
        </p:nvSpPr>
        <p:spPr/>
        <p:txBody>
          <a:bodyPr>
            <a:normAutofit/>
          </a:bodyPr>
          <a:lstStyle/>
          <a:p>
            <a:r>
              <a:rPr lang="en-US" sz="2800" dirty="0">
                <a:cs typeface="Arabic Typesetting" panose="03020402040406030203" pitchFamily="66" charset="-78"/>
              </a:rPr>
              <a:t>Representers : </a:t>
            </a:r>
            <a:r>
              <a:rPr lang="en-US" sz="2800" dirty="0" err="1">
                <a:cs typeface="Arabic Typesetting" panose="03020402040406030203" pitchFamily="66" charset="-78"/>
              </a:rPr>
              <a:t>keivan</a:t>
            </a:r>
            <a:r>
              <a:rPr lang="en-US" sz="2800" dirty="0">
                <a:cs typeface="Arabic Typesetting" panose="03020402040406030203" pitchFamily="66" charset="-78"/>
              </a:rPr>
              <a:t> abbasi , </a:t>
            </a:r>
            <a:r>
              <a:rPr lang="en-US" sz="2800" dirty="0" err="1">
                <a:cs typeface="Arabic Typesetting" panose="03020402040406030203" pitchFamily="66" charset="-78"/>
              </a:rPr>
              <a:t>shayan</a:t>
            </a:r>
            <a:r>
              <a:rPr lang="en-US" sz="2800" dirty="0">
                <a:cs typeface="Arabic Typesetting" panose="03020402040406030203" pitchFamily="66" charset="-78"/>
              </a:rPr>
              <a:t> </a:t>
            </a:r>
            <a:r>
              <a:rPr lang="en-US" sz="2800" dirty="0" err="1">
                <a:cs typeface="Arabic Typesetting" panose="03020402040406030203" pitchFamily="66" charset="-78"/>
              </a:rPr>
              <a:t>naji</a:t>
            </a:r>
            <a:r>
              <a:rPr lang="en-US" sz="2800" dirty="0">
                <a:cs typeface="Arabic Typesetting" panose="03020402040406030203" pitchFamily="66" charset="-78"/>
              </a:rPr>
              <a:t> </a:t>
            </a:r>
          </a:p>
        </p:txBody>
      </p:sp>
    </p:spTree>
    <p:extLst>
      <p:ext uri="{BB962C8B-B14F-4D97-AF65-F5344CB8AC3E}">
        <p14:creationId xmlns:p14="http://schemas.microsoft.com/office/powerpoint/2010/main" val="71394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49D5-E690-C603-D647-052001151BC0}"/>
              </a:ext>
            </a:extLst>
          </p:cNvPr>
          <p:cNvSpPr>
            <a:spLocks noGrp="1"/>
          </p:cNvSpPr>
          <p:nvPr>
            <p:ph type="title"/>
          </p:nvPr>
        </p:nvSpPr>
        <p:spPr/>
        <p:txBody>
          <a:bodyPr/>
          <a:lstStyle/>
          <a:p>
            <a:r>
              <a:rPr lang="en-US" dirty="0"/>
              <a:t>Do we Have a "Clock" Gene?</a:t>
            </a:r>
          </a:p>
        </p:txBody>
      </p:sp>
      <p:sp>
        <p:nvSpPr>
          <p:cNvPr id="3" name="Content Placeholder 2">
            <a:extLst>
              <a:ext uri="{FF2B5EF4-FFF2-40B4-BE49-F238E27FC236}">
                <a16:creationId xmlns:a16="http://schemas.microsoft.com/office/drawing/2014/main" id="{1799A51A-615B-8E4E-7726-9393DC530242}"/>
              </a:ext>
            </a:extLst>
          </p:cNvPr>
          <p:cNvSpPr>
            <a:spLocks noGrp="1"/>
          </p:cNvSpPr>
          <p:nvPr>
            <p:ph idx="1"/>
          </p:nvPr>
        </p:nvSpPr>
        <p:spPr/>
        <p:txBody>
          <a:bodyPr/>
          <a:lstStyle/>
          <a:p>
            <a:r>
              <a:rPr lang="en-US" b="0" i="0" dirty="0">
                <a:solidFill>
                  <a:srgbClr val="000000"/>
                </a:solidFill>
                <a:effectLst/>
                <a:latin typeface="Raleway" pitchFamily="2" charset="0"/>
              </a:rPr>
              <a:t>The daily schedules of animals, plants, and even bacteria are controlled by an internal timekeeper called the </a:t>
            </a:r>
            <a:r>
              <a:rPr lang="en-US" b="1" i="0" dirty="0">
                <a:solidFill>
                  <a:srgbClr val="000000"/>
                </a:solidFill>
                <a:effectLst/>
                <a:latin typeface="Raleway" pitchFamily="2" charset="0"/>
              </a:rPr>
              <a:t>circadian clock</a:t>
            </a:r>
            <a:r>
              <a:rPr lang="en-US" b="0" i="0" dirty="0">
                <a:solidFill>
                  <a:srgbClr val="000000"/>
                </a:solidFill>
                <a:effectLst/>
                <a:latin typeface="Raleway" pitchFamily="2" charset="0"/>
              </a:rPr>
              <a:t>. Anyone who has experienced the misery of jet lag knows that this clock never stops ticking. Rats and research volunteers alike, when placed in a bunker, naturally maintain a roughly 24-hour cycle of activity and rest in total darkness. And, like any timepiece, the circadian clock can malfunction, resulting in a genetic disease known as </a:t>
            </a:r>
            <a:r>
              <a:rPr lang="en-US" b="1" i="0" dirty="0">
                <a:solidFill>
                  <a:srgbClr val="000000"/>
                </a:solidFill>
                <a:effectLst/>
                <a:latin typeface="Raleway" pitchFamily="2" charset="0"/>
              </a:rPr>
              <a:t>delayed sleep-phase syndrome</a:t>
            </a:r>
            <a:r>
              <a:rPr lang="en-US" b="0" i="0" dirty="0">
                <a:solidFill>
                  <a:srgbClr val="000000"/>
                </a:solidFill>
                <a:effectLst/>
                <a:latin typeface="Raleway" pitchFamily="2" charset="0"/>
              </a:rPr>
              <a:t> (</a:t>
            </a:r>
            <a:r>
              <a:rPr lang="en-US" b="1" i="0" dirty="0">
                <a:solidFill>
                  <a:srgbClr val="000000"/>
                </a:solidFill>
                <a:effectLst/>
                <a:latin typeface="Raleway" pitchFamily="2" charset="0"/>
              </a:rPr>
              <a:t>DSPS</a:t>
            </a:r>
            <a:r>
              <a:rPr lang="en-US" b="0" i="0" dirty="0">
                <a:solidFill>
                  <a:srgbClr val="000000"/>
                </a:solidFill>
                <a:effectLst/>
                <a:latin typeface="Raleway" pitchFamily="2" charset="0"/>
              </a:rPr>
              <a:t>).</a:t>
            </a:r>
            <a:endParaRPr lang="en-US" dirty="0"/>
          </a:p>
        </p:txBody>
      </p:sp>
    </p:spTree>
    <p:extLst>
      <p:ext uri="{BB962C8B-B14F-4D97-AF65-F5344CB8AC3E}">
        <p14:creationId xmlns:p14="http://schemas.microsoft.com/office/powerpoint/2010/main" val="1189301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4070C-47E4-78FF-8BFF-153658942C86}"/>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Do we Have a "Clock" Gene?</a:t>
            </a:r>
            <a:endParaRPr lang="en-US" dirty="0"/>
          </a:p>
        </p:txBody>
      </p:sp>
      <p:sp>
        <p:nvSpPr>
          <p:cNvPr id="3" name="Content Placeholder 2">
            <a:extLst>
              <a:ext uri="{FF2B5EF4-FFF2-40B4-BE49-F238E27FC236}">
                <a16:creationId xmlns:a16="http://schemas.microsoft.com/office/drawing/2014/main" id="{4D4657C1-13FF-ED00-E964-E615DC35BF70}"/>
              </a:ext>
            </a:extLst>
          </p:cNvPr>
          <p:cNvSpPr>
            <a:spLocks noGrp="1"/>
          </p:cNvSpPr>
          <p:nvPr>
            <p:ph idx="1"/>
          </p:nvPr>
        </p:nvSpPr>
        <p:spPr/>
        <p:txBody>
          <a:bodyPr/>
          <a:lstStyle/>
          <a:p>
            <a:r>
              <a:rPr lang="en-US" b="0" i="0" dirty="0">
                <a:solidFill>
                  <a:srgbClr val="000000"/>
                </a:solidFill>
                <a:effectLst/>
                <a:latin typeface="Raleway" pitchFamily="2" charset="0"/>
              </a:rPr>
              <a:t>The circadian clock must have some basis on the molecular level, which presents many questions. How do </a:t>
            </a:r>
            <a:r>
              <a:rPr lang="en-US" b="0" i="1" dirty="0">
                <a:solidFill>
                  <a:srgbClr val="000000"/>
                </a:solidFill>
                <a:effectLst/>
                <a:latin typeface="Raleway" pitchFamily="2" charset="0"/>
              </a:rPr>
              <a:t>individual cells</a:t>
            </a:r>
            <a:r>
              <a:rPr lang="en-US" b="0" i="0" dirty="0">
                <a:solidFill>
                  <a:srgbClr val="000000"/>
                </a:solidFill>
                <a:effectLst/>
                <a:latin typeface="Raleway" pitchFamily="2" charset="0"/>
              </a:rPr>
              <a:t> in animals and plants, let alone bacteria, know when they should slow down or increase the production of certain proteins? Is there a “clock gene”? Can we explain why heart attacks occur more often in the morning, while asthma attacks are more common at night? And can we identify genes that are responsible for “breaking” the circadian clock to cause DSPS?</a:t>
            </a:r>
            <a:endParaRPr lang="en-US" dirty="0"/>
          </a:p>
        </p:txBody>
      </p:sp>
    </p:spTree>
    <p:extLst>
      <p:ext uri="{BB962C8B-B14F-4D97-AF65-F5344CB8AC3E}">
        <p14:creationId xmlns:p14="http://schemas.microsoft.com/office/powerpoint/2010/main" val="3976904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A13D-2DAB-FBE9-2C64-E26FD7BA2115}"/>
              </a:ext>
            </a:extLst>
          </p:cNvPr>
          <p:cNvSpPr>
            <a:spLocks noGrp="1"/>
          </p:cNvSpPr>
          <p:nvPr>
            <p:ph type="title"/>
          </p:nvPr>
        </p:nvSpPr>
        <p:spPr/>
        <p:txBody>
          <a:bodyPr/>
          <a:lstStyle/>
          <a:p>
            <a:r>
              <a:rPr lang="en-US" dirty="0"/>
              <a:t>Do we Have a "Clock" Gene?</a:t>
            </a:r>
          </a:p>
        </p:txBody>
      </p:sp>
      <p:sp>
        <p:nvSpPr>
          <p:cNvPr id="3" name="Content Placeholder 2">
            <a:extLst>
              <a:ext uri="{FF2B5EF4-FFF2-40B4-BE49-F238E27FC236}">
                <a16:creationId xmlns:a16="http://schemas.microsoft.com/office/drawing/2014/main" id="{92C53177-B8DE-D714-18CB-4E6ECF1700DC}"/>
              </a:ext>
            </a:extLst>
          </p:cNvPr>
          <p:cNvSpPr>
            <a:spLocks noGrp="1"/>
          </p:cNvSpPr>
          <p:nvPr>
            <p:ph idx="1"/>
          </p:nvPr>
        </p:nvSpPr>
        <p:spPr/>
        <p:txBody>
          <a:bodyPr/>
          <a:lstStyle/>
          <a:p>
            <a:r>
              <a:rPr lang="en-US" b="0" i="0" dirty="0">
                <a:solidFill>
                  <a:srgbClr val="000000"/>
                </a:solidFill>
                <a:effectLst/>
                <a:latin typeface="Raleway" pitchFamily="2" charset="0"/>
              </a:rPr>
              <a:t>In the early 1970s, Ron Konopka and Seymour Benzer identified mutant flies with abnormal circadian patterns and traced the flies’ mutations to a single gene. Biologists needed two more decades to discover a similar clock gene in mammals, which was just the first piece of the puzzle. Today, many more circadian genes have been discovered; these genes, having names like </a:t>
            </a:r>
            <a:r>
              <a:rPr lang="en-US" b="0" i="1" dirty="0">
                <a:solidFill>
                  <a:srgbClr val="000000"/>
                </a:solidFill>
                <a:effectLst/>
                <a:latin typeface="Raleway" pitchFamily="2" charset="0"/>
              </a:rPr>
              <a:t>timeless</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clock</a:t>
            </a:r>
            <a:r>
              <a:rPr lang="en-US" b="0" i="0" dirty="0">
                <a:solidFill>
                  <a:srgbClr val="000000"/>
                </a:solidFill>
                <a:effectLst/>
                <a:latin typeface="Raleway" pitchFamily="2" charset="0"/>
              </a:rPr>
              <a:t>, and </a:t>
            </a:r>
            <a:r>
              <a:rPr lang="en-US" b="0" i="1" dirty="0">
                <a:solidFill>
                  <a:srgbClr val="000000"/>
                </a:solidFill>
                <a:effectLst/>
                <a:latin typeface="Raleway" pitchFamily="2" charset="0"/>
              </a:rPr>
              <a:t>cycle</a:t>
            </a:r>
            <a:r>
              <a:rPr lang="en-US" b="0" i="0" dirty="0">
                <a:solidFill>
                  <a:srgbClr val="000000"/>
                </a:solidFill>
                <a:effectLst/>
                <a:latin typeface="Raleway" pitchFamily="2" charset="0"/>
              </a:rPr>
              <a:t>, orchestrate the behavior of hundreds of other genes and display a high degree of evolutionary conservation across species.</a:t>
            </a:r>
            <a:endParaRPr lang="en-US" dirty="0"/>
          </a:p>
        </p:txBody>
      </p:sp>
    </p:spTree>
    <p:extLst>
      <p:ext uri="{BB962C8B-B14F-4D97-AF65-F5344CB8AC3E}">
        <p14:creationId xmlns:p14="http://schemas.microsoft.com/office/powerpoint/2010/main" val="2031074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1EE5F-8822-83F1-A471-836F43E38FA8}"/>
              </a:ext>
            </a:extLst>
          </p:cNvPr>
          <p:cNvSpPr>
            <a:spLocks noGrp="1"/>
          </p:cNvSpPr>
          <p:nvPr>
            <p:ph type="title"/>
          </p:nvPr>
        </p:nvSpPr>
        <p:spPr/>
        <p:txBody>
          <a:bodyPr/>
          <a:lstStyle/>
          <a:p>
            <a:r>
              <a:rPr lang="en-US" dirty="0"/>
              <a:t>Do we Have a "Clock" Gene?</a:t>
            </a:r>
          </a:p>
        </p:txBody>
      </p:sp>
      <p:sp>
        <p:nvSpPr>
          <p:cNvPr id="3" name="Content Placeholder 2">
            <a:extLst>
              <a:ext uri="{FF2B5EF4-FFF2-40B4-BE49-F238E27FC236}">
                <a16:creationId xmlns:a16="http://schemas.microsoft.com/office/drawing/2014/main" id="{70153603-3B92-578E-4881-D43E79726004}"/>
              </a:ext>
            </a:extLst>
          </p:cNvPr>
          <p:cNvSpPr>
            <a:spLocks noGrp="1"/>
          </p:cNvSpPr>
          <p:nvPr>
            <p:ph idx="1"/>
          </p:nvPr>
        </p:nvSpPr>
        <p:spPr/>
        <p:txBody>
          <a:bodyPr/>
          <a:lstStyle/>
          <a:p>
            <a:r>
              <a:rPr lang="en-US" b="0" i="0" dirty="0">
                <a:solidFill>
                  <a:srgbClr val="000000"/>
                </a:solidFill>
                <a:effectLst/>
                <a:latin typeface="Raleway" pitchFamily="2" charset="0"/>
              </a:rPr>
              <a:t>We will first focus on plants, since maintaining the circadian clock in plants is a matter of life and death. Consider how many plant genes should pay attention to the time when the sun rises and sets; indeed, biologists estimate that over a thousand plant genes are circadian, including the genes related to photosynthesis, photo reception, and flowering. These genes must somehow know what time it is in order to change their gene transcript production, or </a:t>
            </a:r>
            <a:r>
              <a:rPr lang="en-US" b="1" i="0" dirty="0">
                <a:solidFill>
                  <a:srgbClr val="000000"/>
                </a:solidFill>
                <a:effectLst/>
                <a:latin typeface="Raleway" pitchFamily="2" charset="0"/>
              </a:rPr>
              <a:t>gene expression</a:t>
            </a:r>
            <a:r>
              <a:rPr lang="en-US" b="0" i="0" dirty="0">
                <a:solidFill>
                  <a:srgbClr val="000000"/>
                </a:solidFill>
                <a:effectLst/>
                <a:latin typeface="Raleway" pitchFamily="2" charset="0"/>
              </a:rPr>
              <a:t>, throughout the day.</a:t>
            </a:r>
            <a:endParaRPr lang="en-US" dirty="0"/>
          </a:p>
        </p:txBody>
      </p:sp>
    </p:spTree>
    <p:extLst>
      <p:ext uri="{BB962C8B-B14F-4D97-AF65-F5344CB8AC3E}">
        <p14:creationId xmlns:p14="http://schemas.microsoft.com/office/powerpoint/2010/main" val="1162154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F4D6-B82F-B883-9AED-612D8A2F97C2}"/>
              </a:ext>
            </a:extLst>
          </p:cNvPr>
          <p:cNvSpPr>
            <a:spLocks noGrp="1"/>
          </p:cNvSpPr>
          <p:nvPr>
            <p:ph type="title"/>
          </p:nvPr>
        </p:nvSpPr>
        <p:spPr/>
        <p:txBody>
          <a:bodyPr/>
          <a:lstStyle/>
          <a:p>
            <a:r>
              <a:rPr lang="en-US" dirty="0"/>
              <a:t>Do we Have a "Clock" Gene?</a:t>
            </a:r>
          </a:p>
        </p:txBody>
      </p:sp>
      <p:sp>
        <p:nvSpPr>
          <p:cNvPr id="3" name="Content Placeholder 2">
            <a:extLst>
              <a:ext uri="{FF2B5EF4-FFF2-40B4-BE49-F238E27FC236}">
                <a16:creationId xmlns:a16="http://schemas.microsoft.com/office/drawing/2014/main" id="{E280C62D-1B29-96F4-DCE7-1BE96DDB74FB}"/>
              </a:ext>
            </a:extLst>
          </p:cNvPr>
          <p:cNvSpPr>
            <a:spLocks noGrp="1"/>
          </p:cNvSpPr>
          <p:nvPr>
            <p:ph idx="1"/>
          </p:nvPr>
        </p:nvSpPr>
        <p:spPr/>
        <p:txBody>
          <a:bodyPr/>
          <a:lstStyle/>
          <a:p>
            <a:r>
              <a:rPr lang="en-US" b="0" i="0" dirty="0">
                <a:solidFill>
                  <a:srgbClr val="000000"/>
                </a:solidFill>
                <a:effectLst/>
                <a:latin typeface="Raleway" pitchFamily="2" charset="0"/>
              </a:rPr>
              <a:t>It turns out that every plant cell keeps track of day and night independently of other cells, and that just three plant genes, called LHY, CCA1, and TOC1, are the clock’s master timekeepers. Such regulatory genes, and the </a:t>
            </a:r>
            <a:r>
              <a:rPr lang="en-US" b="1" i="0" dirty="0">
                <a:solidFill>
                  <a:srgbClr val="000000"/>
                </a:solidFill>
                <a:effectLst/>
                <a:latin typeface="Raleway" pitchFamily="2" charset="0"/>
              </a:rPr>
              <a:t>regulatory proteins</a:t>
            </a:r>
            <a:r>
              <a:rPr lang="en-US" b="0" i="0" dirty="0">
                <a:solidFill>
                  <a:srgbClr val="000000"/>
                </a:solidFill>
                <a:effectLst/>
                <a:latin typeface="Raleway" pitchFamily="2" charset="0"/>
              </a:rPr>
              <a:t> that they encode, are often controlled by external factors (e.g., nutrient availability or sunlight) in order to allow organisms to adjust their gene expression.</a:t>
            </a:r>
            <a:endParaRPr lang="en-US" dirty="0"/>
          </a:p>
        </p:txBody>
      </p:sp>
    </p:spTree>
    <p:extLst>
      <p:ext uri="{BB962C8B-B14F-4D97-AF65-F5344CB8AC3E}">
        <p14:creationId xmlns:p14="http://schemas.microsoft.com/office/powerpoint/2010/main" val="2845265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EC012-8DA2-FB01-40CB-4E6338AF7B06}"/>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Do we Have a "Clock" Gene?</a:t>
            </a:r>
            <a:endParaRPr lang="en-US" dirty="0"/>
          </a:p>
        </p:txBody>
      </p:sp>
      <p:sp>
        <p:nvSpPr>
          <p:cNvPr id="3" name="Content Placeholder 2">
            <a:extLst>
              <a:ext uri="{FF2B5EF4-FFF2-40B4-BE49-F238E27FC236}">
                <a16:creationId xmlns:a16="http://schemas.microsoft.com/office/drawing/2014/main" id="{142AB161-6200-0AFB-CE2F-AA6D49497E07}"/>
              </a:ext>
            </a:extLst>
          </p:cNvPr>
          <p:cNvSpPr>
            <a:spLocks noGrp="1"/>
          </p:cNvSpPr>
          <p:nvPr>
            <p:ph idx="1"/>
          </p:nvPr>
        </p:nvSpPr>
        <p:spPr/>
        <p:txBody>
          <a:bodyPr/>
          <a:lstStyle/>
          <a:p>
            <a:r>
              <a:rPr lang="en-US" b="0" i="0" dirty="0">
                <a:solidFill>
                  <a:srgbClr val="000000"/>
                </a:solidFill>
                <a:effectLst/>
                <a:latin typeface="Raleway" pitchFamily="2" charset="0"/>
              </a:rPr>
              <a:t>For example, regulatory proteins controlling the circadian clock in plants coordinate circadian activity as follows. TOC1 promotes the expression of LHY and CCA1, whereas LHY and CCA1 repress the expression of TOC1, resulting in a </a:t>
            </a:r>
            <a:r>
              <a:rPr lang="en-US" b="1" i="0" dirty="0">
                <a:solidFill>
                  <a:srgbClr val="000000"/>
                </a:solidFill>
                <a:effectLst/>
                <a:latin typeface="Raleway" pitchFamily="2" charset="0"/>
              </a:rPr>
              <a:t>negative feedback loop</a:t>
            </a:r>
            <a:r>
              <a:rPr lang="en-US" b="0" i="0" dirty="0">
                <a:solidFill>
                  <a:srgbClr val="000000"/>
                </a:solidFill>
                <a:effectLst/>
                <a:latin typeface="Raleway" pitchFamily="2" charset="0"/>
              </a:rPr>
              <a:t>. In the morning, sunlight activates the transcription of LHY and CCA1, triggering the repression of TOC1 transcription. As light diminishes, so does the production of LHY and CCA1, which in turn do not repress TOC1 any more. Transcription of TOC1 peaks at night and starts promoting the transcription of LHY and CCA1, which in turn repress the transcription of TOC1, and the cycle begins again.</a:t>
            </a:r>
            <a:endParaRPr lang="en-US" dirty="0"/>
          </a:p>
        </p:txBody>
      </p:sp>
    </p:spTree>
    <p:extLst>
      <p:ext uri="{BB962C8B-B14F-4D97-AF65-F5344CB8AC3E}">
        <p14:creationId xmlns:p14="http://schemas.microsoft.com/office/powerpoint/2010/main" val="588027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70238-77C4-1E3D-48EF-98CA6AA898FB}"/>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Do we Have a "Clock" Gene?</a:t>
            </a:r>
            <a:endParaRPr lang="en-US" dirty="0"/>
          </a:p>
        </p:txBody>
      </p:sp>
      <p:sp>
        <p:nvSpPr>
          <p:cNvPr id="3" name="Content Placeholder 2">
            <a:extLst>
              <a:ext uri="{FF2B5EF4-FFF2-40B4-BE49-F238E27FC236}">
                <a16:creationId xmlns:a16="http://schemas.microsoft.com/office/drawing/2014/main" id="{8B4B650A-91CB-653E-8C38-352BB2204672}"/>
              </a:ext>
            </a:extLst>
          </p:cNvPr>
          <p:cNvSpPr>
            <a:spLocks noGrp="1"/>
          </p:cNvSpPr>
          <p:nvPr>
            <p:ph idx="1"/>
          </p:nvPr>
        </p:nvSpPr>
        <p:spPr/>
        <p:txBody>
          <a:bodyPr/>
          <a:lstStyle/>
          <a:p>
            <a:r>
              <a:rPr lang="en-US" b="0" i="0" dirty="0">
                <a:solidFill>
                  <a:srgbClr val="000000"/>
                </a:solidFill>
                <a:effectLst/>
                <a:latin typeface="Raleway" pitchFamily="2" charset="0"/>
              </a:rPr>
              <a:t>LHY, CCA1, and TOC1 are able to control the transcription of other genes because the regulatory proteins that they encode are </a:t>
            </a:r>
            <a:r>
              <a:rPr lang="en-US" b="1" i="0" dirty="0">
                <a:solidFill>
                  <a:srgbClr val="000000"/>
                </a:solidFill>
                <a:effectLst/>
                <a:latin typeface="Raleway" pitchFamily="2" charset="0"/>
              </a:rPr>
              <a:t>transcription factors</a:t>
            </a:r>
            <a:r>
              <a:rPr lang="en-US" b="0" i="0" dirty="0">
                <a:solidFill>
                  <a:srgbClr val="000000"/>
                </a:solidFill>
                <a:effectLst/>
                <a:latin typeface="Raleway" pitchFamily="2" charset="0"/>
              </a:rPr>
              <a:t>, or master regulatory proteins that turn other genes on and off. A transcription factor regulates a gene by binding to a specific short DNA interval called a </a:t>
            </a:r>
            <a:r>
              <a:rPr lang="en-US" b="1" i="0" dirty="0">
                <a:solidFill>
                  <a:srgbClr val="000000"/>
                </a:solidFill>
                <a:effectLst/>
                <a:latin typeface="Raleway" pitchFamily="2" charset="0"/>
              </a:rPr>
              <a:t>regulatory motif</a:t>
            </a:r>
            <a:r>
              <a:rPr lang="en-US" b="0" i="0" dirty="0">
                <a:solidFill>
                  <a:srgbClr val="000000"/>
                </a:solidFill>
                <a:effectLst/>
                <a:latin typeface="Raleway" pitchFamily="2" charset="0"/>
              </a:rPr>
              <a:t>, or </a:t>
            </a:r>
            <a:r>
              <a:rPr lang="en-US" b="1" i="0" dirty="0">
                <a:solidFill>
                  <a:srgbClr val="000000"/>
                </a:solidFill>
                <a:effectLst/>
                <a:latin typeface="Raleway" pitchFamily="2" charset="0"/>
              </a:rPr>
              <a:t>transcription factor binding site</a:t>
            </a:r>
            <a:r>
              <a:rPr lang="en-US" b="0" i="0" dirty="0">
                <a:solidFill>
                  <a:srgbClr val="000000"/>
                </a:solidFill>
                <a:effectLst/>
                <a:latin typeface="Raleway" pitchFamily="2" charset="0"/>
              </a:rPr>
              <a:t>, in the gene's </a:t>
            </a:r>
            <a:r>
              <a:rPr lang="en-US" b="1" i="0" dirty="0">
                <a:solidFill>
                  <a:srgbClr val="000000"/>
                </a:solidFill>
                <a:effectLst/>
                <a:latin typeface="Raleway" pitchFamily="2" charset="0"/>
              </a:rPr>
              <a:t>upstream region</a:t>
            </a:r>
            <a:r>
              <a:rPr lang="en-US" b="0" i="0" dirty="0">
                <a:solidFill>
                  <a:srgbClr val="000000"/>
                </a:solidFill>
                <a:effectLst/>
                <a:latin typeface="Raleway" pitchFamily="2" charset="0"/>
              </a:rPr>
              <a:t>, a 600-1000 nucleotide-long region preceding the start of the gene. For example, CCA1 binds to </a:t>
            </a:r>
            <a:r>
              <a:rPr lang="en-US" b="0" i="0" dirty="0">
                <a:solidFill>
                  <a:srgbClr val="000000"/>
                </a:solidFill>
                <a:effectLst/>
                <a:latin typeface="Courier New" panose="02070309020205020404" pitchFamily="49" charset="0"/>
              </a:rPr>
              <a:t>AAAAAATCT</a:t>
            </a:r>
            <a:r>
              <a:rPr lang="en-US" b="0" i="0" dirty="0">
                <a:solidFill>
                  <a:srgbClr val="000000"/>
                </a:solidFill>
                <a:effectLst/>
                <a:latin typeface="Raleway" pitchFamily="2" charset="0"/>
              </a:rPr>
              <a:t> in the upstream region of many genes regulated by CCA1.</a:t>
            </a:r>
            <a:endParaRPr lang="en-US" dirty="0"/>
          </a:p>
        </p:txBody>
      </p:sp>
    </p:spTree>
    <p:extLst>
      <p:ext uri="{BB962C8B-B14F-4D97-AF65-F5344CB8AC3E}">
        <p14:creationId xmlns:p14="http://schemas.microsoft.com/office/powerpoint/2010/main" val="1707253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E168F-12E3-9810-B450-FE49F18F114C}"/>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Do we Have a "Clock" Gene?</a:t>
            </a:r>
            <a:endParaRPr lang="en-US" dirty="0"/>
          </a:p>
        </p:txBody>
      </p:sp>
      <p:sp>
        <p:nvSpPr>
          <p:cNvPr id="3" name="Content Placeholder 2">
            <a:extLst>
              <a:ext uri="{FF2B5EF4-FFF2-40B4-BE49-F238E27FC236}">
                <a16:creationId xmlns:a16="http://schemas.microsoft.com/office/drawing/2014/main" id="{4BAFA88C-5D05-7466-2456-9FF19CC38551}"/>
              </a:ext>
            </a:extLst>
          </p:cNvPr>
          <p:cNvSpPr>
            <a:spLocks noGrp="1"/>
          </p:cNvSpPr>
          <p:nvPr>
            <p:ph idx="1"/>
          </p:nvPr>
        </p:nvSpPr>
        <p:spPr/>
        <p:txBody>
          <a:bodyPr/>
          <a:lstStyle/>
          <a:p>
            <a:r>
              <a:rPr lang="en-US" b="0" i="0" dirty="0">
                <a:solidFill>
                  <a:srgbClr val="000000"/>
                </a:solidFill>
                <a:effectLst/>
                <a:latin typeface="Raleway" pitchFamily="2" charset="0"/>
              </a:rPr>
              <a:t>The life of a bioinformatician would be easy if regulatory motifs were completely conserved, but the reality is more complex, as regulatory motifs may vary at some positions, e.g., CCA1 may instead bind to </a:t>
            </a:r>
            <a:r>
              <a:rPr lang="en-US" b="1" i="0" dirty="0">
                <a:solidFill>
                  <a:srgbClr val="A03881"/>
                </a:solidFill>
                <a:effectLst/>
                <a:latin typeface="Courier New" panose="02070309020205020404" pitchFamily="49" charset="0"/>
              </a:rPr>
              <a:t>AA</a:t>
            </a:r>
            <a:r>
              <a:rPr lang="en-US" b="1" i="0" dirty="0">
                <a:solidFill>
                  <a:srgbClr val="FF4363"/>
                </a:solidFill>
                <a:effectLst/>
                <a:latin typeface="Courier New" panose="02070309020205020404" pitchFamily="49" charset="0"/>
              </a:rPr>
              <a:t>G</a:t>
            </a:r>
            <a:r>
              <a:rPr lang="en-US" b="1" i="0" dirty="0">
                <a:solidFill>
                  <a:srgbClr val="A03881"/>
                </a:solidFill>
                <a:effectLst/>
                <a:latin typeface="Courier New" panose="02070309020205020404" pitchFamily="49" charset="0"/>
              </a:rPr>
              <a:t>AA</a:t>
            </a:r>
            <a:r>
              <a:rPr lang="en-US" b="1" i="0" dirty="0">
                <a:solidFill>
                  <a:srgbClr val="64B0F4"/>
                </a:solidFill>
                <a:effectLst/>
                <a:latin typeface="Courier New" panose="02070309020205020404" pitchFamily="49" charset="0"/>
              </a:rPr>
              <a:t>C</a:t>
            </a:r>
            <a:r>
              <a:rPr lang="en-US" b="1" i="0" dirty="0">
                <a:solidFill>
                  <a:srgbClr val="66CC66"/>
                </a:solidFill>
                <a:effectLst/>
                <a:latin typeface="Courier New" panose="02070309020205020404" pitchFamily="49" charset="0"/>
              </a:rPr>
              <a:t>T</a:t>
            </a:r>
            <a:r>
              <a:rPr lang="en-US" b="1" i="0" dirty="0">
                <a:solidFill>
                  <a:srgbClr val="64B0F4"/>
                </a:solidFill>
                <a:effectLst/>
                <a:latin typeface="Courier New" panose="02070309020205020404" pitchFamily="49" charset="0"/>
              </a:rPr>
              <a:t>CT</a:t>
            </a:r>
            <a:r>
              <a:rPr lang="en-US" b="0" i="0" dirty="0">
                <a:solidFill>
                  <a:srgbClr val="000000"/>
                </a:solidFill>
                <a:effectLst/>
                <a:latin typeface="Raleway" pitchFamily="2" charset="0"/>
              </a:rPr>
              <a:t>. But how can we locate these regulatory motifs without knowing what they look like in advance? We need to develop algorithms for </a:t>
            </a:r>
            <a:r>
              <a:rPr lang="en-US" b="1" i="0" dirty="0">
                <a:solidFill>
                  <a:srgbClr val="000000"/>
                </a:solidFill>
                <a:effectLst/>
                <a:latin typeface="Raleway" pitchFamily="2" charset="0"/>
              </a:rPr>
              <a:t>motif finding</a:t>
            </a:r>
            <a:r>
              <a:rPr lang="en-US" b="0" i="0" dirty="0">
                <a:solidFill>
                  <a:srgbClr val="000000"/>
                </a:solidFill>
                <a:effectLst/>
                <a:latin typeface="Raleway" pitchFamily="2" charset="0"/>
              </a:rPr>
              <a:t>, the problem of discovering a “hidden message” shared by a collection of strings.</a:t>
            </a:r>
            <a:endParaRPr lang="en-US" dirty="0"/>
          </a:p>
        </p:txBody>
      </p:sp>
    </p:spTree>
    <p:extLst>
      <p:ext uri="{BB962C8B-B14F-4D97-AF65-F5344CB8AC3E}">
        <p14:creationId xmlns:p14="http://schemas.microsoft.com/office/powerpoint/2010/main" val="4090343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B9684-0331-90CB-C1CB-76B3E1C0EF0C}"/>
              </a:ext>
            </a:extLst>
          </p:cNvPr>
          <p:cNvSpPr>
            <a:spLocks noGrp="1"/>
          </p:cNvSpPr>
          <p:nvPr>
            <p:ph type="title"/>
          </p:nvPr>
        </p:nvSpPr>
        <p:spPr/>
        <p:txBody>
          <a:bodyPr>
            <a:normAutofit fontScale="90000"/>
          </a:bodyPr>
          <a:lstStyle/>
          <a:p>
            <a:pPr fontAlgn="base"/>
            <a:r>
              <a:rPr lang="en-US" sz="3100" b="1" dirty="0">
                <a:solidFill>
                  <a:srgbClr val="2F2F30"/>
                </a:solidFill>
                <a:effectLst/>
                <a:latin typeface="raleway" pitchFamily="2" charset="0"/>
              </a:rPr>
              <a:t>Motif findin</a:t>
            </a:r>
            <a:r>
              <a:rPr lang="en-US" sz="3100" b="1" dirty="0">
                <a:solidFill>
                  <a:srgbClr val="2F2F30"/>
                </a:solidFill>
                <a:latin typeface="raleway" pitchFamily="2" charset="0"/>
              </a:rPr>
              <a:t>g is more difficult than you think</a:t>
            </a:r>
            <a:br>
              <a:rPr lang="en-US" b="1" dirty="0">
                <a:solidFill>
                  <a:srgbClr val="2F2F30"/>
                </a:solidFill>
                <a:effectLst/>
                <a:latin typeface="raleway" pitchFamily="2" charset="0"/>
              </a:rPr>
            </a:br>
            <a:endParaRPr lang="en-US" dirty="0"/>
          </a:p>
        </p:txBody>
      </p:sp>
      <p:sp>
        <p:nvSpPr>
          <p:cNvPr id="3" name="Content Placeholder 2">
            <a:extLst>
              <a:ext uri="{FF2B5EF4-FFF2-40B4-BE49-F238E27FC236}">
                <a16:creationId xmlns:a16="http://schemas.microsoft.com/office/drawing/2014/main" id="{651C4771-3F0B-1E5E-B794-7A3BF9528EC2}"/>
              </a:ext>
            </a:extLst>
          </p:cNvPr>
          <p:cNvSpPr>
            <a:spLocks noGrp="1"/>
          </p:cNvSpPr>
          <p:nvPr>
            <p:ph idx="1"/>
          </p:nvPr>
        </p:nvSpPr>
        <p:spPr/>
        <p:txBody>
          <a:bodyPr/>
          <a:lstStyle/>
          <a:p>
            <a:pPr algn="ctr">
              <a:buNone/>
            </a:pPr>
            <a:r>
              <a:rPr lang="en-US" b="1" i="0" dirty="0">
                <a:solidFill>
                  <a:srgbClr val="000000"/>
                </a:solidFill>
                <a:effectLst/>
                <a:latin typeface="Raleway" pitchFamily="2" charset="0"/>
              </a:rPr>
              <a:t>Identifying the evening element</a:t>
            </a:r>
          </a:p>
          <a:p>
            <a:r>
              <a:rPr lang="en-US" b="0" i="0" dirty="0">
                <a:solidFill>
                  <a:srgbClr val="000000"/>
                </a:solidFill>
                <a:effectLst/>
                <a:latin typeface="Raleway" pitchFamily="2" charset="0"/>
              </a:rPr>
              <a:t>In 2000, Steve Kay used </a:t>
            </a:r>
            <a:r>
              <a:rPr lang="en-US" b="1" i="0" dirty="0">
                <a:solidFill>
                  <a:srgbClr val="000000"/>
                </a:solidFill>
                <a:effectLst/>
                <a:latin typeface="Raleway" pitchFamily="2" charset="0"/>
              </a:rPr>
              <a:t>DNA arrays</a:t>
            </a:r>
            <a:r>
              <a:rPr lang="en-US" b="0" i="0" dirty="0">
                <a:solidFill>
                  <a:srgbClr val="000000"/>
                </a:solidFill>
                <a:effectLst/>
                <a:latin typeface="Raleway" pitchFamily="2" charset="0"/>
              </a:rPr>
              <a:t> to determine which genes in the plant </a:t>
            </a:r>
            <a:r>
              <a:rPr lang="en-US" b="0" i="1" dirty="0">
                <a:solidFill>
                  <a:srgbClr val="000000"/>
                </a:solidFill>
                <a:effectLst/>
                <a:latin typeface="Raleway" pitchFamily="2" charset="0"/>
              </a:rPr>
              <a:t>Arabidopsis thaliana</a:t>
            </a:r>
            <a:r>
              <a:rPr lang="en-US" b="0" i="0" dirty="0">
                <a:solidFill>
                  <a:srgbClr val="000000"/>
                </a:solidFill>
                <a:effectLst/>
                <a:latin typeface="Raleway" pitchFamily="2" charset="0"/>
              </a:rPr>
              <a:t> are activated at different times of the day. He then extracted the upstream regions of nearly 500 genes that exhibited circadian behavior and looked for frequently appearing patterns in their upstream regions. If you concatenated these upstream regions into a single string, you would find that </a:t>
            </a:r>
            <a:r>
              <a:rPr lang="en-US" b="0" i="0" dirty="0">
                <a:solidFill>
                  <a:srgbClr val="000000"/>
                </a:solidFill>
                <a:effectLst/>
                <a:latin typeface="Courier New" panose="02070309020205020404" pitchFamily="49" charset="0"/>
              </a:rPr>
              <a:t>AAAATATCT</a:t>
            </a:r>
            <a:r>
              <a:rPr lang="en-US" b="0" i="0" dirty="0">
                <a:solidFill>
                  <a:srgbClr val="000000"/>
                </a:solidFill>
                <a:effectLst/>
                <a:latin typeface="Raleway" pitchFamily="2" charset="0"/>
              </a:rPr>
              <a:t> is a surprisingly frequent word, appearing 46 times.</a:t>
            </a:r>
            <a:endParaRPr lang="en-US" dirty="0"/>
          </a:p>
        </p:txBody>
      </p:sp>
    </p:spTree>
    <p:extLst>
      <p:ext uri="{BB962C8B-B14F-4D97-AF65-F5344CB8AC3E}">
        <p14:creationId xmlns:p14="http://schemas.microsoft.com/office/powerpoint/2010/main" val="369484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50256-B212-BC89-DCDA-1464A86F5C3F}"/>
              </a:ext>
            </a:extLst>
          </p:cNvPr>
          <p:cNvSpPr>
            <a:spLocks noGrp="1"/>
          </p:cNvSpPr>
          <p:nvPr>
            <p:ph type="title"/>
          </p:nvPr>
        </p:nvSpPr>
        <p:spPr/>
        <p:txBody>
          <a:bodyPr/>
          <a:lstStyle/>
          <a:p>
            <a:r>
              <a:rPr lang="en-US" dirty="0"/>
              <a:t>Identifying the evening element</a:t>
            </a:r>
            <a:br>
              <a:rPr lang="en-US" dirty="0"/>
            </a:br>
            <a:endParaRPr lang="en-US" dirty="0"/>
          </a:p>
        </p:txBody>
      </p:sp>
      <p:sp>
        <p:nvSpPr>
          <p:cNvPr id="3" name="Content Placeholder 2">
            <a:extLst>
              <a:ext uri="{FF2B5EF4-FFF2-40B4-BE49-F238E27FC236}">
                <a16:creationId xmlns:a16="http://schemas.microsoft.com/office/drawing/2014/main" id="{A1BCF7C8-7421-F035-F05B-ED2C86F33997}"/>
              </a:ext>
            </a:extLst>
          </p:cNvPr>
          <p:cNvSpPr>
            <a:spLocks noGrp="1"/>
          </p:cNvSpPr>
          <p:nvPr>
            <p:ph idx="1"/>
          </p:nvPr>
        </p:nvSpPr>
        <p:spPr/>
        <p:txBody>
          <a:bodyPr>
            <a:normAutofit fontScale="92500" lnSpcReduction="10000"/>
          </a:bodyPr>
          <a:lstStyle/>
          <a:p>
            <a:r>
              <a:rPr lang="en-US" b="1" i="0" dirty="0">
                <a:solidFill>
                  <a:srgbClr val="FF4363"/>
                </a:solidFill>
                <a:effectLst/>
                <a:latin typeface="Raleway" pitchFamily="2" charset="0"/>
              </a:rPr>
              <a:t>STOP and Think:</a:t>
            </a:r>
            <a:r>
              <a:rPr lang="en-US" b="0" i="0" dirty="0">
                <a:solidFill>
                  <a:srgbClr val="000000"/>
                </a:solidFill>
                <a:effectLst/>
                <a:latin typeface="Raleway" pitchFamily="2" charset="0"/>
              </a:rPr>
              <a:t> What is the possible downside of concatenating all the upstream regions into a single string and looking for frequent words in order to identify a motif?</a:t>
            </a:r>
            <a:br>
              <a:rPr lang="en-US" b="0" i="0" dirty="0">
                <a:solidFill>
                  <a:srgbClr val="000000"/>
                </a:solidFill>
                <a:effectLst/>
                <a:latin typeface="Raleway" pitchFamily="2" charset="0"/>
              </a:rPr>
            </a:br>
            <a:r>
              <a:rPr lang="en-US" b="1" dirty="0"/>
              <a:t>Exercise Break:</a:t>
            </a:r>
            <a:r>
              <a:rPr lang="en-US" dirty="0"/>
              <a:t> What is the expected number of occurrences of a 9-mer in 500 random DNA strings, each of length 1000? Assume that the sequences are formed by selecting each nucleotide (A, C, G, T) with the same probability (0.25).</a:t>
            </a:r>
          </a:p>
          <a:p>
            <a:r>
              <a:rPr lang="en-US" dirty="0"/>
              <a:t>Kay named AAAATATCT the </a:t>
            </a:r>
            <a:r>
              <a:rPr lang="en-US" b="1" dirty="0"/>
              <a:t>evening element</a:t>
            </a:r>
            <a:r>
              <a:rPr lang="en-US" dirty="0"/>
              <a:t> and performed a simple experiment to prove that it is indeed the regulatory motif responsible for circadian gene expression in </a:t>
            </a:r>
            <a:r>
              <a:rPr lang="en-US" i="1" dirty="0"/>
              <a:t>Arabidopsis thaliana</a:t>
            </a:r>
            <a:r>
              <a:rPr lang="en-US" dirty="0"/>
              <a:t>. After he mutated the evening element in the upstream region of one gene, the gene lost its circadian behavior.</a:t>
            </a:r>
          </a:p>
        </p:txBody>
      </p:sp>
    </p:spTree>
    <p:extLst>
      <p:ext uri="{BB962C8B-B14F-4D97-AF65-F5344CB8AC3E}">
        <p14:creationId xmlns:p14="http://schemas.microsoft.com/office/powerpoint/2010/main" val="2355224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698B-7D23-59E3-E43C-274A61D1DAFE}"/>
              </a:ext>
            </a:extLst>
          </p:cNvPr>
          <p:cNvSpPr>
            <a:spLocks noGrp="1"/>
          </p:cNvSpPr>
          <p:nvPr>
            <p:ph type="title"/>
          </p:nvPr>
        </p:nvSpPr>
        <p:spPr/>
        <p:txBody>
          <a:bodyPr/>
          <a:lstStyle/>
          <a:p>
            <a:r>
              <a:rPr lang="en-US" dirty="0"/>
              <a:t>Identifying the evening element</a:t>
            </a:r>
          </a:p>
        </p:txBody>
      </p:sp>
      <p:sp>
        <p:nvSpPr>
          <p:cNvPr id="3" name="Content Placeholder 2">
            <a:extLst>
              <a:ext uri="{FF2B5EF4-FFF2-40B4-BE49-F238E27FC236}">
                <a16:creationId xmlns:a16="http://schemas.microsoft.com/office/drawing/2014/main" id="{2460A940-CF65-DC7C-2252-FB1C64BE72F4}"/>
              </a:ext>
            </a:extLst>
          </p:cNvPr>
          <p:cNvSpPr>
            <a:spLocks noGrp="1"/>
          </p:cNvSpPr>
          <p:nvPr>
            <p:ph idx="1"/>
          </p:nvPr>
        </p:nvSpPr>
        <p:spPr/>
        <p:txBody>
          <a:bodyPr>
            <a:normAutofit fontScale="92500" lnSpcReduction="20000"/>
          </a:bodyPr>
          <a:lstStyle/>
          <a:p>
            <a:r>
              <a:rPr lang="en-US" b="0" i="0" dirty="0">
                <a:solidFill>
                  <a:srgbClr val="000000"/>
                </a:solidFill>
                <a:effectLst/>
                <a:latin typeface="Raleway" pitchFamily="2" charset="0"/>
              </a:rPr>
              <a:t>Whereas the evening element in plants is very conserved, and thus easy to find, motifs having many mutations are more elusive. For example, if you infect a fly with a bacterium, the fly will switch on its </a:t>
            </a:r>
            <a:r>
              <a:rPr lang="en-US" b="1" i="0" dirty="0">
                <a:solidFill>
                  <a:srgbClr val="000000"/>
                </a:solidFill>
                <a:effectLst/>
                <a:latin typeface="Raleway" pitchFamily="2" charset="0"/>
              </a:rPr>
              <a:t>immunity genes</a:t>
            </a:r>
            <a:r>
              <a:rPr lang="en-US" b="0" i="0" dirty="0">
                <a:solidFill>
                  <a:srgbClr val="000000"/>
                </a:solidFill>
                <a:effectLst/>
                <a:latin typeface="Raleway" pitchFamily="2" charset="0"/>
              </a:rPr>
              <a:t> to fight the infection. Thus, some of the genes with elevated expression levels after the infection are likely to be immunity genes. Indeed, some of these genes have 12-mers similar to </a:t>
            </a:r>
            <a:r>
              <a:rPr lang="en-US" b="1" i="0" dirty="0">
                <a:solidFill>
                  <a:srgbClr val="66CC66"/>
                </a:solidFill>
                <a:effectLst/>
                <a:latin typeface="Courier New" panose="02070309020205020404" pitchFamily="49" charset="0"/>
              </a:rPr>
              <a:t>T</a:t>
            </a:r>
            <a:r>
              <a:rPr lang="en-US" b="1" i="0" dirty="0">
                <a:solidFill>
                  <a:srgbClr val="64B0F4"/>
                </a:solidFill>
                <a:effectLst/>
                <a:latin typeface="Courier New" panose="02070309020205020404" pitchFamily="49" charset="0"/>
              </a:rPr>
              <a:t>C</a:t>
            </a:r>
            <a:r>
              <a:rPr lang="en-US" b="1" i="0" dirty="0">
                <a:solidFill>
                  <a:srgbClr val="FF4363"/>
                </a:solidFill>
                <a:effectLst/>
                <a:latin typeface="Courier New" panose="02070309020205020404" pitchFamily="49" charset="0"/>
              </a:rPr>
              <a:t>GGGG</a:t>
            </a:r>
            <a:r>
              <a:rPr lang="en-US" b="1" i="0" dirty="0">
                <a:solidFill>
                  <a:srgbClr val="A03881"/>
                </a:solidFill>
                <a:effectLst/>
                <a:latin typeface="Courier New" panose="02070309020205020404" pitchFamily="49" charset="0"/>
              </a:rPr>
              <a:t>A</a:t>
            </a:r>
            <a:r>
              <a:rPr lang="en-US" b="1" i="0" dirty="0">
                <a:solidFill>
                  <a:srgbClr val="66CC66"/>
                </a:solidFill>
                <a:effectLst/>
                <a:latin typeface="Courier New" panose="02070309020205020404" pitchFamily="49" charset="0"/>
              </a:rPr>
              <a:t>TTT</a:t>
            </a:r>
            <a:r>
              <a:rPr lang="en-US" b="1" i="0" dirty="0">
                <a:solidFill>
                  <a:srgbClr val="64B0F4"/>
                </a:solidFill>
                <a:effectLst/>
                <a:latin typeface="Courier New" panose="02070309020205020404" pitchFamily="49" charset="0"/>
              </a:rPr>
              <a:t>CC</a:t>
            </a:r>
            <a:r>
              <a:rPr lang="en-US" b="0" i="0" dirty="0">
                <a:solidFill>
                  <a:srgbClr val="000000"/>
                </a:solidFill>
                <a:effectLst/>
                <a:latin typeface="Raleway" pitchFamily="2" charset="0"/>
              </a:rPr>
              <a:t> in their upstream regions, the binding site of a transcription factor called </a:t>
            </a:r>
            <a:r>
              <a:rPr lang="en-US" b="1" i="0" dirty="0">
                <a:solidFill>
                  <a:srgbClr val="000000"/>
                </a:solidFill>
                <a:effectLst/>
                <a:latin typeface="Raleway" pitchFamily="2" charset="0"/>
              </a:rPr>
              <a:t>NF-kB</a:t>
            </a:r>
            <a:r>
              <a:rPr lang="en-US" b="0" i="0" dirty="0">
                <a:solidFill>
                  <a:srgbClr val="000000"/>
                </a:solidFill>
                <a:effectLst/>
                <a:latin typeface="Raleway" pitchFamily="2" charset="0"/>
              </a:rPr>
              <a:t> that activates various immunity genes in flies. However,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binding sites are nowhere near as conserved as the evening element. The figure below shows ten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binding sites from the Drosophila melanogaster genome; the most popular nucleotides in every column are shown by upper case colored letters.</a:t>
            </a:r>
            <a:endParaRPr lang="en-US" dirty="0"/>
          </a:p>
        </p:txBody>
      </p:sp>
    </p:spTree>
    <p:extLst>
      <p:ext uri="{BB962C8B-B14F-4D97-AF65-F5344CB8AC3E}">
        <p14:creationId xmlns:p14="http://schemas.microsoft.com/office/powerpoint/2010/main" val="185970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DABB3-1281-EE17-61DA-F1923989442C}"/>
              </a:ext>
            </a:extLst>
          </p:cNvPr>
          <p:cNvSpPr>
            <a:spLocks noGrp="1"/>
          </p:cNvSpPr>
          <p:nvPr>
            <p:ph type="title"/>
          </p:nvPr>
        </p:nvSpPr>
        <p:spPr>
          <a:xfrm>
            <a:off x="1441531" y="415635"/>
            <a:ext cx="8643154" cy="3200401"/>
          </a:xfrm>
        </p:spPr>
        <p:txBody>
          <a:bodyPr>
            <a:normAutofit fontScale="90000"/>
          </a:bodyPr>
          <a:lstStyle/>
          <a:p>
            <a:r>
              <a:rPr lang="fr-FR" sz="1400" b="0" i="0" dirty="0">
                <a:solidFill>
                  <a:srgbClr val="000000"/>
                </a:solidFill>
                <a:effectLst/>
                <a:latin typeface="Courier New" panose="02070309020205020404" pitchFamily="49" charset="0"/>
              </a:rPr>
              <a:t>1  </a:t>
            </a:r>
            <a:r>
              <a:rPr lang="fr-FR" sz="1400" b="1" i="0" dirty="0">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1" i="0" dirty="0">
                <a:solidFill>
                  <a:srgbClr val="64B0F4"/>
                </a:solidFill>
                <a:effectLst/>
                <a:latin typeface="Courier New" panose="02070309020205020404" pitchFamily="49" charset="0"/>
              </a:rPr>
              <a:t>C</a:t>
            </a:r>
            <a:r>
              <a:rPr lang="fr-FR" sz="1400" b="0" i="0" dirty="0">
                <a:solidFill>
                  <a:srgbClr val="000000"/>
                </a:solidFill>
                <a:effectLst/>
                <a:latin typeface="Courier New" panose="02070309020205020404" pitchFamily="49" charset="0"/>
              </a:rPr>
              <a:t> </a:t>
            </a:r>
            <a:r>
              <a:rPr lang="fr-FR" sz="1400" b="1" i="0" dirty="0">
                <a:solidFill>
                  <a:srgbClr val="FF4363"/>
                </a:solidFill>
                <a:effectLst/>
                <a:latin typeface="Courier New" panose="02070309020205020404" pitchFamily="49" charset="0"/>
              </a:rPr>
              <a:t>G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0" i="0" dirty="0">
                <a:solidFill>
                  <a:srgbClr val="000000"/>
                </a:solidFill>
                <a:effectLst/>
                <a:latin typeface="Courier New" panose="02070309020205020404" pitchFamily="49" charset="0"/>
              </a:rPr>
              <a:t> </a:t>
            </a:r>
            <a:r>
              <a:rPr lang="fr-FR" sz="1400" b="0" i="0" dirty="0" err="1">
                <a:solidFill>
                  <a:srgbClr val="000000"/>
                </a:solidFill>
                <a:effectLst/>
                <a:latin typeface="Courier New" panose="02070309020205020404" pitchFamily="49" charset="0"/>
              </a:rPr>
              <a:t>g</a:t>
            </a:r>
            <a:r>
              <a:rPr lang="fr-FR" sz="1400" b="0" i="0" dirty="0">
                <a:solidFill>
                  <a:srgbClr val="000000"/>
                </a:solidFill>
                <a:effectLst/>
                <a:latin typeface="Courier New" panose="02070309020205020404" pitchFamily="49" charset="0"/>
              </a:rPr>
              <a:t> </a:t>
            </a:r>
            <a:r>
              <a:rPr lang="fr-FR" sz="1400" b="1" i="0" dirty="0">
                <a:solidFill>
                  <a:srgbClr val="66CC66"/>
                </a:solidFill>
                <a:effectLst/>
                <a:latin typeface="Courier New" panose="02070309020205020404" pitchFamily="49" charset="0"/>
              </a:rPr>
              <a:t>T </a:t>
            </a:r>
            <a:r>
              <a:rPr lang="fr-FR" sz="1400" b="1" i="0" dirty="0" err="1">
                <a:solidFill>
                  <a:srgbClr val="66CC66"/>
                </a:solidFill>
                <a:effectLst/>
                <a:latin typeface="Courier New" panose="02070309020205020404" pitchFamily="49" charset="0"/>
              </a:rPr>
              <a:t>T</a:t>
            </a:r>
            <a:r>
              <a:rPr lang="fr-FR" sz="1400" b="1" i="0" dirty="0">
                <a:solidFill>
                  <a:srgbClr val="66CC66"/>
                </a:solidFill>
                <a:effectLst/>
                <a:latin typeface="Courier New" panose="02070309020205020404" pitchFamily="49" charset="0"/>
              </a:rPr>
              <a:t> </a:t>
            </a:r>
            <a:r>
              <a:rPr lang="fr-FR" sz="1400" b="1" i="0" dirty="0" err="1">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0" i="0" dirty="0" err="1">
                <a:solidFill>
                  <a:srgbClr val="000000"/>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0" i="0" dirty="0" err="1">
                <a:solidFill>
                  <a:srgbClr val="000000"/>
                </a:solidFill>
                <a:effectLst/>
                <a:latin typeface="Courier New" panose="02070309020205020404" pitchFamily="49" charset="0"/>
              </a:rPr>
              <a:t>t</a:t>
            </a: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 </a:t>
            </a: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2  c </a:t>
            </a:r>
            <a:r>
              <a:rPr lang="fr-FR" sz="1400" b="1" i="0" dirty="0" err="1">
                <a:solidFill>
                  <a:srgbClr val="64B0F4"/>
                </a:solidFill>
                <a:effectLst/>
                <a:latin typeface="Courier New" panose="02070309020205020404" pitchFamily="49" charset="0"/>
              </a:rPr>
              <a:t>C</a:t>
            </a:r>
            <a:r>
              <a:rPr lang="fr-FR" sz="1400" b="0" i="0" dirty="0">
                <a:solidFill>
                  <a:srgbClr val="000000"/>
                </a:solidFill>
                <a:effectLst/>
                <a:latin typeface="Courier New" panose="02070309020205020404" pitchFamily="49" charset="0"/>
              </a:rPr>
              <a:t> </a:t>
            </a:r>
            <a:r>
              <a:rPr lang="fr-FR" sz="1400" b="1" i="0" dirty="0">
                <a:solidFill>
                  <a:srgbClr val="FF4363"/>
                </a:solidFill>
                <a:effectLst/>
                <a:latin typeface="Courier New" panose="02070309020205020404" pitchFamily="49" charset="0"/>
              </a:rPr>
              <a:t>G </a:t>
            </a:r>
            <a:r>
              <a:rPr lang="fr-FR" sz="1400" b="1" i="0" dirty="0" err="1">
                <a:solidFill>
                  <a:srgbClr val="FF4363"/>
                </a:solidFill>
                <a:effectLst/>
                <a:latin typeface="Courier New" panose="02070309020205020404" pitchFamily="49" charset="0"/>
              </a:rPr>
              <a:t>G</a:t>
            </a:r>
            <a:r>
              <a:rPr lang="fr-FR" sz="1400" b="0" i="0" dirty="0">
                <a:solidFill>
                  <a:srgbClr val="000000"/>
                </a:solidFill>
                <a:effectLst/>
                <a:latin typeface="Courier New" panose="02070309020205020404" pitchFamily="49" charset="0"/>
              </a:rPr>
              <a:t> t </a:t>
            </a:r>
            <a:r>
              <a:rPr lang="fr-FR" sz="1400" b="1" i="0" dirty="0">
                <a:solidFill>
                  <a:srgbClr val="FF4363"/>
                </a:solidFill>
                <a:effectLst/>
                <a:latin typeface="Courier New" panose="02070309020205020404" pitchFamily="49" charset="0"/>
              </a:rPr>
              <a:t>G</a:t>
            </a:r>
            <a:r>
              <a:rPr lang="fr-FR" sz="1400" b="0" i="0" dirty="0">
                <a:solidFill>
                  <a:srgbClr val="000000"/>
                </a:solidFill>
                <a:effectLst/>
                <a:latin typeface="Courier New" panose="02070309020205020404" pitchFamily="49" charset="0"/>
              </a:rPr>
              <a:t> </a:t>
            </a:r>
            <a:r>
              <a:rPr lang="fr-FR" sz="1400" b="1" i="0" dirty="0">
                <a:solidFill>
                  <a:srgbClr val="A03881"/>
                </a:solidFill>
                <a:effectLst/>
                <a:latin typeface="Courier New" panose="02070309020205020404" pitchFamily="49" charset="0"/>
              </a:rPr>
              <a:t>A</a:t>
            </a:r>
            <a:r>
              <a:rPr lang="fr-FR" sz="1400" b="0" i="0" dirty="0">
                <a:solidFill>
                  <a:srgbClr val="000000"/>
                </a:solidFill>
                <a:effectLst/>
                <a:latin typeface="Courier New" panose="02070309020205020404" pitchFamily="49" charset="0"/>
              </a:rPr>
              <a:t> c </a:t>
            </a:r>
            <a:r>
              <a:rPr lang="fr-FR" sz="1400" b="1" i="0" dirty="0">
                <a:solidFill>
                  <a:srgbClr val="66CC66"/>
                </a:solidFill>
                <a:effectLst/>
                <a:latin typeface="Courier New" panose="02070309020205020404" pitchFamily="49" charset="0"/>
              </a:rPr>
              <a:t>T </a:t>
            </a:r>
            <a:r>
              <a:rPr lang="fr-FR" sz="1400" b="1" i="0" dirty="0" err="1">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 </a:t>
            </a:r>
            <a:r>
              <a:rPr lang="fr-FR" sz="1400" b="1" i="0" dirty="0">
                <a:solidFill>
                  <a:srgbClr val="64B0F4"/>
                </a:solidFill>
                <a:effectLst/>
                <a:latin typeface="Courier New" panose="02070309020205020404" pitchFamily="49" charset="0"/>
              </a:rPr>
              <a:t>C</a:t>
            </a:r>
            <a:r>
              <a:rPr lang="fr-FR" sz="1400" b="0" i="0" dirty="0">
                <a:solidFill>
                  <a:srgbClr val="000000"/>
                </a:solidFill>
                <a:effectLst/>
                <a:latin typeface="Courier New" panose="02070309020205020404" pitchFamily="49" charset="0"/>
              </a:rPr>
              <a:t> </a:t>
            </a:r>
            <a:br>
              <a:rPr lang="fr-FR" sz="1400" b="0" i="0" dirty="0">
                <a:solidFill>
                  <a:srgbClr val="000000"/>
                </a:solidFill>
                <a:effectLst/>
                <a:latin typeface="Courier New" panose="02070309020205020404" pitchFamily="49" charset="0"/>
              </a:rPr>
            </a:b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3  a </a:t>
            </a:r>
            <a:r>
              <a:rPr lang="fr-FR" sz="1400" b="1" i="0" dirty="0">
                <a:solidFill>
                  <a:srgbClr val="64B0F4"/>
                </a:solidFill>
                <a:effectLst/>
                <a:latin typeface="Courier New" panose="02070309020205020404" pitchFamily="49" charset="0"/>
              </a:rPr>
              <a:t>C</a:t>
            </a:r>
            <a:r>
              <a:rPr lang="fr-FR" sz="1400" b="0" i="0" dirty="0">
                <a:solidFill>
                  <a:srgbClr val="000000"/>
                </a:solidFill>
                <a:effectLst/>
                <a:latin typeface="Courier New" panose="02070309020205020404" pitchFamily="49" charset="0"/>
              </a:rPr>
              <a:t> </a:t>
            </a:r>
            <a:r>
              <a:rPr lang="fr-FR" sz="1400" b="1" i="0" dirty="0">
                <a:solidFill>
                  <a:srgbClr val="FF4363"/>
                </a:solidFill>
                <a:effectLst/>
                <a:latin typeface="Courier New" panose="02070309020205020404" pitchFamily="49" charset="0"/>
              </a:rPr>
              <a:t>G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0" i="0" dirty="0">
                <a:solidFill>
                  <a:srgbClr val="000000"/>
                </a:solidFill>
                <a:effectLst/>
                <a:latin typeface="Courier New" panose="02070309020205020404" pitchFamily="49" charset="0"/>
              </a:rPr>
              <a:t> </a:t>
            </a:r>
            <a:r>
              <a:rPr lang="fr-FR" sz="1400" b="1" i="0" dirty="0">
                <a:solidFill>
                  <a:srgbClr val="A03881"/>
                </a:solidFill>
                <a:effectLst/>
                <a:latin typeface="Courier New" panose="02070309020205020404" pitchFamily="49" charset="0"/>
              </a:rPr>
              <a:t>A</a:t>
            </a:r>
            <a:r>
              <a:rPr lang="fr-FR" sz="1400" b="0" i="0" dirty="0">
                <a:solidFill>
                  <a:srgbClr val="000000"/>
                </a:solidFill>
                <a:effectLst/>
                <a:latin typeface="Courier New" panose="02070309020205020404" pitchFamily="49" charset="0"/>
              </a:rPr>
              <a:t> </a:t>
            </a:r>
            <a:r>
              <a:rPr lang="fr-FR" sz="1400" b="1" i="0" dirty="0">
                <a:solidFill>
                  <a:srgbClr val="66CC66"/>
                </a:solidFill>
                <a:effectLst/>
                <a:latin typeface="Courier New" panose="02070309020205020404" pitchFamily="49" charset="0"/>
              </a:rPr>
              <a:t>T </a:t>
            </a:r>
            <a:r>
              <a:rPr lang="fr-FR" sz="1400" b="1" i="0" dirty="0" err="1">
                <a:solidFill>
                  <a:srgbClr val="66CC66"/>
                </a:solidFill>
                <a:effectLst/>
                <a:latin typeface="Courier New" panose="02070309020205020404" pitchFamily="49" charset="0"/>
              </a:rPr>
              <a:t>T</a:t>
            </a:r>
            <a:r>
              <a:rPr lang="fr-FR" sz="1400" b="1" i="0" dirty="0">
                <a:solidFill>
                  <a:srgbClr val="66CC66"/>
                </a:solidFill>
                <a:effectLst/>
                <a:latin typeface="Courier New" panose="02070309020205020404" pitchFamily="49" charset="0"/>
              </a:rPr>
              <a:t> </a:t>
            </a:r>
            <a:r>
              <a:rPr lang="fr-FR" sz="1400" b="1" i="0" dirty="0" err="1">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0" i="0" dirty="0" err="1">
                <a:solidFill>
                  <a:srgbClr val="000000"/>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1" i="0" dirty="0">
                <a:solidFill>
                  <a:srgbClr val="64B0F4"/>
                </a:solidFill>
                <a:effectLst/>
                <a:latin typeface="Courier New" panose="02070309020205020404" pitchFamily="49" charset="0"/>
              </a:rPr>
              <a:t>C</a:t>
            </a:r>
            <a:r>
              <a:rPr lang="fr-FR" sz="1400" b="0" i="0" dirty="0">
                <a:solidFill>
                  <a:srgbClr val="000000"/>
                </a:solidFill>
                <a:effectLst/>
                <a:latin typeface="Courier New" panose="02070309020205020404" pitchFamily="49" charset="0"/>
              </a:rPr>
              <a:t> </a:t>
            </a:r>
            <a:br>
              <a:rPr lang="fr-FR" sz="1400" b="0" i="0" dirty="0">
                <a:solidFill>
                  <a:srgbClr val="000000"/>
                </a:solidFill>
                <a:effectLst/>
                <a:latin typeface="Courier New" panose="02070309020205020404" pitchFamily="49" charset="0"/>
              </a:rPr>
            </a:b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4  </a:t>
            </a:r>
            <a:r>
              <a:rPr lang="fr-FR" sz="1400" b="1" i="0" dirty="0">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0" i="0" dirty="0" err="1">
                <a:solidFill>
                  <a:srgbClr val="000000"/>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1" i="0" dirty="0">
                <a:solidFill>
                  <a:srgbClr val="FF4363"/>
                </a:solidFill>
                <a:effectLst/>
                <a:latin typeface="Courier New" panose="02070309020205020404" pitchFamily="49" charset="0"/>
              </a:rPr>
              <a:t>G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0" i="0" dirty="0">
                <a:solidFill>
                  <a:srgbClr val="000000"/>
                </a:solidFill>
                <a:effectLst/>
                <a:latin typeface="Courier New" panose="02070309020205020404" pitchFamily="49" charset="0"/>
              </a:rPr>
              <a:t> </a:t>
            </a:r>
            <a:r>
              <a:rPr lang="fr-FR" sz="1400" b="1" i="0" dirty="0">
                <a:solidFill>
                  <a:srgbClr val="A03881"/>
                </a:solidFill>
                <a:effectLst/>
                <a:latin typeface="Courier New" panose="02070309020205020404" pitchFamily="49" charset="0"/>
              </a:rPr>
              <a:t>A</a:t>
            </a:r>
            <a:r>
              <a:rPr lang="fr-FR" sz="1400" b="0" i="0" dirty="0">
                <a:solidFill>
                  <a:srgbClr val="000000"/>
                </a:solidFill>
                <a:effectLst/>
                <a:latin typeface="Courier New" panose="02070309020205020404" pitchFamily="49" charset="0"/>
              </a:rPr>
              <a:t> c </a:t>
            </a:r>
            <a:r>
              <a:rPr lang="fr-FR" sz="1400" b="1" i="0" dirty="0">
                <a:solidFill>
                  <a:srgbClr val="66CC66"/>
                </a:solidFill>
                <a:effectLst/>
                <a:latin typeface="Courier New" panose="02070309020205020404" pitchFamily="49" charset="0"/>
              </a:rPr>
              <a:t>T </a:t>
            </a:r>
            <a:r>
              <a:rPr lang="fr-FR" sz="1400" b="1" i="0" dirty="0" err="1">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0" i="0" dirty="0" err="1">
                <a:solidFill>
                  <a:srgbClr val="000000"/>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0" i="0" dirty="0" err="1">
                <a:solidFill>
                  <a:srgbClr val="000000"/>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br>
              <a:rPr lang="fr-FR" sz="1400" b="0" i="0" dirty="0">
                <a:solidFill>
                  <a:srgbClr val="000000"/>
                </a:solidFill>
                <a:effectLst/>
                <a:latin typeface="Courier New" panose="02070309020205020404" pitchFamily="49" charset="0"/>
              </a:rPr>
            </a:b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5  a </a:t>
            </a:r>
            <a:r>
              <a:rPr lang="fr-FR" sz="1400" b="0" i="0" dirty="0" err="1">
                <a:solidFill>
                  <a:srgbClr val="000000"/>
                </a:solidFill>
                <a:effectLst/>
                <a:latin typeface="Courier New" panose="02070309020205020404" pitchFamily="49" charset="0"/>
              </a:rPr>
              <a:t>a</a:t>
            </a:r>
            <a:r>
              <a:rPr lang="fr-FR" sz="1400" b="0" i="0" dirty="0">
                <a:solidFill>
                  <a:srgbClr val="000000"/>
                </a:solidFill>
                <a:effectLst/>
                <a:latin typeface="Courier New" panose="02070309020205020404" pitchFamily="49" charset="0"/>
              </a:rPr>
              <a:t> </a:t>
            </a:r>
            <a:r>
              <a:rPr lang="fr-FR" sz="1400" b="1" i="0" dirty="0">
                <a:solidFill>
                  <a:srgbClr val="FF4363"/>
                </a:solidFill>
                <a:effectLst/>
                <a:latin typeface="Courier New" panose="02070309020205020404" pitchFamily="49" charset="0"/>
              </a:rPr>
              <a:t>G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0" i="0" dirty="0">
                <a:solidFill>
                  <a:srgbClr val="000000"/>
                </a:solidFill>
                <a:effectLst/>
                <a:latin typeface="Courier New" panose="02070309020205020404" pitchFamily="49" charset="0"/>
              </a:rPr>
              <a:t> </a:t>
            </a:r>
            <a:r>
              <a:rPr lang="fr-FR" sz="1400" b="1" i="0" dirty="0">
                <a:solidFill>
                  <a:srgbClr val="A03881"/>
                </a:solidFill>
                <a:effectLst/>
                <a:latin typeface="Courier New" panose="02070309020205020404" pitchFamily="49" charset="0"/>
              </a:rPr>
              <a:t>A</a:t>
            </a:r>
            <a:r>
              <a:rPr lang="fr-FR" sz="1400" b="0" i="0" dirty="0">
                <a:solidFill>
                  <a:srgbClr val="000000"/>
                </a:solidFill>
                <a:effectLst/>
                <a:latin typeface="Courier New" panose="02070309020205020404" pitchFamily="49" charset="0"/>
              </a:rPr>
              <a:t> c </a:t>
            </a:r>
            <a:r>
              <a:rPr lang="fr-FR" sz="1400" b="1" i="0" dirty="0">
                <a:solidFill>
                  <a:srgbClr val="66CC66"/>
                </a:solidFill>
                <a:effectLst/>
                <a:latin typeface="Courier New" panose="02070309020205020404" pitchFamily="49" charset="0"/>
              </a:rPr>
              <a:t>T </a:t>
            </a:r>
            <a:r>
              <a:rPr lang="fr-FR" sz="1400" b="1" i="0" dirty="0" err="1">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1" i="0" dirty="0">
                <a:solidFill>
                  <a:srgbClr val="64B0F4"/>
                </a:solidFill>
                <a:effectLst/>
                <a:latin typeface="Courier New" panose="02070309020205020404" pitchFamily="49" charset="0"/>
              </a:rPr>
              <a:t>C </a:t>
            </a:r>
            <a:r>
              <a:rPr lang="fr-FR" sz="1400" b="1" i="0" dirty="0" err="1">
                <a:solidFill>
                  <a:srgbClr val="64B0F4"/>
                </a:solidFill>
                <a:effectLst/>
                <a:latin typeface="Courier New" panose="02070309020205020404" pitchFamily="49" charset="0"/>
              </a:rPr>
              <a:t>C</a:t>
            </a:r>
            <a:r>
              <a:rPr lang="fr-FR" sz="1400" b="0" i="0" dirty="0">
                <a:solidFill>
                  <a:srgbClr val="000000"/>
                </a:solidFill>
                <a:effectLst/>
                <a:latin typeface="Courier New" panose="02070309020205020404" pitchFamily="49" charset="0"/>
              </a:rPr>
              <a:t> </a:t>
            </a:r>
            <a:br>
              <a:rPr lang="fr-FR" sz="1400" b="0" i="0" dirty="0">
                <a:solidFill>
                  <a:srgbClr val="000000"/>
                </a:solidFill>
                <a:effectLst/>
                <a:latin typeface="Courier New" panose="02070309020205020404" pitchFamily="49" charset="0"/>
              </a:rPr>
            </a:b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6  </a:t>
            </a:r>
            <a:r>
              <a:rPr lang="fr-FR" sz="1400" b="1" i="0" dirty="0">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0" i="0" dirty="0" err="1">
                <a:solidFill>
                  <a:srgbClr val="000000"/>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1" i="0" dirty="0">
                <a:solidFill>
                  <a:srgbClr val="FF4363"/>
                </a:solidFill>
                <a:effectLst/>
                <a:latin typeface="Courier New" panose="02070309020205020404" pitchFamily="49" charset="0"/>
              </a:rPr>
              <a:t>G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0" i="0" dirty="0">
                <a:solidFill>
                  <a:srgbClr val="000000"/>
                </a:solidFill>
                <a:effectLst/>
                <a:latin typeface="Courier New" panose="02070309020205020404" pitchFamily="49" charset="0"/>
              </a:rPr>
              <a:t> </a:t>
            </a:r>
            <a:r>
              <a:rPr lang="fr-FR" sz="1400" b="1" i="0" dirty="0">
                <a:solidFill>
                  <a:srgbClr val="A03881"/>
                </a:solidFill>
                <a:effectLst/>
                <a:latin typeface="Courier New" panose="02070309020205020404" pitchFamily="49" charset="0"/>
              </a:rPr>
              <a:t>A</a:t>
            </a:r>
            <a:r>
              <a:rPr lang="fr-FR" sz="1400" b="0" i="0" dirty="0">
                <a:solidFill>
                  <a:srgbClr val="000000"/>
                </a:solidFill>
                <a:effectLst/>
                <a:latin typeface="Courier New" panose="02070309020205020404" pitchFamily="49" charset="0"/>
              </a:rPr>
              <a:t> c </a:t>
            </a:r>
            <a:r>
              <a:rPr lang="fr-FR" sz="1400" b="1" i="0" dirty="0">
                <a:solidFill>
                  <a:srgbClr val="66CC66"/>
                </a:solidFill>
                <a:effectLst/>
                <a:latin typeface="Courier New" panose="02070309020205020404" pitchFamily="49" charset="0"/>
              </a:rPr>
              <a:t>T </a:t>
            </a:r>
            <a:r>
              <a:rPr lang="fr-FR" sz="1400" b="1" i="0" dirty="0" err="1">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t>
            </a:r>
            <a:r>
              <a:rPr lang="fr-FR" sz="1400" b="1" i="0" dirty="0">
                <a:solidFill>
                  <a:srgbClr val="64B0F4"/>
                </a:solidFill>
                <a:effectLst/>
                <a:latin typeface="Courier New" panose="02070309020205020404" pitchFamily="49" charset="0"/>
              </a:rPr>
              <a:t>C </a:t>
            </a:r>
            <a:r>
              <a:rPr lang="fr-FR" sz="1400" b="1" i="0" dirty="0" err="1">
                <a:solidFill>
                  <a:srgbClr val="64B0F4"/>
                </a:solidFill>
                <a:effectLst/>
                <a:latin typeface="Courier New" panose="02070309020205020404" pitchFamily="49" charset="0"/>
              </a:rPr>
              <a:t>C</a:t>
            </a:r>
            <a:r>
              <a:rPr lang="fr-FR" sz="1400" b="0" i="0" dirty="0">
                <a:solidFill>
                  <a:srgbClr val="000000"/>
                </a:solidFill>
                <a:effectLst/>
                <a:latin typeface="Courier New" panose="02070309020205020404" pitchFamily="49" charset="0"/>
              </a:rPr>
              <a:t> </a:t>
            </a:r>
            <a:br>
              <a:rPr lang="fr-FR" sz="1400" b="0" i="0" dirty="0">
                <a:solidFill>
                  <a:srgbClr val="000000"/>
                </a:solidFill>
                <a:effectLst/>
                <a:latin typeface="Courier New" panose="02070309020205020404" pitchFamily="49" charset="0"/>
              </a:rPr>
            </a:b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7  </a:t>
            </a:r>
            <a:r>
              <a:rPr lang="fr-FR" sz="1400" b="1" i="0" dirty="0">
                <a:solidFill>
                  <a:srgbClr val="66CC66"/>
                </a:solidFill>
                <a:effectLst/>
                <a:latin typeface="Courier New" panose="02070309020205020404" pitchFamily="49" charset="0"/>
              </a:rPr>
              <a:t>T</a:t>
            </a:r>
            <a:r>
              <a:rPr lang="fr-FR" sz="1400" b="1" i="0" dirty="0">
                <a:solidFill>
                  <a:srgbClr val="000000"/>
                </a:solidFill>
                <a:effectLst/>
                <a:latin typeface="Courier New" panose="02070309020205020404" pitchFamily="49" charset="0"/>
              </a:rPr>
              <a:t> </a:t>
            </a:r>
            <a:r>
              <a:rPr lang="fr-FR" sz="1400" b="1" i="0" dirty="0">
                <a:solidFill>
                  <a:srgbClr val="64B0F4"/>
                </a:solidFill>
                <a:effectLst/>
                <a:latin typeface="Courier New" panose="02070309020205020404" pitchFamily="49" charset="0"/>
              </a:rPr>
              <a:t>C</a:t>
            </a:r>
            <a:r>
              <a:rPr lang="fr-FR" sz="1400" b="1" i="0" dirty="0">
                <a:solidFill>
                  <a:srgbClr val="000000"/>
                </a:solidFill>
                <a:effectLst/>
                <a:latin typeface="Courier New" panose="02070309020205020404" pitchFamily="49" charset="0"/>
              </a:rPr>
              <a:t> </a:t>
            </a:r>
            <a:r>
              <a:rPr lang="fr-FR" sz="1400" b="1" i="0" dirty="0">
                <a:solidFill>
                  <a:srgbClr val="FF4363"/>
                </a:solidFill>
                <a:effectLst/>
                <a:latin typeface="Courier New" panose="02070309020205020404" pitchFamily="49" charset="0"/>
              </a:rPr>
              <a:t>G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000000"/>
                </a:solidFill>
                <a:effectLst/>
                <a:latin typeface="Courier New" panose="02070309020205020404" pitchFamily="49" charset="0"/>
              </a:rPr>
              <a:t> </a:t>
            </a:r>
            <a:r>
              <a:rPr lang="fr-FR" sz="1400" b="1" i="0" dirty="0">
                <a:solidFill>
                  <a:srgbClr val="A03881"/>
                </a:solidFill>
                <a:effectLst/>
                <a:latin typeface="Courier New" panose="02070309020205020404" pitchFamily="49" charset="0"/>
              </a:rPr>
              <a:t>A</a:t>
            </a:r>
            <a:r>
              <a:rPr lang="fr-FR" sz="1400" b="1" i="0" dirty="0">
                <a:solidFill>
                  <a:srgbClr val="000000"/>
                </a:solidFill>
                <a:effectLst/>
                <a:latin typeface="Courier New" panose="02070309020205020404" pitchFamily="49" charset="0"/>
              </a:rPr>
              <a:t> </a:t>
            </a:r>
            <a:r>
              <a:rPr lang="fr-FR" sz="1400" b="1" i="0" dirty="0">
                <a:solidFill>
                  <a:srgbClr val="66CC66"/>
                </a:solidFill>
                <a:effectLst/>
                <a:latin typeface="Courier New" panose="02070309020205020404" pitchFamily="49" charset="0"/>
              </a:rPr>
              <a:t>T </a:t>
            </a:r>
            <a:r>
              <a:rPr lang="fr-FR" sz="1400" b="1" i="0" dirty="0" err="1">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c a t</a:t>
            </a: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 </a:t>
            </a: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8  </a:t>
            </a:r>
            <a:r>
              <a:rPr lang="fr-FR" sz="1400" b="1" i="0" dirty="0">
                <a:solidFill>
                  <a:srgbClr val="66CC66"/>
                </a:solidFill>
                <a:effectLst/>
                <a:latin typeface="Courier New" panose="02070309020205020404" pitchFamily="49" charset="0"/>
              </a:rPr>
              <a:t>T</a:t>
            </a:r>
            <a:r>
              <a:rPr lang="fr-FR" sz="1400" b="1" i="0" dirty="0">
                <a:solidFill>
                  <a:srgbClr val="000000"/>
                </a:solidFill>
                <a:effectLst/>
                <a:latin typeface="Courier New" panose="02070309020205020404" pitchFamily="49" charset="0"/>
              </a:rPr>
              <a:t> </a:t>
            </a:r>
            <a:r>
              <a:rPr lang="fr-FR" sz="1400" b="1" i="0" dirty="0">
                <a:solidFill>
                  <a:srgbClr val="64B0F4"/>
                </a:solidFill>
                <a:effectLst/>
                <a:latin typeface="Courier New" panose="02070309020205020404" pitchFamily="49" charset="0"/>
              </a:rPr>
              <a:t>C</a:t>
            </a:r>
            <a:r>
              <a:rPr lang="fr-FR" sz="1400" b="1" i="0" dirty="0">
                <a:solidFill>
                  <a:srgbClr val="000000"/>
                </a:solidFill>
                <a:effectLst/>
                <a:latin typeface="Courier New" panose="02070309020205020404" pitchFamily="49" charset="0"/>
              </a:rPr>
              <a:t> </a:t>
            </a:r>
            <a:r>
              <a:rPr lang="fr-FR" sz="1400" b="1" i="0" dirty="0">
                <a:solidFill>
                  <a:srgbClr val="FF4363"/>
                </a:solidFill>
                <a:effectLst/>
                <a:latin typeface="Courier New" panose="02070309020205020404" pitchFamily="49" charset="0"/>
              </a:rPr>
              <a:t>G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000000"/>
                </a:solidFill>
                <a:effectLst/>
                <a:latin typeface="Courier New" panose="02070309020205020404" pitchFamily="49" charset="0"/>
              </a:rPr>
              <a:t> </a:t>
            </a:r>
            <a:r>
              <a:rPr lang="fr-FR" sz="1400" b="1" i="0" dirty="0">
                <a:solidFill>
                  <a:srgbClr val="A03881"/>
                </a:solidFill>
                <a:effectLst/>
                <a:latin typeface="Courier New" panose="02070309020205020404" pitchFamily="49" charset="0"/>
              </a:rPr>
              <a:t>A</a:t>
            </a:r>
            <a:r>
              <a:rPr lang="fr-FR" sz="1400" b="1" i="0" dirty="0">
                <a:solidFill>
                  <a:srgbClr val="000000"/>
                </a:solidFill>
                <a:effectLst/>
                <a:latin typeface="Courier New" panose="02070309020205020404" pitchFamily="49" charset="0"/>
              </a:rPr>
              <a:t> </a:t>
            </a:r>
            <a:r>
              <a:rPr lang="fr-FR" sz="1400" b="1" i="0" dirty="0">
                <a:solidFill>
                  <a:srgbClr val="66CC66"/>
                </a:solidFill>
                <a:effectLst/>
                <a:latin typeface="Courier New" panose="02070309020205020404" pitchFamily="49" charset="0"/>
              </a:rPr>
              <a:t>T </a:t>
            </a:r>
            <a:r>
              <a:rPr lang="fr-FR" sz="1400" b="1" i="0" dirty="0" err="1">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c </a:t>
            </a:r>
            <a:r>
              <a:rPr lang="fr-FR" sz="1400" b="1" i="0" dirty="0" err="1">
                <a:solidFill>
                  <a:srgbClr val="64B0F4"/>
                </a:solidFill>
                <a:effectLst/>
                <a:latin typeface="Courier New" panose="02070309020205020404" pitchFamily="49" charset="0"/>
              </a:rPr>
              <a:t>C</a:t>
            </a:r>
            <a:r>
              <a:rPr lang="fr-FR" sz="1400" b="0" i="0" dirty="0">
                <a:solidFill>
                  <a:srgbClr val="000000"/>
                </a:solidFill>
                <a:effectLst/>
                <a:latin typeface="Courier New" panose="02070309020205020404" pitchFamily="49" charset="0"/>
              </a:rPr>
              <a:t> t </a:t>
            </a:r>
            <a:br>
              <a:rPr lang="fr-FR" sz="1400" b="0" i="0" dirty="0">
                <a:solidFill>
                  <a:srgbClr val="000000"/>
                </a:solidFill>
                <a:effectLst/>
                <a:latin typeface="Courier New" panose="02070309020205020404" pitchFamily="49" charset="0"/>
              </a:rPr>
            </a:b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9  </a:t>
            </a:r>
            <a:r>
              <a:rPr lang="fr-FR" sz="1400" b="1" i="0" dirty="0">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 </a:t>
            </a:r>
            <a:r>
              <a:rPr lang="fr-FR" sz="1400" b="1" i="0" dirty="0">
                <a:solidFill>
                  <a:srgbClr val="FF4363"/>
                </a:solidFill>
                <a:effectLst/>
                <a:latin typeface="Courier New" panose="02070309020205020404" pitchFamily="49" charset="0"/>
              </a:rPr>
              <a:t>G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1" i="0" dirty="0">
                <a:solidFill>
                  <a:srgbClr val="000000"/>
                </a:solidFill>
                <a:effectLst/>
                <a:latin typeface="Courier New" panose="02070309020205020404" pitchFamily="49" charset="0"/>
              </a:rPr>
              <a:t> </a:t>
            </a:r>
            <a:r>
              <a:rPr lang="fr-FR" sz="1400" b="1" i="0" dirty="0">
                <a:solidFill>
                  <a:srgbClr val="A03881"/>
                </a:solidFill>
                <a:effectLst/>
                <a:latin typeface="Courier New" panose="02070309020205020404" pitchFamily="49" charset="0"/>
              </a:rPr>
              <a:t>A</a:t>
            </a:r>
            <a:r>
              <a:rPr lang="fr-FR" sz="1400" b="0" i="0" dirty="0">
                <a:solidFill>
                  <a:srgbClr val="000000"/>
                </a:solidFill>
                <a:effectLst/>
                <a:latin typeface="Courier New" panose="02070309020205020404" pitchFamily="49" charset="0"/>
              </a:rPr>
              <a:t> </a:t>
            </a:r>
            <a:r>
              <a:rPr lang="fr-FR" sz="1400" b="0" i="0" dirty="0" err="1">
                <a:solidFill>
                  <a:srgbClr val="000000"/>
                </a:solidFill>
                <a:effectLst/>
                <a:latin typeface="Courier New" panose="02070309020205020404" pitchFamily="49" charset="0"/>
              </a:rPr>
              <a:t>a</a:t>
            </a:r>
            <a:r>
              <a:rPr lang="fr-FR" sz="1400" b="0" i="0" dirty="0">
                <a:solidFill>
                  <a:srgbClr val="000000"/>
                </a:solidFill>
                <a:effectLst/>
                <a:latin typeface="Courier New" panose="02070309020205020404" pitchFamily="49" charset="0"/>
              </a:rPr>
              <a:t> c </a:t>
            </a:r>
            <a:r>
              <a:rPr lang="fr-FR" sz="1400" b="1" i="0" dirty="0">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 </a:t>
            </a:r>
            <a:r>
              <a:rPr lang="fr-FR" sz="1400" b="1" i="0" dirty="0">
                <a:solidFill>
                  <a:srgbClr val="64B0F4"/>
                </a:solidFill>
                <a:effectLst/>
                <a:latin typeface="Courier New" panose="02070309020205020404" pitchFamily="49" charset="0"/>
              </a:rPr>
              <a:t>C</a:t>
            </a:r>
            <a:r>
              <a:rPr lang="fr-FR" sz="1400" b="0" i="0" dirty="0">
                <a:solidFill>
                  <a:srgbClr val="000000"/>
                </a:solidFill>
                <a:effectLst/>
                <a:latin typeface="Courier New" panose="02070309020205020404" pitchFamily="49" charset="0"/>
              </a:rPr>
              <a:t> </a:t>
            </a:r>
            <a:br>
              <a:rPr lang="fr-FR" sz="1400" b="0" i="0" dirty="0">
                <a:solidFill>
                  <a:srgbClr val="000000"/>
                </a:solidFill>
                <a:effectLst/>
                <a:latin typeface="Courier New" panose="02070309020205020404" pitchFamily="49" charset="0"/>
              </a:rPr>
            </a:br>
            <a:br>
              <a:rPr lang="fr-FR" sz="1400" b="0" i="0" dirty="0">
                <a:solidFill>
                  <a:srgbClr val="000000"/>
                </a:solidFill>
                <a:effectLst/>
                <a:latin typeface="Courier New" panose="02070309020205020404" pitchFamily="49" charset="0"/>
              </a:rPr>
            </a:br>
            <a:r>
              <a:rPr lang="fr-FR" sz="1400" b="0" i="0" dirty="0">
                <a:solidFill>
                  <a:srgbClr val="000000"/>
                </a:solidFill>
                <a:effectLst/>
                <a:latin typeface="Courier New" panose="02070309020205020404" pitchFamily="49" charset="0"/>
              </a:rPr>
              <a:t>10 </a:t>
            </a:r>
            <a:r>
              <a:rPr lang="fr-FR" sz="1400" b="1" i="0" dirty="0">
                <a:solidFill>
                  <a:srgbClr val="66CC66"/>
                </a:solidFill>
                <a:effectLst/>
                <a:latin typeface="Courier New" panose="02070309020205020404" pitchFamily="49" charset="0"/>
              </a:rPr>
              <a:t>T</a:t>
            </a:r>
            <a:r>
              <a:rPr lang="fr-FR" sz="1400" b="1" i="0" dirty="0">
                <a:solidFill>
                  <a:srgbClr val="000000"/>
                </a:solidFill>
                <a:effectLst/>
                <a:latin typeface="Courier New" panose="02070309020205020404" pitchFamily="49" charset="0"/>
              </a:rPr>
              <a:t> </a:t>
            </a:r>
            <a:r>
              <a:rPr lang="fr-FR" sz="1400" b="1" i="0" dirty="0">
                <a:solidFill>
                  <a:srgbClr val="64B0F4"/>
                </a:solidFill>
                <a:effectLst/>
                <a:latin typeface="Courier New" panose="02070309020205020404" pitchFamily="49" charset="0"/>
              </a:rPr>
              <a:t>C</a:t>
            </a:r>
            <a:r>
              <a:rPr lang="fr-FR" sz="1400" b="1" i="0" dirty="0">
                <a:solidFill>
                  <a:srgbClr val="000000"/>
                </a:solidFill>
                <a:effectLst/>
                <a:latin typeface="Courier New" panose="02070309020205020404" pitchFamily="49" charset="0"/>
              </a:rPr>
              <a:t> </a:t>
            </a:r>
            <a:r>
              <a:rPr lang="fr-FR" sz="1400" b="1" i="0" dirty="0">
                <a:solidFill>
                  <a:srgbClr val="FF4363"/>
                </a:solidFill>
                <a:effectLst/>
                <a:latin typeface="Courier New" panose="02070309020205020404" pitchFamily="49" charset="0"/>
              </a:rPr>
              <a:t>G </a:t>
            </a:r>
            <a:r>
              <a:rPr lang="fr-FR" sz="1400" b="1" i="0" dirty="0" err="1">
                <a:solidFill>
                  <a:srgbClr val="FF4363"/>
                </a:solidFill>
                <a:effectLst/>
                <a:latin typeface="Courier New" panose="02070309020205020404" pitchFamily="49" charset="0"/>
              </a:rPr>
              <a:t>G</a:t>
            </a:r>
            <a:r>
              <a:rPr lang="fr-FR" sz="1400" b="1" i="0" dirty="0">
                <a:solidFill>
                  <a:srgbClr val="FF4363"/>
                </a:solidFill>
                <a:effectLst/>
                <a:latin typeface="Courier New" panose="02070309020205020404" pitchFamily="49" charset="0"/>
              </a:rPr>
              <a:t> </a:t>
            </a:r>
            <a:r>
              <a:rPr lang="fr-FR" sz="1400" b="1" i="0" dirty="0" err="1">
                <a:solidFill>
                  <a:srgbClr val="FF4363"/>
                </a:solidFill>
                <a:effectLst/>
                <a:latin typeface="Courier New" panose="02070309020205020404" pitchFamily="49" charset="0"/>
              </a:rPr>
              <a:t>G</a:t>
            </a:r>
            <a:r>
              <a:rPr lang="fr-FR" sz="1400" b="0" i="0" dirty="0">
                <a:solidFill>
                  <a:srgbClr val="000000"/>
                </a:solidFill>
                <a:effectLst/>
                <a:latin typeface="Courier New" panose="02070309020205020404" pitchFamily="49" charset="0"/>
              </a:rPr>
              <a:t> t </a:t>
            </a:r>
            <a:r>
              <a:rPr lang="fr-FR" sz="1400" b="1" i="0" dirty="0">
                <a:solidFill>
                  <a:srgbClr val="A03881"/>
                </a:solidFill>
                <a:effectLst/>
                <a:latin typeface="Courier New" panose="02070309020205020404" pitchFamily="49" charset="0"/>
              </a:rPr>
              <a:t>A</a:t>
            </a:r>
            <a:r>
              <a:rPr lang="fr-FR" sz="1400" b="1" i="0" dirty="0">
                <a:solidFill>
                  <a:srgbClr val="000000"/>
                </a:solidFill>
                <a:effectLst/>
                <a:latin typeface="Courier New" panose="02070309020205020404" pitchFamily="49" charset="0"/>
              </a:rPr>
              <a:t> </a:t>
            </a:r>
            <a:r>
              <a:rPr lang="fr-FR" sz="1400" b="1" i="0" dirty="0">
                <a:solidFill>
                  <a:srgbClr val="66CC66"/>
                </a:solidFill>
                <a:effectLst/>
                <a:latin typeface="Courier New" panose="02070309020205020404" pitchFamily="49" charset="0"/>
              </a:rPr>
              <a:t>T</a:t>
            </a:r>
            <a:r>
              <a:rPr lang="fr-FR" sz="1400" b="0" i="0" dirty="0">
                <a:solidFill>
                  <a:srgbClr val="000000"/>
                </a:solidFill>
                <a:effectLst/>
                <a:latin typeface="Courier New" panose="02070309020205020404" pitchFamily="49" charset="0"/>
              </a:rPr>
              <a:t> a </a:t>
            </a:r>
            <a:r>
              <a:rPr lang="fr-FR" sz="1400" b="0" i="0" dirty="0" err="1">
                <a:solidFill>
                  <a:srgbClr val="000000"/>
                </a:solidFill>
                <a:effectLst/>
                <a:latin typeface="Courier New" panose="02070309020205020404" pitchFamily="49" charset="0"/>
              </a:rPr>
              <a:t>a</a:t>
            </a:r>
            <a:r>
              <a:rPr lang="fr-FR" sz="1400" b="0" i="0" dirty="0">
                <a:solidFill>
                  <a:srgbClr val="000000"/>
                </a:solidFill>
                <a:effectLst/>
                <a:latin typeface="Courier New" panose="02070309020205020404" pitchFamily="49" charset="0"/>
              </a:rPr>
              <a:t> </a:t>
            </a:r>
            <a:r>
              <a:rPr lang="fr-FR" sz="1400" b="1" i="0" dirty="0">
                <a:solidFill>
                  <a:srgbClr val="64B0F4"/>
                </a:solidFill>
                <a:effectLst/>
                <a:latin typeface="Courier New" panose="02070309020205020404" pitchFamily="49" charset="0"/>
              </a:rPr>
              <a:t>C </a:t>
            </a:r>
            <a:r>
              <a:rPr lang="fr-FR" sz="1400" b="1" i="0" dirty="0" err="1">
                <a:solidFill>
                  <a:srgbClr val="64B0F4"/>
                </a:solidFill>
                <a:effectLst/>
                <a:latin typeface="Courier New" panose="02070309020205020404" pitchFamily="49" charset="0"/>
              </a:rPr>
              <a:t>C</a:t>
            </a:r>
            <a:endParaRPr lang="en-US" sz="1400" dirty="0"/>
          </a:p>
        </p:txBody>
      </p:sp>
      <p:sp>
        <p:nvSpPr>
          <p:cNvPr id="3" name="Text Placeholder 2">
            <a:extLst>
              <a:ext uri="{FF2B5EF4-FFF2-40B4-BE49-F238E27FC236}">
                <a16:creationId xmlns:a16="http://schemas.microsoft.com/office/drawing/2014/main" id="{342050AE-111F-59C3-39FA-58B08C1BC6D5}"/>
              </a:ext>
            </a:extLst>
          </p:cNvPr>
          <p:cNvSpPr>
            <a:spLocks noGrp="1"/>
          </p:cNvSpPr>
          <p:nvPr>
            <p:ph type="body" idx="1"/>
          </p:nvPr>
        </p:nvSpPr>
        <p:spPr/>
        <p:txBody>
          <a:bodyPr>
            <a:normAutofit fontScale="92500" lnSpcReduction="10000"/>
          </a:bodyPr>
          <a:lstStyle/>
          <a:p>
            <a:r>
              <a:rPr lang="en-US" b="1" i="0" dirty="0">
                <a:solidFill>
                  <a:srgbClr val="000000"/>
                </a:solidFill>
                <a:effectLst/>
                <a:latin typeface="Raleway" pitchFamily="2" charset="0"/>
              </a:rPr>
              <a:t>Figure:</a:t>
            </a:r>
            <a:r>
              <a:rPr lang="en-US" b="0" i="0" dirty="0">
                <a:solidFill>
                  <a:srgbClr val="000000"/>
                </a:solidFill>
                <a:effectLst/>
                <a:latin typeface="Raleway" pitchFamily="2" charset="0"/>
              </a:rPr>
              <a:t> The ten candidate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binding sites appearing in the </a:t>
            </a:r>
            <a:r>
              <a:rPr lang="en-US" b="0" i="1" dirty="0">
                <a:solidFill>
                  <a:srgbClr val="000000"/>
                </a:solidFill>
                <a:effectLst/>
                <a:latin typeface="Raleway" pitchFamily="2" charset="0"/>
              </a:rPr>
              <a:t>Drosophila melanogaster</a:t>
            </a:r>
            <a:r>
              <a:rPr lang="en-US" b="0" i="0" dirty="0">
                <a:solidFill>
                  <a:srgbClr val="000000"/>
                </a:solidFill>
                <a:effectLst/>
                <a:latin typeface="Raleway" pitchFamily="2" charset="0"/>
              </a:rPr>
              <a:t> genome. The colored upper case letters indicate the most frequent nucleotide in each column.</a:t>
            </a:r>
            <a:endParaRPr lang="en-US" dirty="0"/>
          </a:p>
        </p:txBody>
      </p:sp>
    </p:spTree>
    <p:extLst>
      <p:ext uri="{BB962C8B-B14F-4D97-AF65-F5344CB8AC3E}">
        <p14:creationId xmlns:p14="http://schemas.microsoft.com/office/powerpoint/2010/main" val="2593631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184B9-E665-13AF-5085-5E497C025D15}"/>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Hide and seek with motifs</a:t>
            </a:r>
            <a:br>
              <a:rPr lang="en-US" b="1" i="0" dirty="0">
                <a:solidFill>
                  <a:srgbClr val="000000"/>
                </a:solidFill>
                <a:effectLst/>
                <a:latin typeface="Raleway" pitchFamily="2" charset="0"/>
              </a:rPr>
            </a:br>
            <a:endParaRPr lang="en-US" dirty="0"/>
          </a:p>
        </p:txBody>
      </p:sp>
      <p:sp>
        <p:nvSpPr>
          <p:cNvPr id="3" name="Content Placeholder 2">
            <a:extLst>
              <a:ext uri="{FF2B5EF4-FFF2-40B4-BE49-F238E27FC236}">
                <a16:creationId xmlns:a16="http://schemas.microsoft.com/office/drawing/2014/main" id="{7696446D-3BC2-958E-2B51-BE98E8EF28DB}"/>
              </a:ext>
            </a:extLst>
          </p:cNvPr>
          <p:cNvSpPr>
            <a:spLocks noGrp="1"/>
          </p:cNvSpPr>
          <p:nvPr>
            <p:ph idx="1"/>
          </p:nvPr>
        </p:nvSpPr>
        <p:spPr/>
        <p:txBody>
          <a:bodyPr/>
          <a:lstStyle/>
          <a:p>
            <a:r>
              <a:rPr lang="en-US" b="0" i="0" dirty="0">
                <a:solidFill>
                  <a:srgbClr val="000000"/>
                </a:solidFill>
                <a:effectLst/>
                <a:latin typeface="Raleway" pitchFamily="2" charset="0"/>
              </a:rPr>
              <a:t>Our aim is to turn the biological challenge of finding regulatory motifs into a computational problem. Below, we have implanted a 15-mer hidden message at a randomly selected position in each of ten randomly generated DNA strings. This example mimics a transcription factor binding site hiding in the upstream regions of ten genes.</a:t>
            </a:r>
            <a:endParaRPr lang="en-US" dirty="0"/>
          </a:p>
        </p:txBody>
      </p:sp>
    </p:spTree>
    <p:extLst>
      <p:ext uri="{BB962C8B-B14F-4D97-AF65-F5344CB8AC3E}">
        <p14:creationId xmlns:p14="http://schemas.microsoft.com/office/powerpoint/2010/main" val="4034931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978C-F1FC-9DB0-3B76-D49992D16D01}"/>
              </a:ext>
            </a:extLst>
          </p:cNvPr>
          <p:cNvSpPr>
            <a:spLocks noGrp="1"/>
          </p:cNvSpPr>
          <p:nvPr>
            <p:ph type="title"/>
          </p:nvPr>
        </p:nvSpPr>
        <p:spPr/>
        <p:txBody>
          <a:bodyPr/>
          <a:lstStyle/>
          <a:p>
            <a:r>
              <a:rPr lang="en-US" dirty="0"/>
              <a:t>Hide and seek with motifs</a:t>
            </a:r>
          </a:p>
        </p:txBody>
      </p:sp>
      <p:sp>
        <p:nvSpPr>
          <p:cNvPr id="3" name="Content Placeholder 2">
            <a:extLst>
              <a:ext uri="{FF2B5EF4-FFF2-40B4-BE49-F238E27FC236}">
                <a16:creationId xmlns:a16="http://schemas.microsoft.com/office/drawing/2014/main" id="{43DBE930-07E9-E249-FB7E-800653D09030}"/>
              </a:ext>
            </a:extLst>
          </p:cNvPr>
          <p:cNvSpPr>
            <a:spLocks noGrp="1"/>
          </p:cNvSpPr>
          <p:nvPr>
            <p:ph idx="1"/>
          </p:nvPr>
        </p:nvSpPr>
        <p:spPr/>
        <p:txBody>
          <a:bodyPr>
            <a:normAutofit fontScale="70000" lnSpcReduction="20000"/>
          </a:bodyPr>
          <a:lstStyle/>
          <a:p>
            <a:r>
              <a:rPr lang="en-US" b="0" i="0" dirty="0">
                <a:solidFill>
                  <a:srgbClr val="000000"/>
                </a:solidFill>
                <a:effectLst/>
                <a:latin typeface="Courier New" panose="02070309020205020404" pitchFamily="49" charset="0"/>
              </a:rPr>
              <a:t>1 "atgaccgggatactgataaaaaaaagggggggggcgtacacattagataaacgtatgaagtacgttagactcggcgccgccg" 2 "acccctattttttgagcagatttagtgacctggaaaaaaaatttgagtacaaaacttttccgaataaaaaaaaaggggggga" 3 "tgagtatccctgggatgacttaaaaaaaagggggggtgctctcccgatttttgaatatgtaggatcattcgccagggtccga" 4 "gctgagaattggatgaaaaaaaagggggggtccacgcaatcgcgaaccaacgcggacccaaaggcaagaccgataaaggaga" 5 "tcccttttgcggtaatgtgccgggaggctggttacgtagggaagccctaacggacttaataaaaaaaagggggggcttatag" 6 "gtcaatcatgttcttgtgaatggatttaaaaaaaaggggggggaccgcttggcgcacccaaattcagtgtgggcgagcgcaa" 7 "cggttttggcccttgttagaggcccccgtaaaaaaaagggggggcaattatgagagagctaatctatcgcgtgcgtgttcat" 8 "aacttgagttaaaaaaaagggggggctggggcacatacaagaggagtcttccttatcagttaatgctgtatgacactatgta" 9 "ttggcccattggctaaaagcccaacttgacaaatggaagatagaatccttgcataaaaaaaagggggggaccgaaagggaag" 10"ctggtgagcaacgacagattcttacgtgcattagctcgcttccggggatctaatagcacgaagcttaaaaaaaaggggggga" </a:t>
            </a:r>
            <a:endParaRPr lang="en-US" dirty="0"/>
          </a:p>
        </p:txBody>
      </p:sp>
    </p:spTree>
    <p:extLst>
      <p:ext uri="{BB962C8B-B14F-4D97-AF65-F5344CB8AC3E}">
        <p14:creationId xmlns:p14="http://schemas.microsoft.com/office/powerpoint/2010/main" val="2086281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5F486-B3A5-1526-5E12-6302A91EC1FF}"/>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Hide and seek with motifs</a:t>
            </a:r>
            <a:endParaRPr lang="en-US" dirty="0"/>
          </a:p>
        </p:txBody>
      </p:sp>
      <p:sp>
        <p:nvSpPr>
          <p:cNvPr id="3" name="Content Placeholder 2">
            <a:extLst>
              <a:ext uri="{FF2B5EF4-FFF2-40B4-BE49-F238E27FC236}">
                <a16:creationId xmlns:a16="http://schemas.microsoft.com/office/drawing/2014/main" id="{52241253-B96F-E698-7873-4B4898E2E4E8}"/>
              </a:ext>
            </a:extLst>
          </p:cNvPr>
          <p:cNvSpPr>
            <a:spLocks noGrp="1"/>
          </p:cNvSpPr>
          <p:nvPr>
            <p:ph idx="1"/>
          </p:nvPr>
        </p:nvSpPr>
        <p:spPr/>
        <p:txBody>
          <a:bodyPr/>
          <a:lstStyle/>
          <a:p>
            <a:pPr algn="l">
              <a:buNone/>
            </a:pPr>
            <a:r>
              <a:rPr lang="en-US" b="1" i="0" dirty="0">
                <a:solidFill>
                  <a:srgbClr val="FF4363"/>
                </a:solidFill>
                <a:effectLst/>
                <a:latin typeface="Raleway" pitchFamily="2" charset="0"/>
              </a:rPr>
              <a:t>STOP and Think:</a:t>
            </a:r>
            <a:r>
              <a:rPr lang="en-US" b="0" i="0" dirty="0">
                <a:solidFill>
                  <a:srgbClr val="000000"/>
                </a:solidFill>
                <a:effectLst/>
                <a:latin typeface="Raleway" pitchFamily="2" charset="0"/>
              </a:rPr>
              <a:t> Can you find the implanted hidden message?</a:t>
            </a:r>
          </a:p>
          <a:p>
            <a:pPr algn="l">
              <a:buNone/>
            </a:pPr>
            <a:r>
              <a:rPr lang="en-US" b="0" i="0" dirty="0">
                <a:solidFill>
                  <a:srgbClr val="000000"/>
                </a:solidFill>
                <a:effectLst/>
                <a:latin typeface="Raleway" pitchFamily="2" charset="0"/>
              </a:rPr>
              <a:t>This is a simple problem – applying an algorithm for the Frequent Words Problem to the concatenation of these strings will immediately reveal the most frequent 15-mer shown below as the implanted pattern. Since these short strings were randomly generated, it is unlikely that they contain other frequent 15-mers.</a:t>
            </a:r>
          </a:p>
          <a:p>
            <a:endParaRPr lang="en-US" dirty="0"/>
          </a:p>
        </p:txBody>
      </p:sp>
    </p:spTree>
    <p:extLst>
      <p:ext uri="{BB962C8B-B14F-4D97-AF65-F5344CB8AC3E}">
        <p14:creationId xmlns:p14="http://schemas.microsoft.com/office/powerpoint/2010/main" val="2216259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92E99-93C7-B030-1E38-09ACF55FC12C}"/>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Hide and seek with motifs</a:t>
            </a:r>
            <a:endParaRPr lang="en-US" dirty="0"/>
          </a:p>
        </p:txBody>
      </p:sp>
      <p:sp>
        <p:nvSpPr>
          <p:cNvPr id="3" name="Content Placeholder 2">
            <a:extLst>
              <a:ext uri="{FF2B5EF4-FFF2-40B4-BE49-F238E27FC236}">
                <a16:creationId xmlns:a16="http://schemas.microsoft.com/office/drawing/2014/main" id="{248935BB-08DA-21A2-4241-6B6F3500C372}"/>
              </a:ext>
            </a:extLst>
          </p:cNvPr>
          <p:cNvSpPr>
            <a:spLocks noGrp="1"/>
          </p:cNvSpPr>
          <p:nvPr>
            <p:ph idx="1"/>
          </p:nvPr>
        </p:nvSpPr>
        <p:spPr/>
        <p:txBody>
          <a:bodyPr>
            <a:normAutofit fontScale="70000" lnSpcReduction="20000"/>
          </a:bodyPr>
          <a:lstStyle/>
          <a:p>
            <a:r>
              <a:rPr lang="en-US" b="0" i="0" dirty="0">
                <a:solidFill>
                  <a:srgbClr val="000000"/>
                </a:solidFill>
                <a:effectLst/>
                <a:latin typeface="Courier New" panose="02070309020205020404" pitchFamily="49" charset="0"/>
              </a:rPr>
              <a:t>1 "atgaccgggatactgat</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Courier New" panose="02070309020205020404" pitchFamily="49" charset="0"/>
              </a:rPr>
              <a:t>ggcgtacacattagataaacgtatgaagtacgttagactcggcgccgccg" 2 "acccctattttttgagcagatttagtgacctggaaaaaaaatttgagtacaaaacttttccgaata</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Courier New" panose="02070309020205020404" pitchFamily="49" charset="0"/>
              </a:rPr>
              <a:t>a" 3 "tgagtatccctgggatgactt</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Courier New" panose="02070309020205020404" pitchFamily="49" charset="0"/>
              </a:rPr>
              <a:t>tgctctcccgatttttgaatatgtaggatcattcgccagggtccga" 4 "gctgagaattggatg</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Courier New" panose="02070309020205020404" pitchFamily="49" charset="0"/>
              </a:rPr>
              <a:t>tccacgcaatcgcgaaccaacgcggacccaaaggcaagaccgataaaggaga" 5 "tcccttttgcggtaatgtgccgggaggctggttacgtagggaagccctaacggacttaat</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Courier New" panose="02070309020205020404" pitchFamily="49" charset="0"/>
              </a:rPr>
              <a:t>cttatag" 6 "gtcaatcatgttcttgtgaatggattt</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Courier New" panose="02070309020205020404" pitchFamily="49" charset="0"/>
              </a:rPr>
              <a:t>gaccgcttggcgcacccaaattcagtgtgggcgagcgcaa" 7 "cggttttggcccttgttagaggcccccgt</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Courier New" panose="02070309020205020404" pitchFamily="49" charset="0"/>
              </a:rPr>
              <a:t>caattatgagagagctaatctatcgcgtgcgtgttcat" 8 "aacttgagtt</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Courier New" panose="02070309020205020404" pitchFamily="49" charset="0"/>
              </a:rPr>
              <a:t>ctggggcacatacaagaggagtcttccttatcagttaatgctgtatgacactatgta" 9 "ttggcccattggctaaaagcccaacttgacaaatggaagatagaatccttgcat</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Courier New" panose="02070309020205020404" pitchFamily="49" charset="0"/>
              </a:rPr>
              <a:t>accgaaagggaag" 10"ctggtgagcaacgacagattcttacgtgcattagctcgcttccggggatctaatagcacgaagctt</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Courier New" panose="02070309020205020404" pitchFamily="49" charset="0"/>
              </a:rPr>
              <a:t>a" </a:t>
            </a:r>
            <a:endParaRPr lang="en-US" dirty="0"/>
          </a:p>
        </p:txBody>
      </p:sp>
    </p:spTree>
    <p:extLst>
      <p:ext uri="{BB962C8B-B14F-4D97-AF65-F5344CB8AC3E}">
        <p14:creationId xmlns:p14="http://schemas.microsoft.com/office/powerpoint/2010/main" val="63410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4FF43-CA0B-2421-EE2C-2F2EB7233688}"/>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Hide and seek with motifs</a:t>
            </a:r>
            <a:endParaRPr lang="en-US" dirty="0"/>
          </a:p>
        </p:txBody>
      </p:sp>
      <p:sp>
        <p:nvSpPr>
          <p:cNvPr id="3" name="Content Placeholder 2">
            <a:extLst>
              <a:ext uri="{FF2B5EF4-FFF2-40B4-BE49-F238E27FC236}">
                <a16:creationId xmlns:a16="http://schemas.microsoft.com/office/drawing/2014/main" id="{22C7A913-3EDD-DE58-5970-E146CAFBA178}"/>
              </a:ext>
            </a:extLst>
          </p:cNvPr>
          <p:cNvSpPr>
            <a:spLocks noGrp="1"/>
          </p:cNvSpPr>
          <p:nvPr>
            <p:ph idx="1"/>
          </p:nvPr>
        </p:nvSpPr>
        <p:spPr/>
        <p:txBody>
          <a:bodyPr/>
          <a:lstStyle/>
          <a:p>
            <a:r>
              <a:rPr lang="en-US" b="0" i="0" dirty="0">
                <a:solidFill>
                  <a:srgbClr val="000000"/>
                </a:solidFill>
                <a:effectLst/>
                <a:latin typeface="Raleway" pitchFamily="2" charset="0"/>
              </a:rPr>
              <a:t>Now imagine that instead of implanting exactly the same pattern into all sequences, we mutate the pattern before inserting it into each sequence by randomly changing the nucleotides at four randomly selected positions within each implanted 15-mer, as shown below.</a:t>
            </a:r>
            <a:endParaRPr lang="en-US" dirty="0"/>
          </a:p>
        </p:txBody>
      </p:sp>
    </p:spTree>
    <p:extLst>
      <p:ext uri="{BB962C8B-B14F-4D97-AF65-F5344CB8AC3E}">
        <p14:creationId xmlns:p14="http://schemas.microsoft.com/office/powerpoint/2010/main" val="1795308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73032-DEF0-2E3D-00B2-899CAA32125D}"/>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Hide and seek with motifs</a:t>
            </a:r>
            <a:endParaRPr lang="en-US" dirty="0"/>
          </a:p>
        </p:txBody>
      </p:sp>
      <p:sp>
        <p:nvSpPr>
          <p:cNvPr id="3" name="Content Placeholder 2">
            <a:extLst>
              <a:ext uri="{FF2B5EF4-FFF2-40B4-BE49-F238E27FC236}">
                <a16:creationId xmlns:a16="http://schemas.microsoft.com/office/drawing/2014/main" id="{DDCB014E-6292-4EC3-A117-DDAAADE24F9F}"/>
              </a:ext>
            </a:extLst>
          </p:cNvPr>
          <p:cNvSpPr>
            <a:spLocks noGrp="1"/>
          </p:cNvSpPr>
          <p:nvPr>
            <p:ph idx="1"/>
          </p:nvPr>
        </p:nvSpPr>
        <p:spPr/>
        <p:txBody>
          <a:bodyPr>
            <a:normAutofit fontScale="70000" lnSpcReduction="20000"/>
          </a:bodyPr>
          <a:lstStyle/>
          <a:p>
            <a:r>
              <a:rPr lang="en-US" b="0" i="0" dirty="0">
                <a:solidFill>
                  <a:srgbClr val="000000"/>
                </a:solidFill>
                <a:effectLst/>
                <a:latin typeface="Courier New" panose="02070309020205020404" pitchFamily="49" charset="0"/>
              </a:rPr>
              <a:t>1 "atgaccgggatactgat</a:t>
            </a:r>
            <a:r>
              <a:rPr lang="en-US" b="1" i="0" dirty="0">
                <a:solidFill>
                  <a:srgbClr val="A03881"/>
                </a:solidFill>
                <a:effectLst/>
                <a:latin typeface="Courier New" panose="02070309020205020404" pitchFamily="49" charset="0"/>
              </a:rPr>
              <a:t>A</a:t>
            </a:r>
            <a:r>
              <a:rPr lang="en-US" b="1" i="0" dirty="0">
                <a:solidFill>
                  <a:srgbClr val="000000"/>
                </a:solidFill>
                <a:effectLst/>
                <a:latin typeface="Courier New" panose="02070309020205020404" pitchFamily="49" charset="0"/>
              </a:rPr>
              <a:t>g</a:t>
            </a:r>
            <a:r>
              <a:rPr lang="en-US" b="1" i="0" dirty="0">
                <a:solidFill>
                  <a:srgbClr val="A03881"/>
                </a:solidFill>
                <a:effectLst/>
                <a:latin typeface="Courier New" panose="02070309020205020404" pitchFamily="49" charset="0"/>
              </a:rPr>
              <a:t>AA</a:t>
            </a:r>
            <a:r>
              <a:rPr lang="en-US" b="1" i="0" dirty="0">
                <a:solidFill>
                  <a:srgbClr val="000000"/>
                </a:solidFill>
                <a:effectLst/>
                <a:latin typeface="Courier New" panose="02070309020205020404" pitchFamily="49" charset="0"/>
              </a:rPr>
              <a:t>g</a:t>
            </a:r>
            <a:r>
              <a:rPr lang="en-US" b="1" i="0" dirty="0">
                <a:solidFill>
                  <a:srgbClr val="A03881"/>
                </a:solidFill>
                <a:effectLst/>
                <a:latin typeface="Courier New" panose="02070309020205020404" pitchFamily="49" charset="0"/>
              </a:rPr>
              <a:t>AAA</a:t>
            </a:r>
            <a:r>
              <a:rPr lang="en-US" b="1" i="0" dirty="0">
                <a:solidFill>
                  <a:srgbClr val="FF4363"/>
                </a:solidFill>
                <a:effectLst/>
                <a:latin typeface="Courier New" panose="02070309020205020404" pitchFamily="49" charset="0"/>
              </a:rPr>
              <a:t>GG</a:t>
            </a:r>
            <a:r>
              <a:rPr lang="en-US" b="1" i="0" dirty="0">
                <a:solidFill>
                  <a:srgbClr val="000000"/>
                </a:solidFill>
                <a:effectLst/>
                <a:latin typeface="Courier New" panose="02070309020205020404" pitchFamily="49" charset="0"/>
              </a:rPr>
              <a:t>tt</a:t>
            </a:r>
            <a:r>
              <a:rPr lang="en-US" b="1" i="0" dirty="0">
                <a:solidFill>
                  <a:srgbClr val="FF4363"/>
                </a:solidFill>
                <a:effectLst/>
                <a:latin typeface="Courier New" panose="02070309020205020404" pitchFamily="49" charset="0"/>
              </a:rPr>
              <a:t>GGG</a:t>
            </a:r>
            <a:r>
              <a:rPr lang="en-US" b="0" i="0" dirty="0">
                <a:solidFill>
                  <a:srgbClr val="000000"/>
                </a:solidFill>
                <a:effectLst/>
                <a:latin typeface="Courier New" panose="02070309020205020404" pitchFamily="49" charset="0"/>
              </a:rPr>
              <a:t>ggcgtacacattagataaacgtatgaagtacgttagactcggcgccgccg" 2 "acccctattttttgagcagatttagtgacctggaaaaaaaatttgagtacaaaacttttccgaata</a:t>
            </a:r>
            <a:r>
              <a:rPr lang="en-US" b="1" i="0" dirty="0">
                <a:solidFill>
                  <a:srgbClr val="000000"/>
                </a:solidFill>
                <a:effectLst/>
                <a:latin typeface="Courier New" panose="02070309020205020404" pitchFamily="49" charset="0"/>
              </a:rPr>
              <a:t>c</a:t>
            </a:r>
            <a:r>
              <a:rPr lang="en-US" b="1" i="0" dirty="0">
                <a:solidFill>
                  <a:srgbClr val="A03881"/>
                </a:solidFill>
                <a:effectLst/>
                <a:latin typeface="Courier New" panose="02070309020205020404" pitchFamily="49" charset="0"/>
              </a:rPr>
              <a:t>AA</a:t>
            </a:r>
            <a:r>
              <a:rPr lang="en-US" b="1" i="0" dirty="0">
                <a:solidFill>
                  <a:srgbClr val="000000"/>
                </a:solidFill>
                <a:effectLst/>
                <a:latin typeface="Courier New" panose="02070309020205020404" pitchFamily="49" charset="0"/>
              </a:rPr>
              <a:t>t</a:t>
            </a:r>
            <a:r>
              <a:rPr lang="en-US" b="1" i="0" dirty="0">
                <a:solidFill>
                  <a:srgbClr val="A03881"/>
                </a:solidFill>
                <a:effectLst/>
                <a:latin typeface="Courier New" panose="02070309020205020404" pitchFamily="49" charset="0"/>
              </a:rPr>
              <a:t>AAAA</a:t>
            </a:r>
            <a:r>
              <a:rPr lang="en-US" b="1" i="0" dirty="0">
                <a:solidFill>
                  <a:srgbClr val="000000"/>
                </a:solidFill>
                <a:effectLst/>
                <a:latin typeface="Courier New" panose="02070309020205020404" pitchFamily="49" charset="0"/>
              </a:rPr>
              <a:t>c</a:t>
            </a:r>
            <a:r>
              <a:rPr lang="en-US" b="1" i="0" dirty="0">
                <a:solidFill>
                  <a:srgbClr val="FF4363"/>
                </a:solidFill>
                <a:effectLst/>
                <a:latin typeface="Courier New" panose="02070309020205020404" pitchFamily="49" charset="0"/>
              </a:rPr>
              <a:t>GG</a:t>
            </a:r>
            <a:r>
              <a:rPr lang="en-US" b="1" i="0" dirty="0">
                <a:solidFill>
                  <a:srgbClr val="000000"/>
                </a:solidFill>
                <a:effectLst/>
                <a:latin typeface="Courier New" panose="02070309020205020404" pitchFamily="49" charset="0"/>
              </a:rPr>
              <a:t>c</a:t>
            </a:r>
            <a:r>
              <a:rPr lang="en-US" b="1" i="0" dirty="0">
                <a:solidFill>
                  <a:srgbClr val="FF4363"/>
                </a:solidFill>
                <a:effectLst/>
                <a:latin typeface="Courier New" panose="02070309020205020404" pitchFamily="49" charset="0"/>
              </a:rPr>
              <a:t>GGG</a:t>
            </a:r>
            <a:r>
              <a:rPr lang="en-US" b="0" i="0" dirty="0">
                <a:solidFill>
                  <a:srgbClr val="000000"/>
                </a:solidFill>
                <a:effectLst/>
                <a:latin typeface="Courier New" panose="02070309020205020404" pitchFamily="49" charset="0"/>
              </a:rPr>
              <a:t>a" 3 "tgagtatccctgggatgactt</a:t>
            </a:r>
            <a:r>
              <a:rPr lang="en-US" b="1" i="0" dirty="0">
                <a:solidFill>
                  <a:srgbClr val="A03881"/>
                </a:solidFill>
                <a:effectLst/>
                <a:latin typeface="Courier New" panose="02070309020205020404" pitchFamily="49" charset="0"/>
              </a:rPr>
              <a:t>AAAA</a:t>
            </a:r>
            <a:r>
              <a:rPr lang="en-US" b="1" i="0" dirty="0">
                <a:solidFill>
                  <a:srgbClr val="000000"/>
                </a:solidFill>
                <a:effectLst/>
                <a:latin typeface="Courier New" panose="02070309020205020404" pitchFamily="49" charset="0"/>
              </a:rPr>
              <a:t>t</a:t>
            </a:r>
            <a:r>
              <a:rPr lang="en-US" b="1" i="0" dirty="0">
                <a:solidFill>
                  <a:srgbClr val="A03881"/>
                </a:solidFill>
                <a:effectLst/>
                <a:latin typeface="Courier New" panose="02070309020205020404" pitchFamily="49" charset="0"/>
              </a:rPr>
              <a:t>AA</a:t>
            </a:r>
            <a:r>
              <a:rPr lang="en-US" b="1" i="0" dirty="0">
                <a:solidFill>
                  <a:srgbClr val="000000"/>
                </a:solidFill>
                <a:effectLst/>
                <a:latin typeface="Courier New" panose="02070309020205020404" pitchFamily="49" charset="0"/>
              </a:rPr>
              <a:t>t</a:t>
            </a:r>
            <a:r>
              <a:rPr lang="en-US" b="1" i="0" dirty="0">
                <a:solidFill>
                  <a:srgbClr val="FF4363"/>
                </a:solidFill>
                <a:effectLst/>
                <a:latin typeface="Courier New" panose="02070309020205020404" pitchFamily="49" charset="0"/>
              </a:rPr>
              <a:t>GG</a:t>
            </a:r>
            <a:r>
              <a:rPr lang="en-US" b="1" i="0" dirty="0">
                <a:solidFill>
                  <a:srgbClr val="000000"/>
                </a:solidFill>
                <a:effectLst/>
                <a:latin typeface="Courier New" panose="02070309020205020404" pitchFamily="49" charset="0"/>
              </a:rPr>
              <a:t>a</a:t>
            </a:r>
            <a:r>
              <a:rPr lang="en-US" b="1" i="0" dirty="0">
                <a:solidFill>
                  <a:srgbClr val="FF4363"/>
                </a:solidFill>
                <a:effectLst/>
                <a:latin typeface="Courier New" panose="02070309020205020404" pitchFamily="49" charset="0"/>
              </a:rPr>
              <a:t>G</a:t>
            </a:r>
            <a:r>
              <a:rPr lang="en-US" b="1" i="0" dirty="0">
                <a:solidFill>
                  <a:srgbClr val="000000"/>
                </a:solidFill>
                <a:effectLst/>
                <a:latin typeface="Courier New" panose="02070309020205020404" pitchFamily="49" charset="0"/>
              </a:rPr>
              <a:t>t</a:t>
            </a:r>
            <a:r>
              <a:rPr lang="en-US" b="1" i="0" dirty="0">
                <a:solidFill>
                  <a:srgbClr val="FF4363"/>
                </a:solidFill>
                <a:effectLst/>
                <a:latin typeface="Courier New" panose="02070309020205020404" pitchFamily="49" charset="0"/>
              </a:rPr>
              <a:t>GG</a:t>
            </a:r>
            <a:r>
              <a:rPr lang="en-US" b="0" i="0" dirty="0">
                <a:solidFill>
                  <a:srgbClr val="000000"/>
                </a:solidFill>
                <a:effectLst/>
                <a:latin typeface="Courier New" panose="02070309020205020404" pitchFamily="49" charset="0"/>
              </a:rPr>
              <a:t>tgctctcccgatttttgaatatgtaggatcattcgccagggtccga" 4 "gctgagaattggatg</a:t>
            </a:r>
            <a:r>
              <a:rPr lang="en-US" b="1" i="0" dirty="0">
                <a:solidFill>
                  <a:srgbClr val="000000"/>
                </a:solidFill>
                <a:effectLst/>
                <a:latin typeface="Courier New" panose="02070309020205020404" pitchFamily="49" charset="0"/>
              </a:rPr>
              <a:t>c</a:t>
            </a:r>
            <a:r>
              <a:rPr lang="en-US" b="1" i="0" dirty="0">
                <a:solidFill>
                  <a:srgbClr val="A03881"/>
                </a:solidFill>
                <a:effectLst/>
                <a:latin typeface="Courier New" panose="02070309020205020404" pitchFamily="49" charset="0"/>
              </a:rPr>
              <a:t>AAAAAAA</a:t>
            </a:r>
            <a:r>
              <a:rPr lang="en-US" b="1" i="0" dirty="0">
                <a:solidFill>
                  <a:srgbClr val="FF4363"/>
                </a:solidFill>
                <a:effectLst/>
                <a:latin typeface="Courier New" panose="02070309020205020404" pitchFamily="49" charset="0"/>
              </a:rPr>
              <a:t>GGG</a:t>
            </a:r>
            <a:r>
              <a:rPr lang="en-US" b="1" i="0" dirty="0">
                <a:solidFill>
                  <a:srgbClr val="000000"/>
                </a:solidFill>
                <a:effectLst/>
                <a:latin typeface="Courier New" panose="02070309020205020404" pitchFamily="49" charset="0"/>
              </a:rPr>
              <a:t>att</a:t>
            </a:r>
            <a:r>
              <a:rPr lang="en-US" b="1" i="0" dirty="0">
                <a:solidFill>
                  <a:srgbClr val="FF4363"/>
                </a:solidFill>
                <a:effectLst/>
                <a:latin typeface="Courier New" panose="02070309020205020404" pitchFamily="49" charset="0"/>
              </a:rPr>
              <a:t>G</a:t>
            </a:r>
            <a:r>
              <a:rPr lang="en-US" b="0" i="0" dirty="0">
                <a:solidFill>
                  <a:srgbClr val="000000"/>
                </a:solidFill>
                <a:effectLst/>
                <a:latin typeface="Courier New" panose="02070309020205020404" pitchFamily="49" charset="0"/>
              </a:rPr>
              <a:t>tccacgcaatcgcgaaccaacgcggacccaaaggcaagaccgataaaggaga" 5 "tcccttttgcggtaatgtgccgggaggctggttacgtagggaagccctaacggacttaat</a:t>
            </a:r>
            <a:r>
              <a:rPr lang="en-US" b="1" i="0" dirty="0">
                <a:solidFill>
                  <a:srgbClr val="A03881"/>
                </a:solidFill>
                <a:effectLst/>
                <a:latin typeface="Courier New" panose="02070309020205020404" pitchFamily="49" charset="0"/>
              </a:rPr>
              <a:t>A</a:t>
            </a:r>
            <a:r>
              <a:rPr lang="en-US" b="1" i="0" dirty="0">
                <a:solidFill>
                  <a:srgbClr val="000000"/>
                </a:solidFill>
                <a:effectLst/>
                <a:latin typeface="Courier New" panose="02070309020205020404" pitchFamily="49" charset="0"/>
              </a:rPr>
              <a:t>t</a:t>
            </a:r>
            <a:r>
              <a:rPr lang="en-US" b="1" i="0" dirty="0">
                <a:solidFill>
                  <a:srgbClr val="A03881"/>
                </a:solidFill>
                <a:effectLst/>
                <a:latin typeface="Courier New" panose="02070309020205020404" pitchFamily="49" charset="0"/>
              </a:rPr>
              <a:t>AA</a:t>
            </a:r>
            <a:r>
              <a:rPr lang="en-US" b="1" i="0" dirty="0">
                <a:solidFill>
                  <a:srgbClr val="000000"/>
                </a:solidFill>
                <a:effectLst/>
                <a:latin typeface="Courier New" panose="02070309020205020404" pitchFamily="49" charset="0"/>
              </a:rPr>
              <a:t>t</a:t>
            </a:r>
            <a:r>
              <a:rPr lang="en-US" b="1" i="0" dirty="0">
                <a:solidFill>
                  <a:srgbClr val="A03881"/>
                </a:solidFill>
                <a:effectLst/>
                <a:latin typeface="Courier New" panose="02070309020205020404" pitchFamily="49" charset="0"/>
              </a:rPr>
              <a:t>AAA</a:t>
            </a:r>
            <a:r>
              <a:rPr lang="en-US" b="1" i="0" dirty="0">
                <a:solidFill>
                  <a:srgbClr val="FF4363"/>
                </a:solidFill>
                <a:effectLst/>
                <a:latin typeface="Courier New" panose="02070309020205020404" pitchFamily="49" charset="0"/>
              </a:rPr>
              <a:t>GG</a:t>
            </a:r>
            <a:r>
              <a:rPr lang="en-US" b="1" i="0" dirty="0">
                <a:solidFill>
                  <a:srgbClr val="000000"/>
                </a:solidFill>
                <a:effectLst/>
                <a:latin typeface="Courier New" panose="02070309020205020404" pitchFamily="49" charset="0"/>
              </a:rPr>
              <a:t>aa</a:t>
            </a:r>
            <a:r>
              <a:rPr lang="en-US" b="1" i="0" dirty="0">
                <a:solidFill>
                  <a:srgbClr val="FF4363"/>
                </a:solidFill>
                <a:effectLst/>
                <a:latin typeface="Courier New" panose="02070309020205020404" pitchFamily="49" charset="0"/>
              </a:rPr>
              <a:t>GGG</a:t>
            </a:r>
            <a:r>
              <a:rPr lang="en-US" b="0" i="0" dirty="0">
                <a:solidFill>
                  <a:srgbClr val="000000"/>
                </a:solidFill>
                <a:effectLst/>
                <a:latin typeface="Courier New" panose="02070309020205020404" pitchFamily="49" charset="0"/>
              </a:rPr>
              <a:t>cttatag" 6 "gtcaatcatgttcttgtgaatggattt</a:t>
            </a:r>
            <a:r>
              <a:rPr lang="en-US" b="1" i="0" dirty="0">
                <a:solidFill>
                  <a:srgbClr val="A03881"/>
                </a:solidFill>
                <a:effectLst/>
                <a:latin typeface="Courier New" panose="02070309020205020404" pitchFamily="49" charset="0"/>
              </a:rPr>
              <a:t>AA</a:t>
            </a:r>
            <a:r>
              <a:rPr lang="en-US" b="1" i="0" dirty="0">
                <a:solidFill>
                  <a:srgbClr val="000000"/>
                </a:solidFill>
                <a:effectLst/>
                <a:latin typeface="Courier New" panose="02070309020205020404" pitchFamily="49" charset="0"/>
              </a:rPr>
              <a:t>c</a:t>
            </a:r>
            <a:r>
              <a:rPr lang="en-US" b="1" i="0" dirty="0">
                <a:solidFill>
                  <a:srgbClr val="A03881"/>
                </a:solidFill>
                <a:effectLst/>
                <a:latin typeface="Courier New" panose="02070309020205020404" pitchFamily="49" charset="0"/>
              </a:rPr>
              <a:t>AA</a:t>
            </a:r>
            <a:r>
              <a:rPr lang="en-US" b="1" i="0" dirty="0">
                <a:solidFill>
                  <a:srgbClr val="000000"/>
                </a:solidFill>
                <a:effectLst/>
                <a:latin typeface="Courier New" panose="02070309020205020404" pitchFamily="49" charset="0"/>
              </a:rPr>
              <a:t>t</a:t>
            </a:r>
            <a:r>
              <a:rPr lang="en-US" b="1" i="0" dirty="0">
                <a:solidFill>
                  <a:srgbClr val="A03881"/>
                </a:solidFill>
                <a:effectLst/>
                <a:latin typeface="Courier New" panose="02070309020205020404" pitchFamily="49" charset="0"/>
              </a:rPr>
              <a:t>AA</a:t>
            </a:r>
            <a:r>
              <a:rPr lang="en-US" b="1" i="0" dirty="0">
                <a:solidFill>
                  <a:srgbClr val="FF4363"/>
                </a:solidFill>
                <a:effectLst/>
                <a:latin typeface="Courier New" panose="02070309020205020404" pitchFamily="49" charset="0"/>
              </a:rPr>
              <a:t>GGG</a:t>
            </a:r>
            <a:r>
              <a:rPr lang="en-US" b="1" i="0" dirty="0">
                <a:solidFill>
                  <a:srgbClr val="000000"/>
                </a:solidFill>
                <a:effectLst/>
                <a:latin typeface="Courier New" panose="02070309020205020404" pitchFamily="49" charset="0"/>
              </a:rPr>
              <a:t>ct</a:t>
            </a:r>
            <a:r>
              <a:rPr lang="en-US" b="1" i="0" dirty="0">
                <a:solidFill>
                  <a:srgbClr val="FF4363"/>
                </a:solidFill>
                <a:effectLst/>
                <a:latin typeface="Courier New" panose="02070309020205020404" pitchFamily="49" charset="0"/>
              </a:rPr>
              <a:t>GG</a:t>
            </a:r>
            <a:r>
              <a:rPr lang="en-US" b="0" i="0" dirty="0">
                <a:solidFill>
                  <a:srgbClr val="000000"/>
                </a:solidFill>
                <a:effectLst/>
                <a:latin typeface="Courier New" panose="02070309020205020404" pitchFamily="49" charset="0"/>
              </a:rPr>
              <a:t>gaccgcttggcgcacccaaattcagtgtgggcgagcgcaa" 7 "cggttttggcccttgttagaggcccccgt</a:t>
            </a:r>
            <a:r>
              <a:rPr lang="en-US" b="1" i="0" dirty="0">
                <a:solidFill>
                  <a:srgbClr val="A03881"/>
                </a:solidFill>
                <a:effectLst/>
                <a:latin typeface="Courier New" panose="02070309020205020404" pitchFamily="49" charset="0"/>
              </a:rPr>
              <a:t>A</a:t>
            </a:r>
            <a:r>
              <a:rPr lang="en-US" b="1" i="0" dirty="0">
                <a:solidFill>
                  <a:srgbClr val="000000"/>
                </a:solidFill>
                <a:effectLst/>
                <a:latin typeface="Courier New" panose="02070309020205020404" pitchFamily="49" charset="0"/>
              </a:rPr>
              <a:t>t</a:t>
            </a:r>
            <a:r>
              <a:rPr lang="en-US" b="1" i="0" dirty="0">
                <a:solidFill>
                  <a:srgbClr val="A03881"/>
                </a:solidFill>
                <a:effectLst/>
                <a:latin typeface="Courier New" panose="02070309020205020404" pitchFamily="49" charset="0"/>
              </a:rPr>
              <a:t>AAA</a:t>
            </a:r>
            <a:r>
              <a:rPr lang="en-US" b="1" i="0" dirty="0">
                <a:solidFill>
                  <a:srgbClr val="000000"/>
                </a:solidFill>
                <a:effectLst/>
                <a:latin typeface="Courier New" panose="02070309020205020404" pitchFamily="49" charset="0"/>
              </a:rPr>
              <a:t>c</a:t>
            </a:r>
            <a:r>
              <a:rPr lang="en-US" b="1" i="0" dirty="0">
                <a:solidFill>
                  <a:srgbClr val="A03881"/>
                </a:solidFill>
                <a:effectLst/>
                <a:latin typeface="Courier New" panose="02070309020205020404" pitchFamily="49" charset="0"/>
              </a:rPr>
              <a:t>AA</a:t>
            </a:r>
            <a:r>
              <a:rPr lang="en-US" b="1" i="0" dirty="0">
                <a:solidFill>
                  <a:srgbClr val="FF4363"/>
                </a:solidFill>
                <a:effectLst/>
                <a:latin typeface="Courier New" panose="02070309020205020404" pitchFamily="49" charset="0"/>
              </a:rPr>
              <a:t>GG</a:t>
            </a:r>
            <a:r>
              <a:rPr lang="en-US" b="1" i="0" dirty="0">
                <a:solidFill>
                  <a:srgbClr val="000000"/>
                </a:solidFill>
                <a:effectLst/>
                <a:latin typeface="Courier New" panose="02070309020205020404" pitchFamily="49" charset="0"/>
              </a:rPr>
              <a:t>a</a:t>
            </a:r>
            <a:r>
              <a:rPr lang="en-US" b="1" i="0" dirty="0">
                <a:solidFill>
                  <a:srgbClr val="FF4363"/>
                </a:solidFill>
                <a:effectLst/>
                <a:latin typeface="Courier New" panose="02070309020205020404" pitchFamily="49" charset="0"/>
              </a:rPr>
              <a:t>GGG</a:t>
            </a:r>
            <a:r>
              <a:rPr lang="en-US" b="0" i="0" dirty="0">
                <a:solidFill>
                  <a:srgbClr val="000000"/>
                </a:solidFill>
                <a:effectLst/>
                <a:latin typeface="Courier New" panose="02070309020205020404" pitchFamily="49" charset="0"/>
              </a:rPr>
              <a:t>ccaattatgagagagctaatctatcgcgtgcgtgttcat" 8 "aacttgagtt</a:t>
            </a:r>
            <a:r>
              <a:rPr lang="en-US" b="1" i="0" dirty="0">
                <a:solidFill>
                  <a:srgbClr val="A03881"/>
                </a:solidFill>
                <a:effectLst/>
                <a:latin typeface="Courier New" panose="02070309020205020404" pitchFamily="49" charset="0"/>
              </a:rPr>
              <a:t>AAAAAA</a:t>
            </a:r>
            <a:r>
              <a:rPr lang="en-US" b="1" i="0" dirty="0">
                <a:solidFill>
                  <a:srgbClr val="000000"/>
                </a:solidFill>
                <a:effectLst/>
                <a:latin typeface="Courier New" panose="02070309020205020404" pitchFamily="49" charset="0"/>
              </a:rPr>
              <a:t>t</a:t>
            </a:r>
            <a:r>
              <a:rPr lang="en-US" b="1" i="0" dirty="0">
                <a:solidFill>
                  <a:srgbClr val="A03881"/>
                </a:solidFill>
                <a:effectLst/>
                <a:latin typeface="Courier New" panose="02070309020205020404" pitchFamily="49" charset="0"/>
              </a:rPr>
              <a:t>A</a:t>
            </a:r>
            <a:r>
              <a:rPr lang="en-US" b="1" i="0" dirty="0">
                <a:solidFill>
                  <a:srgbClr val="FF4363"/>
                </a:solidFill>
                <a:effectLst/>
                <a:latin typeface="Courier New" panose="02070309020205020404" pitchFamily="49" charset="0"/>
              </a:rPr>
              <a:t>GGG</a:t>
            </a:r>
            <a:r>
              <a:rPr lang="en-US" b="1" i="0" dirty="0">
                <a:solidFill>
                  <a:srgbClr val="000000"/>
                </a:solidFill>
                <a:effectLst/>
                <a:latin typeface="Courier New" panose="02070309020205020404" pitchFamily="49" charset="0"/>
              </a:rPr>
              <a:t>a</a:t>
            </a:r>
            <a:r>
              <a:rPr lang="en-US" b="1" i="0" dirty="0">
                <a:solidFill>
                  <a:srgbClr val="FF4363"/>
                </a:solidFill>
                <a:effectLst/>
                <a:latin typeface="Courier New" panose="02070309020205020404" pitchFamily="49" charset="0"/>
              </a:rPr>
              <a:t>G</a:t>
            </a:r>
            <a:r>
              <a:rPr lang="en-US" b="1" i="0" dirty="0">
                <a:solidFill>
                  <a:srgbClr val="000000"/>
                </a:solidFill>
                <a:effectLst/>
                <a:latin typeface="Courier New" panose="02070309020205020404" pitchFamily="49" charset="0"/>
              </a:rPr>
              <a:t>cc</a:t>
            </a:r>
            <a:r>
              <a:rPr lang="en-US" b="0" i="0" dirty="0">
                <a:solidFill>
                  <a:srgbClr val="000000"/>
                </a:solidFill>
                <a:effectLst/>
                <a:latin typeface="Courier New" panose="02070309020205020404" pitchFamily="49" charset="0"/>
              </a:rPr>
              <a:t>ctggggcacatacaagaggagtcttccttatcagttaatgctgtatgacactatgta" 9 "ttggcccattggctaaaagcccaacttgacaaatggaagatagaatccttgcat</a:t>
            </a:r>
            <a:r>
              <a:rPr lang="en-US" b="1" i="0" dirty="0">
                <a:solidFill>
                  <a:srgbClr val="A03881"/>
                </a:solidFill>
                <a:effectLst/>
                <a:latin typeface="Courier New" panose="02070309020205020404" pitchFamily="49" charset="0"/>
              </a:rPr>
              <a:t>A</a:t>
            </a:r>
            <a:r>
              <a:rPr lang="en-US" b="1" i="0" dirty="0">
                <a:solidFill>
                  <a:srgbClr val="000000"/>
                </a:solidFill>
                <a:effectLst/>
                <a:latin typeface="Courier New" panose="02070309020205020404" pitchFamily="49" charset="0"/>
              </a:rPr>
              <a:t>ct</a:t>
            </a:r>
            <a:r>
              <a:rPr lang="en-US" b="1" i="0" dirty="0">
                <a:solidFill>
                  <a:srgbClr val="A03881"/>
                </a:solidFill>
                <a:effectLst/>
                <a:latin typeface="Courier New" panose="02070309020205020404" pitchFamily="49" charset="0"/>
              </a:rPr>
              <a:t>AAAAA</a:t>
            </a:r>
            <a:r>
              <a:rPr lang="en-US" b="1" i="0" dirty="0">
                <a:solidFill>
                  <a:srgbClr val="FF4363"/>
                </a:solidFill>
                <a:effectLst/>
                <a:latin typeface="Courier New" panose="02070309020205020404" pitchFamily="49" charset="0"/>
              </a:rPr>
              <a:t>GG</a:t>
            </a:r>
            <a:r>
              <a:rPr lang="en-US" b="1" i="0" dirty="0">
                <a:solidFill>
                  <a:srgbClr val="000000"/>
                </a:solidFill>
                <a:effectLst/>
                <a:latin typeface="Courier New" panose="02070309020205020404" pitchFamily="49" charset="0"/>
              </a:rPr>
              <a:t>a</a:t>
            </a:r>
            <a:r>
              <a:rPr lang="en-US" b="1" i="0" dirty="0">
                <a:solidFill>
                  <a:srgbClr val="FF4363"/>
                </a:solidFill>
                <a:effectLst/>
                <a:latin typeface="Courier New" panose="02070309020205020404" pitchFamily="49" charset="0"/>
              </a:rPr>
              <a:t>G</a:t>
            </a:r>
            <a:r>
              <a:rPr lang="en-US" b="1" i="0" dirty="0">
                <a:solidFill>
                  <a:srgbClr val="000000"/>
                </a:solidFill>
                <a:effectLst/>
                <a:latin typeface="Courier New" panose="02070309020205020404" pitchFamily="49" charset="0"/>
              </a:rPr>
              <a:t>c</a:t>
            </a:r>
            <a:r>
              <a:rPr lang="en-US" b="1" i="0" dirty="0">
                <a:solidFill>
                  <a:srgbClr val="FF4363"/>
                </a:solidFill>
                <a:effectLst/>
                <a:latin typeface="Courier New" panose="02070309020205020404" pitchFamily="49" charset="0"/>
              </a:rPr>
              <a:t>GG</a:t>
            </a:r>
            <a:r>
              <a:rPr lang="en-US" b="0" i="0" dirty="0">
                <a:solidFill>
                  <a:srgbClr val="000000"/>
                </a:solidFill>
                <a:effectLst/>
                <a:latin typeface="Courier New" panose="02070309020205020404" pitchFamily="49" charset="0"/>
              </a:rPr>
              <a:t>accgaaagggaag" 10"ctggtgagcaacgacagattcttacgtgcattagctcgcttccggggatctaatagcacgaagctt</a:t>
            </a:r>
            <a:r>
              <a:rPr lang="en-US" b="1" i="0" dirty="0">
                <a:solidFill>
                  <a:srgbClr val="A03881"/>
                </a:solidFill>
                <a:effectLst/>
                <a:latin typeface="Courier New" panose="02070309020205020404" pitchFamily="49" charset="0"/>
              </a:rPr>
              <a:t>A</a:t>
            </a:r>
            <a:r>
              <a:rPr lang="en-US" b="1" i="0" dirty="0">
                <a:solidFill>
                  <a:srgbClr val="000000"/>
                </a:solidFill>
                <a:effectLst/>
                <a:latin typeface="Courier New" panose="02070309020205020404" pitchFamily="49" charset="0"/>
              </a:rPr>
              <a:t>ct</a:t>
            </a:r>
            <a:r>
              <a:rPr lang="en-US" b="1" i="0" dirty="0">
                <a:solidFill>
                  <a:srgbClr val="A03881"/>
                </a:solidFill>
                <a:effectLst/>
                <a:latin typeface="Courier New" panose="02070309020205020404" pitchFamily="49" charset="0"/>
              </a:rPr>
              <a:t>AAAAA</a:t>
            </a:r>
            <a:r>
              <a:rPr lang="en-US" b="1" i="0" dirty="0">
                <a:solidFill>
                  <a:srgbClr val="FF4363"/>
                </a:solidFill>
                <a:effectLst/>
                <a:latin typeface="Courier New" panose="02070309020205020404" pitchFamily="49" charset="0"/>
              </a:rPr>
              <a:t>GG</a:t>
            </a:r>
            <a:r>
              <a:rPr lang="en-US" b="1" i="0" dirty="0">
                <a:solidFill>
                  <a:srgbClr val="000000"/>
                </a:solidFill>
                <a:effectLst/>
                <a:latin typeface="Courier New" panose="02070309020205020404" pitchFamily="49" charset="0"/>
              </a:rPr>
              <a:t>a</a:t>
            </a:r>
            <a:r>
              <a:rPr lang="en-US" b="1" i="0" dirty="0">
                <a:solidFill>
                  <a:srgbClr val="FF4363"/>
                </a:solidFill>
                <a:effectLst/>
                <a:latin typeface="Courier New" panose="02070309020205020404" pitchFamily="49" charset="0"/>
              </a:rPr>
              <a:t>G</a:t>
            </a:r>
            <a:r>
              <a:rPr lang="en-US" b="1" i="0" dirty="0">
                <a:solidFill>
                  <a:srgbClr val="000000"/>
                </a:solidFill>
                <a:effectLst/>
                <a:latin typeface="Courier New" panose="02070309020205020404" pitchFamily="49" charset="0"/>
              </a:rPr>
              <a:t>c</a:t>
            </a:r>
            <a:r>
              <a:rPr lang="en-US" b="1" i="0" dirty="0">
                <a:solidFill>
                  <a:srgbClr val="FF4363"/>
                </a:solidFill>
                <a:effectLst/>
                <a:latin typeface="Courier New" panose="02070309020205020404" pitchFamily="49" charset="0"/>
              </a:rPr>
              <a:t>GG</a:t>
            </a:r>
            <a:r>
              <a:rPr lang="en-US" b="0" i="0" dirty="0">
                <a:solidFill>
                  <a:srgbClr val="000000"/>
                </a:solidFill>
                <a:effectLst/>
                <a:latin typeface="Courier New" panose="02070309020205020404" pitchFamily="49" charset="0"/>
              </a:rPr>
              <a:t>a" </a:t>
            </a:r>
            <a:endParaRPr lang="en-US" dirty="0"/>
          </a:p>
        </p:txBody>
      </p:sp>
    </p:spTree>
    <p:extLst>
      <p:ext uri="{BB962C8B-B14F-4D97-AF65-F5344CB8AC3E}">
        <p14:creationId xmlns:p14="http://schemas.microsoft.com/office/powerpoint/2010/main" val="953239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F5562-D2AA-806D-EC98-CCAC2F661134}"/>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Hide and seek with motifs</a:t>
            </a:r>
            <a:endParaRPr lang="en-US" dirty="0"/>
          </a:p>
        </p:txBody>
      </p:sp>
      <p:sp>
        <p:nvSpPr>
          <p:cNvPr id="3" name="Content Placeholder 2">
            <a:extLst>
              <a:ext uri="{FF2B5EF4-FFF2-40B4-BE49-F238E27FC236}">
                <a16:creationId xmlns:a16="http://schemas.microsoft.com/office/drawing/2014/main" id="{19F5B1F6-D38E-FDE4-1B9E-4ADDEE663C49}"/>
              </a:ext>
            </a:extLst>
          </p:cNvPr>
          <p:cNvSpPr>
            <a:spLocks noGrp="1"/>
          </p:cNvSpPr>
          <p:nvPr>
            <p:ph idx="1"/>
          </p:nvPr>
        </p:nvSpPr>
        <p:spPr/>
        <p:txBody>
          <a:bodyPr/>
          <a:lstStyle/>
          <a:p>
            <a:r>
              <a:rPr lang="en-US" b="0" i="0" dirty="0">
                <a:solidFill>
                  <a:srgbClr val="000000"/>
                </a:solidFill>
                <a:effectLst/>
                <a:latin typeface="Raleway" pitchFamily="2" charset="0"/>
              </a:rPr>
              <a:t>Applying our solution to the Frequent Words Problem is no longer going to help us, since </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Raleway" pitchFamily="2" charset="0"/>
              </a:rPr>
              <a:t> does not even appear in the sequences above. Perhaps, then, we could apply our solution to the Frequent Words with Mismatches Problem. However, in Chapter 1, we implemented an algorithm for the Frequent Words with Mismatches Problem aimed at finding hidden messages with a small number of mismatches and a small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size (e.g., one or two mismatches for </a:t>
            </a:r>
            <a:r>
              <a:rPr lang="en-US" b="0" i="1" dirty="0" err="1">
                <a:solidFill>
                  <a:srgbClr val="000000"/>
                </a:solidFill>
                <a:effectLst/>
                <a:latin typeface="Raleway" pitchFamily="2" charset="0"/>
              </a:rPr>
              <a:t>DnaA</a:t>
            </a:r>
            <a:r>
              <a:rPr lang="en-US" b="0" i="0" dirty="0">
                <a:solidFill>
                  <a:srgbClr val="000000"/>
                </a:solidFill>
                <a:effectLst/>
                <a:latin typeface="Raleway" pitchFamily="2" charset="0"/>
              </a:rPr>
              <a:t> boxes of length 9). This algorithm is likely to become too slow when searching for the implanted motif above, which is longer and has more mutations.</a:t>
            </a:r>
            <a:endParaRPr lang="en-US" dirty="0"/>
          </a:p>
        </p:txBody>
      </p:sp>
    </p:spTree>
    <p:extLst>
      <p:ext uri="{BB962C8B-B14F-4D97-AF65-F5344CB8AC3E}">
        <p14:creationId xmlns:p14="http://schemas.microsoft.com/office/powerpoint/2010/main" val="3446769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FAAF-3CCF-D080-D35C-1020812DCE0A}"/>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Hide and seek with motifs</a:t>
            </a:r>
            <a:endParaRPr lang="en-US" dirty="0"/>
          </a:p>
        </p:txBody>
      </p:sp>
      <p:sp>
        <p:nvSpPr>
          <p:cNvPr id="3" name="Content Placeholder 2">
            <a:extLst>
              <a:ext uri="{FF2B5EF4-FFF2-40B4-BE49-F238E27FC236}">
                <a16:creationId xmlns:a16="http://schemas.microsoft.com/office/drawing/2014/main" id="{76C7C204-C504-A45C-F1FF-01E6DD9DEAC6}"/>
              </a:ext>
            </a:extLst>
          </p:cNvPr>
          <p:cNvSpPr>
            <a:spLocks noGrp="1"/>
          </p:cNvSpPr>
          <p:nvPr>
            <p:ph idx="1"/>
          </p:nvPr>
        </p:nvSpPr>
        <p:spPr/>
        <p:txBody>
          <a:bodyPr/>
          <a:lstStyle/>
          <a:p>
            <a:r>
              <a:rPr lang="en-US" b="0" i="0" dirty="0">
                <a:solidFill>
                  <a:srgbClr val="000000"/>
                </a:solidFill>
                <a:effectLst/>
                <a:latin typeface="Raleway" pitchFamily="2" charset="0"/>
              </a:rPr>
              <a:t>Furthermore, the Frequent Words Problem is inadequate because it does not correctly model the biological problem of motif finding. A </a:t>
            </a:r>
            <a:r>
              <a:rPr lang="en-US" b="0" i="1" dirty="0" err="1">
                <a:solidFill>
                  <a:srgbClr val="000000"/>
                </a:solidFill>
                <a:effectLst/>
                <a:latin typeface="Raleway" pitchFamily="2" charset="0"/>
              </a:rPr>
              <a:t>DnaA</a:t>
            </a:r>
            <a:r>
              <a:rPr lang="en-US" b="0" i="0" dirty="0">
                <a:solidFill>
                  <a:srgbClr val="000000"/>
                </a:solidFill>
                <a:effectLst/>
                <a:latin typeface="Raleway" pitchFamily="2" charset="0"/>
              </a:rPr>
              <a:t> box is a pattern that clumps, or appears frequently, within a relatively short interval of the genome. In contrast, a regulatory motif is a pattern that appears at least once (perhaps with variation) in each of many different regions that are scattered throughout the genome.</a:t>
            </a:r>
            <a:endParaRPr lang="en-US" dirty="0"/>
          </a:p>
        </p:txBody>
      </p:sp>
    </p:spTree>
    <p:extLst>
      <p:ext uri="{BB962C8B-B14F-4D97-AF65-F5344CB8AC3E}">
        <p14:creationId xmlns:p14="http://schemas.microsoft.com/office/powerpoint/2010/main" val="438538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77C55-4A67-76F0-C633-648CE91E52F9}"/>
              </a:ext>
            </a:extLst>
          </p:cNvPr>
          <p:cNvSpPr>
            <a:spLocks noGrp="1"/>
          </p:cNvSpPr>
          <p:nvPr>
            <p:ph type="title"/>
          </p:nvPr>
        </p:nvSpPr>
        <p:spPr/>
        <p:txBody>
          <a:bodyPr/>
          <a:lstStyle/>
          <a:p>
            <a:r>
              <a:rPr lang="en-US" dirty="0"/>
              <a:t>A brute force algorithm for motif finding</a:t>
            </a:r>
          </a:p>
        </p:txBody>
      </p:sp>
      <p:sp>
        <p:nvSpPr>
          <p:cNvPr id="3" name="Content Placeholder 2">
            <a:extLst>
              <a:ext uri="{FF2B5EF4-FFF2-40B4-BE49-F238E27FC236}">
                <a16:creationId xmlns:a16="http://schemas.microsoft.com/office/drawing/2014/main" id="{E28E8928-5BE0-CDCE-197F-4E584FD621CC}"/>
              </a:ext>
            </a:extLst>
          </p:cNvPr>
          <p:cNvSpPr>
            <a:spLocks noGrp="1"/>
          </p:cNvSpPr>
          <p:nvPr>
            <p:ph idx="1"/>
          </p:nvPr>
        </p:nvSpPr>
        <p:spPr/>
        <p:txBody>
          <a:bodyPr>
            <a:normAutofit fontScale="85000" lnSpcReduction="20000"/>
          </a:bodyPr>
          <a:lstStyle/>
          <a:p>
            <a:pPr algn="l">
              <a:buNone/>
            </a:pPr>
            <a:r>
              <a:rPr lang="en-US" b="0" i="0" dirty="0">
                <a:solidFill>
                  <a:srgbClr val="000000"/>
                </a:solidFill>
                <a:effectLst/>
                <a:latin typeface="Raleway" pitchFamily="2" charset="0"/>
              </a:rPr>
              <a:t>Given a collection of strings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and an integer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 a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is a </a:t>
            </a:r>
            <a:r>
              <a:rPr lang="en-US" b="1" i="0" dirty="0">
                <a:solidFill>
                  <a:srgbClr val="000000"/>
                </a:solidFill>
                <a:effectLst/>
                <a:latin typeface="Raleway" pitchFamily="2" charset="0"/>
              </a:rPr>
              <a:t>(</a:t>
            </a:r>
            <a:r>
              <a:rPr lang="en-US" b="1" i="1" dirty="0" err="1">
                <a:solidFill>
                  <a:srgbClr val="000000"/>
                </a:solidFill>
                <a:effectLst/>
                <a:latin typeface="Raleway" pitchFamily="2" charset="0"/>
              </a:rPr>
              <a:t>k</a:t>
            </a:r>
            <a:r>
              <a:rPr lang="en-US" b="1" i="0" dirty="0" err="1">
                <a:solidFill>
                  <a:srgbClr val="000000"/>
                </a:solidFill>
                <a:effectLst/>
                <a:latin typeface="Raleway" pitchFamily="2" charset="0"/>
              </a:rPr>
              <a:t>,</a:t>
            </a:r>
            <a:r>
              <a:rPr lang="en-US" b="1" i="1" dirty="0" err="1">
                <a:solidFill>
                  <a:srgbClr val="000000"/>
                </a:solidFill>
                <a:effectLst/>
                <a:latin typeface="Raleway" pitchFamily="2" charset="0"/>
              </a:rPr>
              <a:t>d</a:t>
            </a:r>
            <a:r>
              <a:rPr lang="en-US" b="1" i="0" dirty="0">
                <a:solidFill>
                  <a:srgbClr val="000000"/>
                </a:solidFill>
                <a:effectLst/>
                <a:latin typeface="Raleway" pitchFamily="2" charset="0"/>
              </a:rPr>
              <a:t>)-motif</a:t>
            </a:r>
            <a:r>
              <a:rPr lang="en-US" b="0" i="0" dirty="0">
                <a:solidFill>
                  <a:srgbClr val="000000"/>
                </a:solidFill>
                <a:effectLst/>
                <a:latin typeface="Raleway" pitchFamily="2" charset="0"/>
              </a:rPr>
              <a:t> if it appears in every string from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with at most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 mismatches. For example, the implanted 15-mer in the strings above represents a (15,4)-motif.</a:t>
            </a:r>
          </a:p>
          <a:p>
            <a:pPr algn="l">
              <a:buNone/>
            </a:pPr>
            <a:r>
              <a:rPr lang="en-US" b="1" i="0" dirty="0">
                <a:solidFill>
                  <a:srgbClr val="000000"/>
                </a:solidFill>
                <a:effectLst/>
                <a:latin typeface="Raleway" pitchFamily="2" charset="0"/>
              </a:rPr>
              <a:t>Implanted Motif Problem:</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Find all </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k, d</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 in a collection of strings.</a:t>
            </a:r>
            <a:endParaRPr lang="en-US" b="0" i="0" dirty="0">
              <a:solidFill>
                <a:srgbClr val="000000"/>
              </a:solidFill>
              <a:effectLst/>
              <a:latin typeface="Raleway" pitchFamily="2" charset="0"/>
            </a:endParaRPr>
          </a:p>
          <a:p>
            <a:pPr algn="l">
              <a:buFont typeface="Arial" panose="020B0604020202020204" pitchFamily="34" charset="0"/>
              <a:buChar char="•"/>
            </a:pPr>
            <a:r>
              <a:rPr lang="en-US" b="1" i="0" dirty="0">
                <a:solidFill>
                  <a:srgbClr val="000000"/>
                </a:solidFill>
                <a:effectLst/>
                <a:latin typeface="Raleway" pitchFamily="2" charset="0"/>
              </a:rPr>
              <a:t>Input:</a:t>
            </a:r>
            <a:r>
              <a:rPr lang="en-US" b="0" i="0" dirty="0">
                <a:solidFill>
                  <a:srgbClr val="000000"/>
                </a:solidFill>
                <a:effectLst/>
                <a:latin typeface="Raleway" pitchFamily="2" charset="0"/>
              </a:rPr>
              <a:t> A collection of strings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and integers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and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a:t>
            </a:r>
          </a:p>
          <a:p>
            <a:pPr algn="l">
              <a:buFont typeface="Arial" panose="020B0604020202020204" pitchFamily="34" charset="0"/>
              <a:buChar char="•"/>
            </a:pPr>
            <a:r>
              <a:rPr lang="en-US" b="1" i="0" dirty="0">
                <a:solidFill>
                  <a:srgbClr val="000000"/>
                </a:solidFill>
                <a:effectLst/>
                <a:latin typeface="Raleway" pitchFamily="2" charset="0"/>
              </a:rPr>
              <a:t>Output:</a:t>
            </a:r>
            <a:r>
              <a:rPr lang="en-US" b="0" i="0" dirty="0">
                <a:solidFill>
                  <a:srgbClr val="000000"/>
                </a:solidFill>
                <a:effectLst/>
                <a:latin typeface="Raleway" pitchFamily="2" charset="0"/>
              </a:rPr>
              <a:t> All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)-motifs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a:t>
            </a:r>
          </a:p>
          <a:p>
            <a:pPr algn="l">
              <a:buNone/>
            </a:pPr>
            <a:r>
              <a:rPr lang="en-US" b="1" i="0" dirty="0">
                <a:solidFill>
                  <a:srgbClr val="000000"/>
                </a:solidFill>
                <a:effectLst/>
                <a:latin typeface="Raleway" pitchFamily="2" charset="0"/>
              </a:rPr>
              <a:t>Brute force</a:t>
            </a:r>
            <a:r>
              <a:rPr lang="en-US" b="0" i="0" dirty="0">
                <a:solidFill>
                  <a:srgbClr val="000000"/>
                </a:solidFill>
                <a:effectLst/>
                <a:latin typeface="Raleway" pitchFamily="2" charset="0"/>
              </a:rPr>
              <a:t> (also known as </a:t>
            </a:r>
            <a:r>
              <a:rPr lang="en-US" b="1" i="0" dirty="0">
                <a:solidFill>
                  <a:srgbClr val="000000"/>
                </a:solidFill>
                <a:effectLst/>
                <a:latin typeface="Raleway" pitchFamily="2" charset="0"/>
              </a:rPr>
              <a:t>exhaustive search</a:t>
            </a:r>
            <a:r>
              <a:rPr lang="en-US" b="0" i="0" dirty="0">
                <a:solidFill>
                  <a:srgbClr val="000000"/>
                </a:solidFill>
                <a:effectLst/>
                <a:latin typeface="Raleway" pitchFamily="2" charset="0"/>
              </a:rPr>
              <a:t>) is a general problem-solving technique that explores all possible solution candidates and checks whether each candidate solves the problem. Such algorithms require little effort to design and are guaranteed to produce a correct solution, but they may take an enormous amount of time, and the number of candidates may be too large to check.</a:t>
            </a:r>
          </a:p>
          <a:p>
            <a:endParaRPr lang="en-US" dirty="0"/>
          </a:p>
        </p:txBody>
      </p:sp>
    </p:spTree>
    <p:extLst>
      <p:ext uri="{BB962C8B-B14F-4D97-AF65-F5344CB8AC3E}">
        <p14:creationId xmlns:p14="http://schemas.microsoft.com/office/powerpoint/2010/main" val="1081984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679ED-1725-0013-1705-B633DF0C3566}"/>
              </a:ext>
            </a:extLst>
          </p:cNvPr>
          <p:cNvSpPr>
            <a:spLocks noGrp="1"/>
          </p:cNvSpPr>
          <p:nvPr>
            <p:ph type="title"/>
          </p:nvPr>
        </p:nvSpPr>
        <p:spPr/>
        <p:txBody>
          <a:bodyPr/>
          <a:lstStyle/>
          <a:p>
            <a:r>
              <a:rPr lang="en-US" dirty="0"/>
              <a:t>A brute force algorithm for motif finding</a:t>
            </a:r>
          </a:p>
        </p:txBody>
      </p:sp>
      <p:sp>
        <p:nvSpPr>
          <p:cNvPr id="3" name="Content Placeholder 2">
            <a:extLst>
              <a:ext uri="{FF2B5EF4-FFF2-40B4-BE49-F238E27FC236}">
                <a16:creationId xmlns:a16="http://schemas.microsoft.com/office/drawing/2014/main" id="{38494DB7-5FB6-6F38-0A47-B0D0379EF49D}"/>
              </a:ext>
            </a:extLst>
          </p:cNvPr>
          <p:cNvSpPr>
            <a:spLocks noGrp="1"/>
          </p:cNvSpPr>
          <p:nvPr>
            <p:ph idx="1"/>
          </p:nvPr>
        </p:nvSpPr>
        <p:spPr/>
        <p:txBody>
          <a:bodyPr>
            <a:normAutofit fontScale="62500" lnSpcReduction="20000"/>
          </a:bodyPr>
          <a:lstStyle/>
          <a:p>
            <a:r>
              <a:rPr lang="en-US" b="0" i="0" dirty="0">
                <a:solidFill>
                  <a:srgbClr val="000000"/>
                </a:solidFill>
                <a:effectLst/>
                <a:latin typeface="Raleway" pitchFamily="2" charset="0"/>
              </a:rPr>
              <a:t>A brute force approach for solving the Implanted Motif Problem is based on the observation that any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)-motif must be at most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 mismatches apart from some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appearing in the first string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Therefore, we can generate all such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and then check which of them are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)-motifs.</a:t>
            </a:r>
            <a:endParaRPr lang="fa-IR" b="0" i="0" dirty="0">
              <a:solidFill>
                <a:srgbClr val="000000"/>
              </a:solidFill>
              <a:effectLst/>
              <a:latin typeface="Raleway" pitchFamily="2" charset="0"/>
            </a:endParaRPr>
          </a:p>
          <a:p>
            <a:r>
              <a:rPr lang="en-US" dirty="0" err="1"/>
              <a:t>MotifEnumeration</a:t>
            </a:r>
            <a:r>
              <a:rPr lang="en-US" dirty="0"/>
              <a:t>(</a:t>
            </a:r>
            <a:r>
              <a:rPr lang="en-US" dirty="0" err="1"/>
              <a:t>Dna</a:t>
            </a:r>
            <a:r>
              <a:rPr lang="en-US" dirty="0"/>
              <a:t>, k, d)</a:t>
            </a:r>
          </a:p>
          <a:p>
            <a:r>
              <a:rPr lang="en-US" dirty="0"/>
              <a:t>    Patterns ← an empty set</a:t>
            </a:r>
          </a:p>
          <a:p>
            <a:r>
              <a:rPr lang="en-US" dirty="0"/>
              <a:t>    for each k-</a:t>
            </a:r>
            <a:r>
              <a:rPr lang="en-US" dirty="0" err="1"/>
              <a:t>mer</a:t>
            </a:r>
            <a:r>
              <a:rPr lang="en-US" dirty="0"/>
              <a:t> Pattern in the first string in </a:t>
            </a:r>
            <a:r>
              <a:rPr lang="en-US" dirty="0" err="1"/>
              <a:t>Dna</a:t>
            </a:r>
            <a:endParaRPr lang="en-US" dirty="0"/>
          </a:p>
          <a:p>
            <a:r>
              <a:rPr lang="en-US" dirty="0"/>
              <a:t>        for each k-</a:t>
            </a:r>
            <a:r>
              <a:rPr lang="en-US" dirty="0" err="1"/>
              <a:t>mer</a:t>
            </a:r>
            <a:r>
              <a:rPr lang="en-US" dirty="0"/>
              <a:t> Pattern’ differing from Pattern by at most d mismatches</a:t>
            </a:r>
          </a:p>
          <a:p>
            <a:r>
              <a:rPr lang="en-US" dirty="0"/>
              <a:t>            if Pattern' appears in each string from </a:t>
            </a:r>
            <a:r>
              <a:rPr lang="en-US" dirty="0" err="1"/>
              <a:t>Dna</a:t>
            </a:r>
            <a:r>
              <a:rPr lang="en-US" dirty="0"/>
              <a:t> with at most d mismatches</a:t>
            </a:r>
          </a:p>
          <a:p>
            <a:r>
              <a:rPr lang="en-US" dirty="0"/>
              <a:t>                add Pattern' to Patterns</a:t>
            </a:r>
          </a:p>
          <a:p>
            <a:r>
              <a:rPr lang="en-US" dirty="0"/>
              <a:t>    remove duplicates from Patterns</a:t>
            </a:r>
          </a:p>
          <a:p>
            <a:r>
              <a:rPr lang="en-US" dirty="0"/>
              <a:t>    return Patterns</a:t>
            </a:r>
          </a:p>
        </p:txBody>
      </p:sp>
    </p:spTree>
    <p:extLst>
      <p:ext uri="{BB962C8B-B14F-4D97-AF65-F5344CB8AC3E}">
        <p14:creationId xmlns:p14="http://schemas.microsoft.com/office/powerpoint/2010/main" val="3641798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AD19E-C6F8-B6F2-8158-C43BEC002741}"/>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A brute force algorithm for motif finding</a:t>
            </a:r>
            <a:endParaRPr lang="en-US" dirty="0"/>
          </a:p>
        </p:txBody>
      </p:sp>
      <p:sp>
        <p:nvSpPr>
          <p:cNvPr id="3" name="Content Placeholder 2">
            <a:extLst>
              <a:ext uri="{FF2B5EF4-FFF2-40B4-BE49-F238E27FC236}">
                <a16:creationId xmlns:a16="http://schemas.microsoft.com/office/drawing/2014/main" id="{A7C533E2-9CCB-52C5-566D-1C3400DF8102}"/>
              </a:ext>
            </a:extLst>
          </p:cNvPr>
          <p:cNvSpPr>
            <a:spLocks noGrp="1"/>
          </p:cNvSpPr>
          <p:nvPr>
            <p:ph idx="1"/>
          </p:nvPr>
        </p:nvSpPr>
        <p:spPr/>
        <p:txBody>
          <a:bodyPr>
            <a:normAutofit lnSpcReduction="10000"/>
          </a:bodyPr>
          <a:lstStyle/>
          <a:p>
            <a:pPr algn="l">
              <a:buNone/>
            </a:pPr>
            <a:r>
              <a:rPr lang="en-US" b="1" i="0" dirty="0">
                <a:solidFill>
                  <a:srgbClr val="FF4363"/>
                </a:solidFill>
                <a:effectLst/>
                <a:latin typeface="Raleway" pitchFamily="2" charset="0"/>
              </a:rPr>
              <a:t>STOP and Think:</a:t>
            </a:r>
            <a:r>
              <a:rPr lang="en-US" b="0" i="0" dirty="0">
                <a:solidFill>
                  <a:srgbClr val="000000"/>
                </a:solidFill>
                <a:effectLst/>
                <a:latin typeface="Raleway" pitchFamily="2" charset="0"/>
              </a:rPr>
              <a:t> Estimate the running time of </a:t>
            </a:r>
            <a:r>
              <a:rPr lang="en-US" b="1" i="0" dirty="0" err="1">
                <a:solidFill>
                  <a:srgbClr val="000000"/>
                </a:solidFill>
                <a:effectLst/>
                <a:latin typeface="Raleway" pitchFamily="2" charset="0"/>
              </a:rPr>
              <a:t>MotifEnumeration</a:t>
            </a:r>
            <a:r>
              <a:rPr lang="en-US" b="0" i="0" dirty="0">
                <a:solidFill>
                  <a:srgbClr val="000000"/>
                </a:solidFill>
                <a:effectLst/>
                <a:latin typeface="Raleway" pitchFamily="2" charset="0"/>
              </a:rPr>
              <a:t>.</a:t>
            </a:r>
          </a:p>
          <a:p>
            <a:pPr algn="l">
              <a:buNone/>
            </a:pPr>
            <a:r>
              <a:rPr lang="en-US" b="1" i="0" dirty="0" err="1">
                <a:solidFill>
                  <a:srgbClr val="000000"/>
                </a:solidFill>
                <a:effectLst/>
                <a:latin typeface="Raleway" pitchFamily="2" charset="0"/>
              </a:rPr>
              <a:t>MotifEnumeration</a:t>
            </a:r>
            <a:r>
              <a:rPr lang="en-US" b="0" i="0" dirty="0">
                <a:solidFill>
                  <a:srgbClr val="000000"/>
                </a:solidFill>
                <a:effectLst/>
                <a:latin typeface="Raleway" pitchFamily="2" charset="0"/>
              </a:rPr>
              <a:t> is unfortunately rather slow for large values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and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 and so we will try a different approach instead. Maybe we can detect an implanted pattern simply by identifying the two most similar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between each pair of strings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However, consider the implanted 15-mers </a:t>
            </a:r>
            <a:r>
              <a:rPr lang="en-US" b="1" i="0" dirty="0" err="1">
                <a:solidFill>
                  <a:srgbClr val="A03881"/>
                </a:solidFill>
                <a:effectLst/>
                <a:latin typeface="Courier New" panose="02070309020205020404" pitchFamily="49" charset="0"/>
              </a:rPr>
              <a:t>A</a:t>
            </a:r>
            <a:r>
              <a:rPr lang="en-US" b="1" i="0" dirty="0" err="1">
                <a:solidFill>
                  <a:srgbClr val="000000"/>
                </a:solidFill>
                <a:effectLst/>
                <a:latin typeface="Courier New" panose="02070309020205020404" pitchFamily="49" charset="0"/>
              </a:rPr>
              <a:t>g</a:t>
            </a:r>
            <a:r>
              <a:rPr lang="en-US" b="1" i="0" dirty="0" err="1">
                <a:solidFill>
                  <a:srgbClr val="A03881"/>
                </a:solidFill>
                <a:effectLst/>
                <a:latin typeface="Courier New" panose="02070309020205020404" pitchFamily="49" charset="0"/>
              </a:rPr>
              <a:t>AA</a:t>
            </a:r>
            <a:r>
              <a:rPr lang="en-US" b="1" i="0" dirty="0" err="1">
                <a:solidFill>
                  <a:srgbClr val="000000"/>
                </a:solidFill>
                <a:effectLst/>
                <a:latin typeface="Courier New" panose="02070309020205020404" pitchFamily="49" charset="0"/>
              </a:rPr>
              <a:t>g</a:t>
            </a:r>
            <a:r>
              <a:rPr lang="en-US" b="1" i="0" dirty="0" err="1">
                <a:solidFill>
                  <a:srgbClr val="A03881"/>
                </a:solidFill>
                <a:effectLst/>
                <a:latin typeface="Courier New" panose="02070309020205020404" pitchFamily="49" charset="0"/>
              </a:rPr>
              <a:t>AAA</a:t>
            </a:r>
            <a:r>
              <a:rPr lang="en-US" b="1" i="0" dirty="0" err="1">
                <a:solidFill>
                  <a:srgbClr val="FF4363"/>
                </a:solidFill>
                <a:effectLst/>
                <a:latin typeface="Courier New" panose="02070309020205020404" pitchFamily="49" charset="0"/>
              </a:rPr>
              <a:t>GG</a:t>
            </a:r>
            <a:r>
              <a:rPr lang="en-US" b="1" i="0" dirty="0" err="1">
                <a:solidFill>
                  <a:srgbClr val="000000"/>
                </a:solidFill>
                <a:effectLst/>
                <a:latin typeface="Courier New" panose="02070309020205020404" pitchFamily="49" charset="0"/>
              </a:rPr>
              <a:t>tt</a:t>
            </a:r>
            <a:r>
              <a:rPr lang="en-US" b="1" i="0" dirty="0" err="1">
                <a:solidFill>
                  <a:srgbClr val="FF4363"/>
                </a:solidFill>
                <a:effectLst/>
                <a:latin typeface="Courier New" panose="02070309020205020404" pitchFamily="49" charset="0"/>
              </a:rPr>
              <a:t>GGG</a:t>
            </a:r>
            <a:r>
              <a:rPr lang="en-US" b="0" i="0" dirty="0">
                <a:solidFill>
                  <a:srgbClr val="000000"/>
                </a:solidFill>
                <a:effectLst/>
                <a:latin typeface="Raleway" pitchFamily="2" charset="0"/>
              </a:rPr>
              <a:t> and </a:t>
            </a:r>
            <a:r>
              <a:rPr lang="en-US" b="1" i="0" dirty="0" err="1">
                <a:solidFill>
                  <a:srgbClr val="000000"/>
                </a:solidFill>
                <a:effectLst/>
                <a:latin typeface="Courier New" panose="02070309020205020404" pitchFamily="49" charset="0"/>
              </a:rPr>
              <a:t>c</a:t>
            </a:r>
            <a:r>
              <a:rPr lang="en-US" b="1" i="0" dirty="0" err="1">
                <a:solidFill>
                  <a:srgbClr val="A03881"/>
                </a:solidFill>
                <a:effectLst/>
                <a:latin typeface="Courier New" panose="02070309020205020404" pitchFamily="49" charset="0"/>
              </a:rPr>
              <a:t>AA</a:t>
            </a:r>
            <a:r>
              <a:rPr lang="en-US" b="1" i="0" dirty="0" err="1">
                <a:solidFill>
                  <a:srgbClr val="000000"/>
                </a:solidFill>
                <a:effectLst/>
                <a:latin typeface="Courier New" panose="02070309020205020404" pitchFamily="49" charset="0"/>
              </a:rPr>
              <a:t>t</a:t>
            </a:r>
            <a:r>
              <a:rPr lang="en-US" b="1" i="0" dirty="0" err="1">
                <a:solidFill>
                  <a:srgbClr val="A03881"/>
                </a:solidFill>
                <a:effectLst/>
                <a:latin typeface="Courier New" panose="02070309020205020404" pitchFamily="49" charset="0"/>
              </a:rPr>
              <a:t>AAAA</a:t>
            </a:r>
            <a:r>
              <a:rPr lang="en-US" b="1" i="0" dirty="0" err="1">
                <a:solidFill>
                  <a:srgbClr val="000000"/>
                </a:solidFill>
                <a:effectLst/>
                <a:latin typeface="Courier New" panose="02070309020205020404" pitchFamily="49" charset="0"/>
              </a:rPr>
              <a:t>c</a:t>
            </a:r>
            <a:r>
              <a:rPr lang="en-US" b="1" i="0" dirty="0" err="1">
                <a:solidFill>
                  <a:srgbClr val="FF4363"/>
                </a:solidFill>
                <a:effectLst/>
                <a:latin typeface="Courier New" panose="02070309020205020404" pitchFamily="49" charset="0"/>
              </a:rPr>
              <a:t>GGGG</a:t>
            </a:r>
            <a:r>
              <a:rPr lang="en-US" b="1" i="0" dirty="0" err="1">
                <a:solidFill>
                  <a:srgbClr val="000000"/>
                </a:solidFill>
                <a:effectLst/>
                <a:latin typeface="Courier New" panose="02070309020205020404" pitchFamily="49" charset="0"/>
              </a:rPr>
              <a:t>c</a:t>
            </a:r>
            <a:r>
              <a:rPr lang="en-US" b="1" i="0" dirty="0" err="1">
                <a:solidFill>
                  <a:srgbClr val="FF4363"/>
                </a:solidFill>
                <a:effectLst/>
                <a:latin typeface="Courier New" panose="02070309020205020404" pitchFamily="49" charset="0"/>
              </a:rPr>
              <a:t>G</a:t>
            </a:r>
            <a:r>
              <a:rPr lang="en-US" b="0" i="0" dirty="0">
                <a:solidFill>
                  <a:srgbClr val="000000"/>
                </a:solidFill>
                <a:effectLst/>
                <a:latin typeface="Raleway" pitchFamily="2" charset="0"/>
              </a:rPr>
              <a:t>, each of which differs from </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Raleway" pitchFamily="2" charset="0"/>
              </a:rPr>
              <a:t> by four mismatches. Although these 15-mers look similar to the correct motif </a:t>
            </a:r>
            <a:r>
              <a:rPr lang="en-US" b="1" i="0" dirty="0">
                <a:solidFill>
                  <a:srgbClr val="A03881"/>
                </a:solidFill>
                <a:effectLst/>
                <a:latin typeface="Courier New" panose="02070309020205020404" pitchFamily="49" charset="0"/>
              </a:rPr>
              <a:t>AAAAAAAA</a:t>
            </a:r>
            <a:r>
              <a:rPr lang="en-US" b="1" i="0" dirty="0">
                <a:solidFill>
                  <a:srgbClr val="FF4363"/>
                </a:solidFill>
                <a:effectLst/>
                <a:latin typeface="Courier New" panose="02070309020205020404" pitchFamily="49" charset="0"/>
              </a:rPr>
              <a:t>GGGGGGG</a:t>
            </a:r>
            <a:r>
              <a:rPr lang="en-US" b="0" i="0" dirty="0">
                <a:solidFill>
                  <a:srgbClr val="000000"/>
                </a:solidFill>
                <a:effectLst/>
                <a:latin typeface="Raleway" pitchFamily="2" charset="0"/>
              </a:rPr>
              <a:t>, they are not so similar when compared to each other, having eight mismatches:</a:t>
            </a:r>
          </a:p>
          <a:p>
            <a:endParaRPr lang="en-US" dirty="0"/>
          </a:p>
        </p:txBody>
      </p:sp>
    </p:spTree>
    <p:extLst>
      <p:ext uri="{BB962C8B-B14F-4D97-AF65-F5344CB8AC3E}">
        <p14:creationId xmlns:p14="http://schemas.microsoft.com/office/powerpoint/2010/main" val="1077622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56375-BC67-AFF8-AADF-B8DA8612FD82}"/>
              </a:ext>
            </a:extLst>
          </p:cNvPr>
          <p:cNvSpPr>
            <a:spLocks noGrp="1"/>
          </p:cNvSpPr>
          <p:nvPr>
            <p:ph type="title"/>
          </p:nvPr>
        </p:nvSpPr>
        <p:spPr/>
        <p:txBody>
          <a:bodyPr/>
          <a:lstStyle/>
          <a:p>
            <a:r>
              <a:rPr lang="en-US" dirty="0"/>
              <a:t>A brute force algorithm for motif finding</a:t>
            </a:r>
          </a:p>
        </p:txBody>
      </p:sp>
      <p:sp>
        <p:nvSpPr>
          <p:cNvPr id="3" name="Content Placeholder 2">
            <a:extLst>
              <a:ext uri="{FF2B5EF4-FFF2-40B4-BE49-F238E27FC236}">
                <a16:creationId xmlns:a16="http://schemas.microsoft.com/office/drawing/2014/main" id="{36B4364B-DF3A-6B57-C6AA-1B9CD95A54F4}"/>
              </a:ext>
            </a:extLst>
          </p:cNvPr>
          <p:cNvSpPr>
            <a:spLocks noGrp="1"/>
          </p:cNvSpPr>
          <p:nvPr>
            <p:ph idx="1"/>
          </p:nvPr>
        </p:nvSpPr>
        <p:spPr/>
        <p:txBody>
          <a:bodyPr/>
          <a:lstStyle/>
          <a:p>
            <a:r>
              <a:rPr lang="en-US" b="1" i="0" dirty="0" err="1">
                <a:solidFill>
                  <a:srgbClr val="A03881"/>
                </a:solidFill>
                <a:effectLst/>
                <a:latin typeface="Courier New" panose="02070309020205020404" pitchFamily="49" charset="0"/>
              </a:rPr>
              <a:t>A</a:t>
            </a:r>
            <a:r>
              <a:rPr lang="en-US" b="1" i="0" dirty="0" err="1">
                <a:solidFill>
                  <a:srgbClr val="000000"/>
                </a:solidFill>
                <a:effectLst/>
                <a:latin typeface="Courier New" panose="02070309020205020404" pitchFamily="49" charset="0"/>
              </a:rPr>
              <a:t>g</a:t>
            </a:r>
            <a:r>
              <a:rPr lang="en-US" b="1" i="0" dirty="0" err="1">
                <a:solidFill>
                  <a:srgbClr val="A03881"/>
                </a:solidFill>
                <a:effectLst/>
                <a:latin typeface="Courier New" panose="02070309020205020404" pitchFamily="49" charset="0"/>
              </a:rPr>
              <a:t>AA</a:t>
            </a:r>
            <a:r>
              <a:rPr lang="en-US" b="1" i="0" dirty="0" err="1">
                <a:solidFill>
                  <a:srgbClr val="000000"/>
                </a:solidFill>
                <a:effectLst/>
                <a:latin typeface="Courier New" panose="02070309020205020404" pitchFamily="49" charset="0"/>
              </a:rPr>
              <a:t>g</a:t>
            </a:r>
            <a:r>
              <a:rPr lang="en-US" b="1" i="0" dirty="0" err="1">
                <a:solidFill>
                  <a:srgbClr val="A03881"/>
                </a:solidFill>
                <a:effectLst/>
                <a:latin typeface="Courier New" panose="02070309020205020404" pitchFamily="49" charset="0"/>
              </a:rPr>
              <a:t>AAA</a:t>
            </a:r>
            <a:r>
              <a:rPr lang="en-US" b="1" i="0" dirty="0" err="1">
                <a:solidFill>
                  <a:srgbClr val="FF4363"/>
                </a:solidFill>
                <a:effectLst/>
                <a:latin typeface="Courier New" panose="02070309020205020404" pitchFamily="49" charset="0"/>
              </a:rPr>
              <a:t>GG</a:t>
            </a:r>
            <a:r>
              <a:rPr lang="en-US" b="1" i="0" dirty="0" err="1">
                <a:solidFill>
                  <a:srgbClr val="000000"/>
                </a:solidFill>
                <a:effectLst/>
                <a:latin typeface="Courier New" panose="02070309020205020404" pitchFamily="49" charset="0"/>
              </a:rPr>
              <a:t>tt</a:t>
            </a:r>
            <a:r>
              <a:rPr lang="en-US" b="1" i="0" dirty="0" err="1">
                <a:solidFill>
                  <a:srgbClr val="FF4363"/>
                </a:solidFill>
                <a:effectLst/>
                <a:latin typeface="Courier New" panose="02070309020205020404" pitchFamily="49" charset="0"/>
              </a:rPr>
              <a:t>GGG</a:t>
            </a:r>
            <a:r>
              <a:rPr lang="en-US" b="0" i="0" dirty="0">
                <a:solidFill>
                  <a:srgbClr val="000000"/>
                </a:solidFill>
                <a:effectLst/>
                <a:latin typeface="Courier New" panose="02070309020205020404" pitchFamily="49" charset="0"/>
              </a:rPr>
              <a:t> </a:t>
            </a:r>
            <a:endParaRPr lang="fa-IR" b="0" i="0" dirty="0">
              <a:solidFill>
                <a:srgbClr val="000000"/>
              </a:solidFill>
              <a:effectLst/>
              <a:latin typeface="Courier New" panose="02070309020205020404" pitchFamily="49" charset="0"/>
            </a:endParaRPr>
          </a:p>
          <a:p>
            <a:r>
              <a:rPr lang="en-US" b="0" i="0" dirty="0">
                <a:solidFill>
                  <a:srgbClr val="000000"/>
                </a:solidFill>
                <a:effectLst/>
                <a:latin typeface="Courier New" panose="02070309020205020404" pitchFamily="49" charset="0"/>
              </a:rPr>
              <a:t>||</a:t>
            </a:r>
            <a:r>
              <a:rPr lang="fa-IR" b="0" i="0" dirty="0">
                <a:solidFill>
                  <a:srgbClr val="000000"/>
                </a:solidFill>
                <a:effectLst/>
                <a:latin typeface="Courier New" panose="02070309020205020404" pitchFamily="49" charset="0"/>
              </a:rPr>
              <a:t>  </a:t>
            </a:r>
            <a:r>
              <a:rPr lang="en-US" b="0" i="0" dirty="0">
                <a:solidFill>
                  <a:srgbClr val="000000"/>
                </a:solidFill>
                <a:effectLst/>
                <a:latin typeface="Courier New" panose="02070309020205020404" pitchFamily="49" charset="0"/>
              </a:rPr>
              <a:t>|| </a:t>
            </a:r>
            <a:r>
              <a:rPr lang="fa-IR" b="0" i="0" dirty="0">
                <a:solidFill>
                  <a:srgbClr val="000000"/>
                </a:solidFill>
                <a:effectLst/>
                <a:latin typeface="Courier New" panose="02070309020205020404" pitchFamily="49" charset="0"/>
              </a:rPr>
              <a:t>     </a:t>
            </a:r>
            <a:r>
              <a:rPr lang="en-US" b="0" i="0" dirty="0">
                <a:solidFill>
                  <a:srgbClr val="000000"/>
                </a:solidFill>
                <a:effectLst/>
                <a:latin typeface="Courier New" panose="02070309020205020404" pitchFamily="49" charset="0"/>
              </a:rPr>
              <a:t>| || | </a:t>
            </a:r>
            <a:endParaRPr lang="fa-IR" b="0" i="0" dirty="0">
              <a:solidFill>
                <a:srgbClr val="000000"/>
              </a:solidFill>
              <a:effectLst/>
              <a:latin typeface="Courier New" panose="02070309020205020404" pitchFamily="49" charset="0"/>
            </a:endParaRPr>
          </a:p>
          <a:p>
            <a:r>
              <a:rPr lang="en-US" b="1" i="0" dirty="0" err="1">
                <a:solidFill>
                  <a:srgbClr val="000000"/>
                </a:solidFill>
                <a:effectLst/>
                <a:latin typeface="Courier New" panose="02070309020205020404" pitchFamily="49" charset="0"/>
              </a:rPr>
              <a:t>c</a:t>
            </a:r>
            <a:r>
              <a:rPr lang="en-US" b="1" i="0" dirty="0" err="1">
                <a:solidFill>
                  <a:srgbClr val="A03881"/>
                </a:solidFill>
                <a:effectLst/>
                <a:latin typeface="Courier New" panose="02070309020205020404" pitchFamily="49" charset="0"/>
              </a:rPr>
              <a:t>AA</a:t>
            </a:r>
            <a:r>
              <a:rPr lang="en-US" b="1" i="0" dirty="0" err="1">
                <a:solidFill>
                  <a:srgbClr val="000000"/>
                </a:solidFill>
                <a:effectLst/>
                <a:latin typeface="Courier New" panose="02070309020205020404" pitchFamily="49" charset="0"/>
              </a:rPr>
              <a:t>t</a:t>
            </a:r>
            <a:r>
              <a:rPr lang="en-US" b="1" i="0" dirty="0" err="1">
                <a:solidFill>
                  <a:srgbClr val="A03881"/>
                </a:solidFill>
                <a:effectLst/>
                <a:latin typeface="Courier New" panose="02070309020205020404" pitchFamily="49" charset="0"/>
              </a:rPr>
              <a:t>AAAA</a:t>
            </a:r>
            <a:r>
              <a:rPr lang="en-US" b="1" i="0" dirty="0" err="1">
                <a:solidFill>
                  <a:srgbClr val="000000"/>
                </a:solidFill>
                <a:effectLst/>
                <a:latin typeface="Courier New" panose="02070309020205020404" pitchFamily="49" charset="0"/>
              </a:rPr>
              <a:t>c</a:t>
            </a:r>
            <a:r>
              <a:rPr lang="en-US" b="1" i="0" dirty="0" err="1">
                <a:solidFill>
                  <a:srgbClr val="FF4363"/>
                </a:solidFill>
                <a:effectLst/>
                <a:latin typeface="Courier New" panose="02070309020205020404" pitchFamily="49" charset="0"/>
              </a:rPr>
              <a:t>GGGG</a:t>
            </a:r>
            <a:r>
              <a:rPr lang="en-US" b="1" i="0" dirty="0" err="1">
                <a:solidFill>
                  <a:srgbClr val="000000"/>
                </a:solidFill>
                <a:effectLst/>
                <a:latin typeface="Courier New" panose="02070309020205020404" pitchFamily="49" charset="0"/>
              </a:rPr>
              <a:t>c</a:t>
            </a:r>
            <a:r>
              <a:rPr lang="en-US" b="1" i="0" dirty="0" err="1">
                <a:solidFill>
                  <a:srgbClr val="FF4363"/>
                </a:solidFill>
                <a:effectLst/>
                <a:latin typeface="Courier New" panose="02070309020205020404" pitchFamily="49" charset="0"/>
              </a:rPr>
              <a:t>G</a:t>
            </a:r>
            <a:endParaRPr lang="fa-IR" b="1" i="0" dirty="0">
              <a:solidFill>
                <a:srgbClr val="FF4363"/>
              </a:solidFill>
              <a:effectLst/>
              <a:latin typeface="Courier New" panose="02070309020205020404" pitchFamily="49" charset="0"/>
            </a:endParaRPr>
          </a:p>
          <a:p>
            <a:r>
              <a:rPr lang="en-US" b="0" i="0" dirty="0">
                <a:solidFill>
                  <a:srgbClr val="000000"/>
                </a:solidFill>
                <a:effectLst/>
                <a:latin typeface="Raleway" pitchFamily="2" charset="0"/>
              </a:rPr>
              <a:t>Since these two implanted patterns are so different, we should be concerned whether we will be able to find them by searching for the two similar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among pairs of strings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a:t>
            </a:r>
            <a:endParaRPr lang="en-US" dirty="0"/>
          </a:p>
        </p:txBody>
      </p:sp>
    </p:spTree>
    <p:extLst>
      <p:ext uri="{BB962C8B-B14F-4D97-AF65-F5344CB8AC3E}">
        <p14:creationId xmlns:p14="http://schemas.microsoft.com/office/powerpoint/2010/main" val="1701995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3B56D-3C74-700D-2FCD-BEBEB30EE3D8}"/>
              </a:ext>
            </a:extLst>
          </p:cNvPr>
          <p:cNvSpPr>
            <a:spLocks noGrp="1"/>
          </p:cNvSpPr>
          <p:nvPr>
            <p:ph type="title"/>
          </p:nvPr>
        </p:nvSpPr>
        <p:spPr/>
        <p:txBody>
          <a:bodyPr/>
          <a:lstStyle/>
          <a:p>
            <a:r>
              <a:rPr lang="en-US" dirty="0"/>
              <a:t>Scoring Motifs</a:t>
            </a:r>
          </a:p>
        </p:txBody>
      </p:sp>
      <p:sp>
        <p:nvSpPr>
          <p:cNvPr id="3" name="Content Placeholder 2">
            <a:extLst>
              <a:ext uri="{FF2B5EF4-FFF2-40B4-BE49-F238E27FC236}">
                <a16:creationId xmlns:a16="http://schemas.microsoft.com/office/drawing/2014/main" id="{E7AABE63-C99E-B1F8-035A-352B88331CDA}"/>
              </a:ext>
            </a:extLst>
          </p:cNvPr>
          <p:cNvSpPr>
            <a:spLocks noGrp="1"/>
          </p:cNvSpPr>
          <p:nvPr>
            <p:ph idx="1"/>
          </p:nvPr>
        </p:nvSpPr>
        <p:spPr/>
        <p:txBody>
          <a:bodyPr>
            <a:normAutofit fontScale="85000" lnSpcReduction="10000"/>
          </a:bodyPr>
          <a:lstStyle/>
          <a:p>
            <a:pPr algn="ctr">
              <a:buNone/>
            </a:pPr>
            <a:r>
              <a:rPr lang="en-US" b="1" i="0" dirty="0">
                <a:solidFill>
                  <a:srgbClr val="000000"/>
                </a:solidFill>
                <a:effectLst/>
                <a:latin typeface="Raleway" pitchFamily="2" charset="0"/>
              </a:rPr>
              <a:t>From motifs to profile matrices and consensus strings</a:t>
            </a:r>
          </a:p>
          <a:p>
            <a:r>
              <a:rPr lang="en-US" b="0" i="0" dirty="0">
                <a:solidFill>
                  <a:srgbClr val="000000"/>
                </a:solidFill>
                <a:effectLst/>
                <a:latin typeface="Raleway" pitchFamily="2" charset="0"/>
              </a:rPr>
              <a:t>Although the Implanted Motif Problem offers a useful abstraction of the biological problem of motif finding, it has some limitations. For example, when Steve Kay used a DNA array to infer the set of circadian genes in plants, he did not expect that </a:t>
            </a:r>
            <a:r>
              <a:rPr lang="en-US" b="0" i="1" dirty="0">
                <a:solidFill>
                  <a:srgbClr val="000000"/>
                </a:solidFill>
                <a:effectLst/>
                <a:latin typeface="Raleway" pitchFamily="2" charset="0"/>
              </a:rPr>
              <a:t>all</a:t>
            </a:r>
            <a:r>
              <a:rPr lang="en-US" b="0" i="0" dirty="0">
                <a:solidFill>
                  <a:srgbClr val="000000"/>
                </a:solidFill>
                <a:effectLst/>
                <a:latin typeface="Raleway" pitchFamily="2" charset="0"/>
              </a:rPr>
              <a:t> genes in the resulting set would have the evening element (or its variants) in their upstream regions. Similarly, biologists do not expect that all genes with an elevated expression level in infected flies must be regulated by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DNA array experiments are inherently noisy, and some genes identified by these experiments have nothing to do with the circadian clock in plants or immunity genes in flies. For such noisy datasets, any algorithm for the Implanted Motif Problem would fail, because as long as a single sequence does not contain the transcription factor binding site, a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)-motif does not exist!</a:t>
            </a:r>
            <a:endParaRPr lang="en-US" dirty="0"/>
          </a:p>
        </p:txBody>
      </p:sp>
    </p:spTree>
    <p:extLst>
      <p:ext uri="{BB962C8B-B14F-4D97-AF65-F5344CB8AC3E}">
        <p14:creationId xmlns:p14="http://schemas.microsoft.com/office/powerpoint/2010/main" val="1670277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FBCD7-7BD4-BC26-C936-08F8A78A634F}"/>
              </a:ext>
            </a:extLst>
          </p:cNvPr>
          <p:cNvSpPr>
            <a:spLocks noGrp="1"/>
          </p:cNvSpPr>
          <p:nvPr>
            <p:ph type="title"/>
          </p:nvPr>
        </p:nvSpPr>
        <p:spPr/>
        <p:txBody>
          <a:bodyPr>
            <a:normAutofit/>
          </a:bodyPr>
          <a:lstStyle/>
          <a:p>
            <a:r>
              <a:rPr lang="en-US" sz="2400" dirty="0"/>
              <a:t>From motifs to profile matrices and consensus strings</a:t>
            </a:r>
          </a:p>
        </p:txBody>
      </p:sp>
      <p:sp>
        <p:nvSpPr>
          <p:cNvPr id="3" name="Content Placeholder 2">
            <a:extLst>
              <a:ext uri="{FF2B5EF4-FFF2-40B4-BE49-F238E27FC236}">
                <a16:creationId xmlns:a16="http://schemas.microsoft.com/office/drawing/2014/main" id="{07BA6E7A-1C4A-CD1F-5EB9-7688C321135F}"/>
              </a:ext>
            </a:extLst>
          </p:cNvPr>
          <p:cNvSpPr>
            <a:spLocks noGrp="1"/>
          </p:cNvSpPr>
          <p:nvPr>
            <p:ph idx="1"/>
          </p:nvPr>
        </p:nvSpPr>
        <p:spPr/>
        <p:txBody>
          <a:bodyPr/>
          <a:lstStyle/>
          <a:p>
            <a:r>
              <a:rPr lang="en-US" b="0" i="0" dirty="0">
                <a:solidFill>
                  <a:srgbClr val="000000"/>
                </a:solidFill>
                <a:effectLst/>
                <a:latin typeface="Raleway" pitchFamily="2" charset="0"/>
              </a:rPr>
              <a:t>A more appropriate problem formulation would score individual instances of motifs depending on how similar they are to an “ideal” motif (i.e., a transcription factor binding site that binds the best to the transcription factor). However, since the ideal motif is unknown, we attempt to select a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from each string and score these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depending on how similar they are </a:t>
            </a:r>
            <a:r>
              <a:rPr lang="en-US" b="0" i="1" dirty="0">
                <a:solidFill>
                  <a:srgbClr val="000000"/>
                </a:solidFill>
                <a:effectLst/>
                <a:latin typeface="Raleway" pitchFamily="2" charset="0"/>
              </a:rPr>
              <a:t>to each other</a:t>
            </a:r>
            <a:r>
              <a:rPr lang="en-US" b="0" i="0" dirty="0">
                <a:solidFill>
                  <a:srgbClr val="000000"/>
                </a:solidFill>
                <a:effectLst/>
                <a:latin typeface="Raleway" pitchFamily="2" charset="0"/>
              </a:rPr>
              <a:t>.</a:t>
            </a:r>
            <a:endParaRPr lang="en-US" dirty="0"/>
          </a:p>
        </p:txBody>
      </p:sp>
    </p:spTree>
    <p:extLst>
      <p:ext uri="{BB962C8B-B14F-4D97-AF65-F5344CB8AC3E}">
        <p14:creationId xmlns:p14="http://schemas.microsoft.com/office/powerpoint/2010/main" val="3369582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54D3-D584-F84B-00C6-59CE68144A1B}"/>
              </a:ext>
            </a:extLst>
          </p:cNvPr>
          <p:cNvSpPr>
            <a:spLocks noGrp="1"/>
          </p:cNvSpPr>
          <p:nvPr>
            <p:ph type="title"/>
          </p:nvPr>
        </p:nvSpPr>
        <p:spPr/>
        <p:txBody>
          <a:bodyPr/>
          <a:lstStyle/>
          <a:p>
            <a:r>
              <a:rPr kumimoji="0" lang="en-US" sz="2400" b="0" i="0" u="none" strike="noStrike" kern="1200" cap="all" spc="0" normalizeH="0" baseline="0" noProof="0" dirty="0">
                <a:ln>
                  <a:noFill/>
                </a:ln>
                <a:solidFill>
                  <a:prstClr val="black"/>
                </a:solidFill>
                <a:effectLst/>
                <a:uLnTx/>
                <a:uFillTx/>
                <a:latin typeface="Gill Sans MT" panose="020B0502020104020203"/>
                <a:ea typeface="+mj-ea"/>
                <a:cs typeface="+mj-cs"/>
              </a:rPr>
              <a:t>From motifs to profile matrices and consensus strings</a:t>
            </a:r>
            <a:endParaRPr lang="en-US" dirty="0"/>
          </a:p>
        </p:txBody>
      </p:sp>
      <p:sp>
        <p:nvSpPr>
          <p:cNvPr id="3" name="Content Placeholder 2">
            <a:extLst>
              <a:ext uri="{FF2B5EF4-FFF2-40B4-BE49-F238E27FC236}">
                <a16:creationId xmlns:a16="http://schemas.microsoft.com/office/drawing/2014/main" id="{15C7C9E0-0420-606B-B57A-00B60DE2ED04}"/>
              </a:ext>
            </a:extLst>
          </p:cNvPr>
          <p:cNvSpPr>
            <a:spLocks noGrp="1"/>
          </p:cNvSpPr>
          <p:nvPr>
            <p:ph idx="1"/>
          </p:nvPr>
        </p:nvSpPr>
        <p:spPr/>
        <p:txBody>
          <a:bodyPr/>
          <a:lstStyle/>
          <a:p>
            <a:r>
              <a:rPr lang="en-US" b="0" i="0" dirty="0">
                <a:solidFill>
                  <a:srgbClr val="000000"/>
                </a:solidFill>
                <a:effectLst/>
                <a:latin typeface="Raleway" pitchFamily="2" charset="0"/>
              </a:rPr>
              <a:t>To define scoring, consider a list of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DNA strings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where each string has length </a:t>
            </a:r>
            <a:r>
              <a:rPr lang="en-US" b="0" i="1" dirty="0">
                <a:solidFill>
                  <a:srgbClr val="000000"/>
                </a:solidFill>
                <a:effectLst/>
                <a:latin typeface="Raleway" pitchFamily="2" charset="0"/>
              </a:rPr>
              <a:t>n</a:t>
            </a:r>
            <a:r>
              <a:rPr lang="en-US" b="0" i="0" dirty="0">
                <a:solidFill>
                  <a:srgbClr val="000000"/>
                </a:solidFill>
                <a:effectLst/>
                <a:latin typeface="Raleway" pitchFamily="2" charset="0"/>
              </a:rPr>
              <a:t>, and select a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from each string to form a collection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which we represent as a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x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motif matrix. In the figure below, which shows the motif matrix for the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binding sites from the figure below, we indicate the most frequent nucleotide in each column of the motif matrix by upper case letters. If there are multiple most frequent nucleotides in a column, then we arbitrarily select one of them to break the tie. Note that positions 2 and 3 are the most conserved (nucleotide </a:t>
            </a:r>
            <a:r>
              <a:rPr lang="en-US" b="1" i="0" dirty="0">
                <a:solidFill>
                  <a:srgbClr val="FF4363"/>
                </a:solidFill>
                <a:effectLst/>
                <a:latin typeface="Courier New" panose="02070309020205020404" pitchFamily="49" charset="0"/>
              </a:rPr>
              <a:t>G</a:t>
            </a:r>
            <a:r>
              <a:rPr lang="en-US" b="0" i="0" dirty="0">
                <a:solidFill>
                  <a:srgbClr val="000000"/>
                </a:solidFill>
                <a:effectLst/>
                <a:latin typeface="Raleway" pitchFamily="2" charset="0"/>
              </a:rPr>
              <a:t> is completely conserved in these positions), whereas position 10 is the least conserved.</a:t>
            </a:r>
            <a:endParaRPr lang="en-US" dirty="0"/>
          </a:p>
        </p:txBody>
      </p:sp>
    </p:spTree>
    <p:extLst>
      <p:ext uri="{BB962C8B-B14F-4D97-AF65-F5344CB8AC3E}">
        <p14:creationId xmlns:p14="http://schemas.microsoft.com/office/powerpoint/2010/main" val="436484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C1EF-B3F6-B357-339E-F5D4101B26D3}"/>
              </a:ext>
            </a:extLst>
          </p:cNvPr>
          <p:cNvSpPr>
            <a:spLocks noGrp="1"/>
          </p:cNvSpPr>
          <p:nvPr>
            <p:ph type="title"/>
          </p:nvPr>
        </p:nvSpPr>
        <p:spPr>
          <a:xfrm>
            <a:off x="2631875" y="1755872"/>
            <a:ext cx="5195321" cy="643251"/>
          </a:xfrm>
        </p:spPr>
        <p:txBody>
          <a:bodyPr/>
          <a:lstStyle/>
          <a:p>
            <a:pPr algn="ctr"/>
            <a:endParaRPr lang="en-US" dirty="0"/>
          </a:p>
        </p:txBody>
      </p:sp>
      <p:sp>
        <p:nvSpPr>
          <p:cNvPr id="3" name="Text Placeholder 2">
            <a:extLst>
              <a:ext uri="{FF2B5EF4-FFF2-40B4-BE49-F238E27FC236}">
                <a16:creationId xmlns:a16="http://schemas.microsoft.com/office/drawing/2014/main" id="{B8E033DA-EEFF-D809-77F6-8232490F4217}"/>
              </a:ext>
            </a:extLst>
          </p:cNvPr>
          <p:cNvSpPr>
            <a:spLocks noGrp="1"/>
          </p:cNvSpPr>
          <p:nvPr>
            <p:ph type="body" idx="1"/>
          </p:nvPr>
        </p:nvSpPr>
        <p:spPr/>
        <p:txBody>
          <a:bodyPr>
            <a:normAutofit fontScale="92500" lnSpcReduction="10000"/>
          </a:bodyPr>
          <a:lstStyle/>
          <a:p>
            <a:r>
              <a:rPr lang="en-US" b="1" i="0" dirty="0">
                <a:solidFill>
                  <a:srgbClr val="000000"/>
                </a:solidFill>
                <a:effectLst/>
                <a:latin typeface="Raleway" pitchFamily="2" charset="0"/>
              </a:rPr>
              <a:t>Figure:</a:t>
            </a:r>
            <a:r>
              <a:rPr lang="en-US" b="0" i="0" dirty="0">
                <a:solidFill>
                  <a:srgbClr val="000000"/>
                </a:solidFill>
                <a:effectLst/>
                <a:latin typeface="Raleway" pitchFamily="2" charset="0"/>
              </a:rPr>
              <a:t> The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binding sites form a 10 x 12 motif matrix, with the most frequent nucleotide in each column shown in upper case letters and all other nucleotides shown in lower case letters.</a:t>
            </a:r>
            <a:endParaRPr lang="en-US" dirty="0"/>
          </a:p>
        </p:txBody>
      </p:sp>
      <p:pic>
        <p:nvPicPr>
          <p:cNvPr id="5122" name="Picture 2">
            <a:extLst>
              <a:ext uri="{FF2B5EF4-FFF2-40B4-BE49-F238E27FC236}">
                <a16:creationId xmlns:a16="http://schemas.microsoft.com/office/drawing/2014/main" id="{4DEE78DB-00BF-499D-5859-634D45C597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1136" y="1561842"/>
            <a:ext cx="5725391" cy="2244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003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15C5B-0D47-CD37-69D6-70DF06F83F83}"/>
              </a:ext>
            </a:extLst>
          </p:cNvPr>
          <p:cNvSpPr>
            <a:spLocks noGrp="1"/>
          </p:cNvSpPr>
          <p:nvPr>
            <p:ph type="title"/>
          </p:nvPr>
        </p:nvSpPr>
        <p:spPr/>
        <p:txBody>
          <a:bodyPr/>
          <a:lstStyle/>
          <a:p>
            <a:r>
              <a:rPr kumimoji="0" lang="en-US" sz="2400" b="0" i="0" u="none" strike="noStrike" kern="1200" cap="all" spc="0" normalizeH="0" baseline="0" noProof="0" dirty="0">
                <a:ln>
                  <a:noFill/>
                </a:ln>
                <a:solidFill>
                  <a:prstClr val="black"/>
                </a:solidFill>
                <a:effectLst/>
                <a:uLnTx/>
                <a:uFillTx/>
                <a:latin typeface="Gill Sans MT" panose="020B0502020104020203"/>
                <a:ea typeface="+mj-ea"/>
                <a:cs typeface="+mj-cs"/>
              </a:rPr>
              <a:t>From motifs to profile matrices and consensus strings</a:t>
            </a:r>
            <a:endParaRPr lang="en-US" dirty="0"/>
          </a:p>
        </p:txBody>
      </p:sp>
      <p:sp>
        <p:nvSpPr>
          <p:cNvPr id="3" name="Content Placeholder 2">
            <a:extLst>
              <a:ext uri="{FF2B5EF4-FFF2-40B4-BE49-F238E27FC236}">
                <a16:creationId xmlns:a16="http://schemas.microsoft.com/office/drawing/2014/main" id="{AB98502E-9F37-7F45-3BE8-0BD77D54A498}"/>
              </a:ext>
            </a:extLst>
          </p:cNvPr>
          <p:cNvSpPr>
            <a:spLocks noGrp="1"/>
          </p:cNvSpPr>
          <p:nvPr>
            <p:ph idx="1"/>
          </p:nvPr>
        </p:nvSpPr>
        <p:spPr/>
        <p:txBody>
          <a:bodyPr/>
          <a:lstStyle/>
          <a:p>
            <a:r>
              <a:rPr lang="en-US" b="0" i="0" dirty="0">
                <a:solidFill>
                  <a:srgbClr val="000000"/>
                </a:solidFill>
                <a:effectLst/>
                <a:latin typeface="Raleway" pitchFamily="2" charset="0"/>
              </a:rPr>
              <a:t>By varying the choice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in each sequence, we can construct a large number of different motif matrices from a given sample of DNA sequences. Our goal is to select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resulting in the most “conserved” motif matrix, meaning the matrix with the most upper case letters (and thus the fewest number of lower case letters). Leaving aside the question of how we select such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we will first focus on how to score the resulting motif matrices, defining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as the number of unpopular (lower case) letters in the motif matrix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Our goal is to find a collection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that </a:t>
            </a:r>
            <a:r>
              <a:rPr lang="en-US" b="0" i="1" dirty="0">
                <a:solidFill>
                  <a:srgbClr val="000000"/>
                </a:solidFill>
                <a:effectLst/>
                <a:latin typeface="Raleway" pitchFamily="2" charset="0"/>
              </a:rPr>
              <a:t>minimizes</a:t>
            </a:r>
            <a:r>
              <a:rPr lang="en-US" b="0" i="0" dirty="0">
                <a:solidFill>
                  <a:srgbClr val="000000"/>
                </a:solidFill>
                <a:effectLst/>
                <a:latin typeface="Raleway" pitchFamily="2" charset="0"/>
              </a:rPr>
              <a:t> this score.</a:t>
            </a:r>
            <a:endParaRPr lang="en-US" dirty="0"/>
          </a:p>
        </p:txBody>
      </p:sp>
    </p:spTree>
    <p:extLst>
      <p:ext uri="{BB962C8B-B14F-4D97-AF65-F5344CB8AC3E}">
        <p14:creationId xmlns:p14="http://schemas.microsoft.com/office/powerpoint/2010/main" val="2340590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BB4B5-5C55-2408-F612-F39A984B69E8}"/>
              </a:ext>
            </a:extLst>
          </p:cNvPr>
          <p:cNvSpPr>
            <a:spLocks noGrp="1"/>
          </p:cNvSpPr>
          <p:nvPr>
            <p:ph type="title"/>
          </p:nvPr>
        </p:nvSpPr>
        <p:spPr>
          <a:xfrm>
            <a:off x="2368638" y="1620938"/>
            <a:ext cx="6201071" cy="1139226"/>
          </a:xfrm>
        </p:spPr>
        <p:txBody>
          <a:bodyPr/>
          <a:lstStyle/>
          <a:p>
            <a:endParaRPr lang="en-US" dirty="0"/>
          </a:p>
        </p:txBody>
      </p:sp>
      <p:sp>
        <p:nvSpPr>
          <p:cNvPr id="3" name="Text Placeholder 2">
            <a:extLst>
              <a:ext uri="{FF2B5EF4-FFF2-40B4-BE49-F238E27FC236}">
                <a16:creationId xmlns:a16="http://schemas.microsoft.com/office/drawing/2014/main" id="{055460E0-5007-4D7C-D768-A6192B739CCE}"/>
              </a:ext>
            </a:extLst>
          </p:cNvPr>
          <p:cNvSpPr>
            <a:spLocks noGrp="1"/>
          </p:cNvSpPr>
          <p:nvPr>
            <p:ph type="body" idx="1"/>
          </p:nvPr>
        </p:nvSpPr>
        <p:spPr/>
        <p:txBody>
          <a:bodyPr>
            <a:normAutofit fontScale="92500" lnSpcReduction="10000"/>
          </a:bodyPr>
          <a:lstStyle/>
          <a:p>
            <a:r>
              <a:rPr lang="en-US" b="1" i="0" dirty="0">
                <a:solidFill>
                  <a:srgbClr val="A03881"/>
                </a:solidFill>
                <a:effectLst/>
                <a:latin typeface="Raleway" pitchFamily="2" charset="0"/>
              </a:rPr>
              <a:t>Exercise Break:</a:t>
            </a:r>
            <a:r>
              <a:rPr lang="en-US" b="0" i="0" dirty="0">
                <a:solidFill>
                  <a:srgbClr val="000000"/>
                </a:solidFill>
                <a:effectLst/>
                <a:latin typeface="Raleway" pitchFamily="2" charset="0"/>
              </a:rPr>
              <a:t> The </a:t>
            </a:r>
            <a:r>
              <a:rPr lang="en-US" b="0" i="0" dirty="0" err="1">
                <a:solidFill>
                  <a:srgbClr val="000000"/>
                </a:solidFill>
                <a:effectLst/>
                <a:latin typeface="Raleway" pitchFamily="2" charset="0"/>
              </a:rPr>
              <a:t>minimium</a:t>
            </a:r>
            <a:r>
              <a:rPr lang="en-US" b="0" i="0" dirty="0">
                <a:solidFill>
                  <a:srgbClr val="000000"/>
                </a:solidFill>
                <a:effectLst/>
                <a:latin typeface="Raleway" pitchFamily="2" charset="0"/>
              </a:rPr>
              <a:t> possible value of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is 0 (if all the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in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are the same). What is the maximum possible value of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for 10 motifs of length 15?</a:t>
            </a:r>
            <a:endParaRPr lang="en-US" dirty="0"/>
          </a:p>
        </p:txBody>
      </p:sp>
      <p:pic>
        <p:nvPicPr>
          <p:cNvPr id="6146" name="Picture 2">
            <a:extLst>
              <a:ext uri="{FF2B5EF4-FFF2-40B4-BE49-F238E27FC236}">
                <a16:creationId xmlns:a16="http://schemas.microsoft.com/office/drawing/2014/main" id="{F462A48B-217B-D5CB-1D91-8E424DE17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1018309"/>
            <a:ext cx="6866714" cy="2787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660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6659-49F2-4D0A-D82C-78D4A83FD040}"/>
              </a:ext>
            </a:extLst>
          </p:cNvPr>
          <p:cNvSpPr>
            <a:spLocks noGrp="1"/>
          </p:cNvSpPr>
          <p:nvPr>
            <p:ph type="title"/>
          </p:nvPr>
        </p:nvSpPr>
        <p:spPr/>
        <p:txBody>
          <a:bodyPr/>
          <a:lstStyle/>
          <a:p>
            <a:r>
              <a:rPr kumimoji="0" lang="en-US" sz="2400" b="0" i="0" u="none" strike="noStrike" kern="1200" cap="all" spc="0" normalizeH="0" baseline="0" noProof="0" dirty="0">
                <a:ln>
                  <a:noFill/>
                </a:ln>
                <a:solidFill>
                  <a:prstClr val="black"/>
                </a:solidFill>
                <a:effectLst/>
                <a:uLnTx/>
                <a:uFillTx/>
                <a:latin typeface="Gill Sans MT" panose="020B0502020104020203"/>
                <a:ea typeface="+mj-ea"/>
                <a:cs typeface="+mj-cs"/>
              </a:rPr>
              <a:t>From motifs to profile matrices and consensus strings</a:t>
            </a:r>
            <a:endParaRPr lang="en-US" dirty="0"/>
          </a:p>
        </p:txBody>
      </p:sp>
      <p:sp>
        <p:nvSpPr>
          <p:cNvPr id="3" name="Content Placeholder 2">
            <a:extLst>
              <a:ext uri="{FF2B5EF4-FFF2-40B4-BE49-F238E27FC236}">
                <a16:creationId xmlns:a16="http://schemas.microsoft.com/office/drawing/2014/main" id="{EF71A67C-9DE7-0B90-81C7-4D91C084D25F}"/>
              </a:ext>
            </a:extLst>
          </p:cNvPr>
          <p:cNvSpPr>
            <a:spLocks noGrp="1"/>
          </p:cNvSpPr>
          <p:nvPr>
            <p:ph idx="1"/>
          </p:nvPr>
        </p:nvSpPr>
        <p:spPr/>
        <p:txBody>
          <a:bodyPr/>
          <a:lstStyle/>
          <a:p>
            <a:r>
              <a:rPr lang="en-US" b="0" i="0" dirty="0">
                <a:solidFill>
                  <a:srgbClr val="000000"/>
                </a:solidFill>
                <a:effectLst/>
                <a:latin typeface="Raleway" pitchFamily="2" charset="0"/>
              </a:rPr>
              <a:t>We can construct the 4 ×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a:t>
            </a:r>
            <a:r>
              <a:rPr lang="en-US" b="1" i="0" dirty="0">
                <a:solidFill>
                  <a:srgbClr val="000000"/>
                </a:solidFill>
                <a:effectLst/>
                <a:latin typeface="Raleway" pitchFamily="2" charset="0"/>
              </a:rPr>
              <a:t>count matrix</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Count</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counting the number of occurrences of each nucleotide in each column of the motif matrix; the (</a:t>
            </a:r>
            <a:r>
              <a:rPr lang="en-US" b="0" i="1" dirty="0" err="1">
                <a:solidFill>
                  <a:srgbClr val="000000"/>
                </a:solidFill>
                <a:effectLst/>
                <a:latin typeface="Raleway" pitchFamily="2" charset="0"/>
              </a:rPr>
              <a:t>i</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j</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th</a:t>
            </a:r>
            <a:r>
              <a:rPr lang="en-US" b="0" i="0" dirty="0">
                <a:solidFill>
                  <a:srgbClr val="000000"/>
                </a:solidFill>
                <a:effectLst/>
                <a:latin typeface="Raleway" pitchFamily="2" charset="0"/>
              </a:rPr>
              <a:t> element of </a:t>
            </a:r>
            <a:r>
              <a:rPr lang="en-US" b="0" i="1" dirty="0">
                <a:solidFill>
                  <a:srgbClr val="000000"/>
                </a:solidFill>
                <a:effectLst/>
                <a:latin typeface="Raleway" pitchFamily="2" charset="0"/>
              </a:rPr>
              <a:t>Count</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stores the number of times that nucleotide </a:t>
            </a:r>
            <a:r>
              <a:rPr lang="en-US" b="0" i="1" dirty="0" err="1">
                <a:solidFill>
                  <a:srgbClr val="000000"/>
                </a:solidFill>
                <a:effectLst/>
                <a:latin typeface="Raleway" pitchFamily="2" charset="0"/>
              </a:rPr>
              <a:t>i</a:t>
            </a:r>
            <a:r>
              <a:rPr lang="en-US" b="0" i="0" dirty="0">
                <a:solidFill>
                  <a:srgbClr val="000000"/>
                </a:solidFill>
                <a:effectLst/>
                <a:latin typeface="Raleway" pitchFamily="2" charset="0"/>
              </a:rPr>
              <a:t> appears in column </a:t>
            </a:r>
            <a:r>
              <a:rPr lang="en-US" b="0" i="1" dirty="0">
                <a:solidFill>
                  <a:srgbClr val="000000"/>
                </a:solidFill>
                <a:effectLst/>
                <a:latin typeface="Raleway" pitchFamily="2" charset="0"/>
              </a:rPr>
              <a:t>j</a:t>
            </a:r>
            <a:r>
              <a:rPr lang="en-US" b="0" i="0" dirty="0">
                <a:solidFill>
                  <a:srgbClr val="000000"/>
                </a:solidFill>
                <a:effectLst/>
                <a:latin typeface="Raleway" pitchFamily="2" charset="0"/>
              </a:rPr>
              <a:t> of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We will further divide all of the elements in the count matrix by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the number of rows in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This results in a </a:t>
            </a:r>
            <a:r>
              <a:rPr lang="en-US" b="1" i="0" dirty="0">
                <a:solidFill>
                  <a:srgbClr val="000000"/>
                </a:solidFill>
                <a:effectLst/>
                <a:latin typeface="Raleway" pitchFamily="2" charset="0"/>
              </a:rPr>
              <a:t>profile matrix</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P</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Profile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for which </a:t>
            </a:r>
            <a:r>
              <a:rPr lang="en-US" b="0" i="1" dirty="0" err="1">
                <a:solidFill>
                  <a:srgbClr val="000000"/>
                </a:solidFill>
                <a:effectLst/>
                <a:latin typeface="Raleway" pitchFamily="2" charset="0"/>
              </a:rPr>
              <a:t>P</a:t>
            </a:r>
            <a:r>
              <a:rPr lang="en-US" b="0" i="1" baseline="-25000" dirty="0" err="1">
                <a:solidFill>
                  <a:srgbClr val="000000"/>
                </a:solidFill>
                <a:effectLst/>
                <a:latin typeface="Raleway" pitchFamily="2" charset="0"/>
              </a:rPr>
              <a:t>i</a:t>
            </a:r>
            <a:r>
              <a:rPr lang="en-US" b="0" i="0" baseline="-25000" dirty="0" err="1">
                <a:solidFill>
                  <a:srgbClr val="000000"/>
                </a:solidFill>
                <a:effectLst/>
                <a:latin typeface="Raleway" pitchFamily="2" charset="0"/>
              </a:rPr>
              <a:t>,</a:t>
            </a:r>
            <a:r>
              <a:rPr lang="en-US" b="0" i="1" baseline="-25000" dirty="0" err="1">
                <a:solidFill>
                  <a:srgbClr val="000000"/>
                </a:solidFill>
                <a:effectLst/>
                <a:latin typeface="Raleway" pitchFamily="2" charset="0"/>
              </a:rPr>
              <a:t>j</a:t>
            </a:r>
            <a:r>
              <a:rPr lang="en-US" b="0" i="0" dirty="0">
                <a:solidFill>
                  <a:srgbClr val="000000"/>
                </a:solidFill>
                <a:effectLst/>
                <a:latin typeface="Raleway" pitchFamily="2" charset="0"/>
              </a:rPr>
              <a:t> is the </a:t>
            </a:r>
            <a:r>
              <a:rPr lang="en-US" b="0" i="1" dirty="0">
                <a:solidFill>
                  <a:srgbClr val="000000"/>
                </a:solidFill>
                <a:effectLst/>
                <a:latin typeface="Raleway" pitchFamily="2" charset="0"/>
              </a:rPr>
              <a:t>frequency</a:t>
            </a:r>
            <a:r>
              <a:rPr lang="en-US" b="0" i="0" dirty="0">
                <a:solidFill>
                  <a:srgbClr val="000000"/>
                </a:solidFill>
                <a:effectLst/>
                <a:latin typeface="Raleway" pitchFamily="2" charset="0"/>
              </a:rPr>
              <a:t> of the </a:t>
            </a:r>
            <a:r>
              <a:rPr lang="en-US" b="0" i="1" dirty="0" err="1">
                <a:solidFill>
                  <a:srgbClr val="000000"/>
                </a:solidFill>
                <a:effectLst/>
                <a:latin typeface="Raleway" pitchFamily="2" charset="0"/>
              </a:rPr>
              <a:t>i</a:t>
            </a:r>
            <a:r>
              <a:rPr lang="en-US" b="0" i="0" dirty="0" err="1">
                <a:solidFill>
                  <a:srgbClr val="000000"/>
                </a:solidFill>
                <a:effectLst/>
                <a:latin typeface="Raleway" pitchFamily="2" charset="0"/>
              </a:rPr>
              <a:t>-th</a:t>
            </a:r>
            <a:r>
              <a:rPr lang="en-US" b="0" i="0" dirty="0">
                <a:solidFill>
                  <a:srgbClr val="000000"/>
                </a:solidFill>
                <a:effectLst/>
                <a:latin typeface="Raleway" pitchFamily="2" charset="0"/>
              </a:rPr>
              <a:t> nucleotide in the </a:t>
            </a:r>
            <a:r>
              <a:rPr lang="en-US" b="0" i="1" dirty="0">
                <a:solidFill>
                  <a:srgbClr val="000000"/>
                </a:solidFill>
                <a:effectLst/>
                <a:latin typeface="Raleway" pitchFamily="2" charset="0"/>
              </a:rPr>
              <a:t>j</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th</a:t>
            </a:r>
            <a:r>
              <a:rPr lang="en-US" b="0" i="0" dirty="0">
                <a:solidFill>
                  <a:srgbClr val="000000"/>
                </a:solidFill>
                <a:effectLst/>
                <a:latin typeface="Raleway" pitchFamily="2" charset="0"/>
              </a:rPr>
              <a:t> column of the motif matrix. Note that the elements of any column of the profile matrix sum to 1. The figure below shows the motif, count, and profile matrices for the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binding sites.</a:t>
            </a:r>
            <a:endParaRPr lang="en-US" dirty="0"/>
          </a:p>
        </p:txBody>
      </p:sp>
    </p:spTree>
    <p:extLst>
      <p:ext uri="{BB962C8B-B14F-4D97-AF65-F5344CB8AC3E}">
        <p14:creationId xmlns:p14="http://schemas.microsoft.com/office/powerpoint/2010/main" val="728247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C65C2-C319-BD80-2953-500317580AF5}"/>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7BE0C1BD-F7F1-A337-179F-3F3EC4B39F0F}"/>
              </a:ext>
            </a:extLst>
          </p:cNvPr>
          <p:cNvSpPr>
            <a:spLocks noGrp="1"/>
          </p:cNvSpPr>
          <p:nvPr>
            <p:ph type="body" idx="1"/>
          </p:nvPr>
        </p:nvSpPr>
        <p:spPr>
          <a:xfrm>
            <a:off x="1468093" y="3806195"/>
            <a:ext cx="8630446" cy="1271496"/>
          </a:xfrm>
        </p:spPr>
        <p:txBody>
          <a:bodyPr>
            <a:noAutofit/>
          </a:bodyPr>
          <a:lstStyle/>
          <a:p>
            <a:r>
              <a:rPr lang="en-US" b="0" i="0" dirty="0">
                <a:solidFill>
                  <a:srgbClr val="000000"/>
                </a:solidFill>
                <a:effectLst/>
                <a:latin typeface="Raleway" pitchFamily="2" charset="0"/>
              </a:rPr>
              <a:t>Finally, we form a </a:t>
            </a:r>
            <a:r>
              <a:rPr lang="en-US" b="1" i="0" dirty="0">
                <a:solidFill>
                  <a:srgbClr val="000000"/>
                </a:solidFill>
                <a:effectLst/>
                <a:latin typeface="Raleway" pitchFamily="2" charset="0"/>
              </a:rPr>
              <a:t>consensus string</a:t>
            </a:r>
            <a:r>
              <a:rPr lang="en-US" b="0" i="0" dirty="0">
                <a:solidFill>
                  <a:srgbClr val="000000"/>
                </a:solidFill>
                <a:effectLst/>
                <a:latin typeface="Raleway" pitchFamily="2" charset="0"/>
              </a:rPr>
              <a:t>, denoted </a:t>
            </a:r>
            <a:r>
              <a:rPr lang="en-US" b="0" i="1" dirty="0">
                <a:solidFill>
                  <a:srgbClr val="000000"/>
                </a:solidFill>
                <a:effectLst/>
                <a:latin typeface="Raleway" pitchFamily="2" charset="0"/>
              </a:rPr>
              <a:t>Consensus</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from the most popular letters in each column of the motif matrix. If we select Motifs correctly from the collection of upstream regions, then </a:t>
            </a:r>
            <a:r>
              <a:rPr lang="en-US" b="0" i="1" dirty="0">
                <a:solidFill>
                  <a:srgbClr val="000000"/>
                </a:solidFill>
                <a:effectLst/>
                <a:latin typeface="Raleway" pitchFamily="2" charset="0"/>
              </a:rPr>
              <a:t>Consensus</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provides an ideal candidate regulatory motif for these regions. For example, the consensus string for the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binding sites in the figure below is </a:t>
            </a:r>
            <a:r>
              <a:rPr lang="en-US" b="1" i="0" dirty="0">
                <a:solidFill>
                  <a:srgbClr val="66CC66"/>
                </a:solidFill>
                <a:effectLst/>
                <a:latin typeface="Courier New" panose="02070309020205020404" pitchFamily="49" charset="0"/>
              </a:rPr>
              <a:t>T</a:t>
            </a:r>
            <a:r>
              <a:rPr lang="en-US" b="1" i="0" dirty="0">
                <a:solidFill>
                  <a:srgbClr val="64B0F4"/>
                </a:solidFill>
                <a:effectLst/>
                <a:latin typeface="Courier New" panose="02070309020205020404" pitchFamily="49" charset="0"/>
              </a:rPr>
              <a:t>C</a:t>
            </a:r>
            <a:r>
              <a:rPr lang="en-US" b="1" i="0" dirty="0">
                <a:solidFill>
                  <a:srgbClr val="FF4363"/>
                </a:solidFill>
                <a:effectLst/>
                <a:latin typeface="Courier New" panose="02070309020205020404" pitchFamily="49" charset="0"/>
              </a:rPr>
              <a:t>GGGG</a:t>
            </a:r>
            <a:r>
              <a:rPr lang="en-US" b="1" i="0" dirty="0">
                <a:solidFill>
                  <a:srgbClr val="A03881"/>
                </a:solidFill>
                <a:effectLst/>
                <a:latin typeface="Courier New" panose="02070309020205020404" pitchFamily="49" charset="0"/>
              </a:rPr>
              <a:t>A</a:t>
            </a:r>
            <a:r>
              <a:rPr lang="en-US" b="1" i="0" dirty="0">
                <a:solidFill>
                  <a:srgbClr val="66CC66"/>
                </a:solidFill>
                <a:effectLst/>
                <a:latin typeface="Courier New" panose="02070309020205020404" pitchFamily="49" charset="0"/>
              </a:rPr>
              <a:t>TTT</a:t>
            </a:r>
            <a:r>
              <a:rPr lang="en-US" b="1" i="0" dirty="0">
                <a:solidFill>
                  <a:srgbClr val="64B0F4"/>
                </a:solidFill>
                <a:effectLst/>
                <a:latin typeface="Courier New" panose="02070309020205020404" pitchFamily="49" charset="0"/>
              </a:rPr>
              <a:t>CC</a:t>
            </a:r>
            <a:r>
              <a:rPr lang="en-US" b="0" i="0" dirty="0">
                <a:solidFill>
                  <a:srgbClr val="000000"/>
                </a:solidFill>
                <a:effectLst/>
                <a:latin typeface="Raleway" pitchFamily="2" charset="0"/>
              </a:rPr>
              <a:t>.</a:t>
            </a:r>
            <a:endParaRPr lang="en-US" dirty="0"/>
          </a:p>
        </p:txBody>
      </p:sp>
      <p:pic>
        <p:nvPicPr>
          <p:cNvPr id="7170" name="Picture 2">
            <a:extLst>
              <a:ext uri="{FF2B5EF4-FFF2-40B4-BE49-F238E27FC236}">
                <a16:creationId xmlns:a16="http://schemas.microsoft.com/office/drawing/2014/main" id="{4E462A5F-8432-1333-CFF9-421EBB67DF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454" y="21451"/>
            <a:ext cx="5777346" cy="3784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8632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FC885F1E-6C9A-DD6D-A260-E09175A55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0309" y="226360"/>
            <a:ext cx="7957561" cy="6119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03023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4C9CA-A6FD-5EDB-AF7F-F756D9A37611}"/>
              </a:ext>
            </a:extLst>
          </p:cNvPr>
          <p:cNvSpPr>
            <a:spLocks noGrp="1"/>
          </p:cNvSpPr>
          <p:nvPr>
            <p:ph type="title"/>
          </p:nvPr>
        </p:nvSpPr>
        <p:spPr/>
        <p:txBody>
          <a:bodyPr>
            <a:normAutofit/>
          </a:bodyPr>
          <a:lstStyle/>
          <a:p>
            <a:r>
              <a:rPr lang="en-US" sz="2400" dirty="0"/>
              <a:t>Towards a more adequate motif scoring function</a:t>
            </a:r>
          </a:p>
        </p:txBody>
      </p:sp>
      <p:sp>
        <p:nvSpPr>
          <p:cNvPr id="3" name="Content Placeholder 2">
            <a:extLst>
              <a:ext uri="{FF2B5EF4-FFF2-40B4-BE49-F238E27FC236}">
                <a16:creationId xmlns:a16="http://schemas.microsoft.com/office/drawing/2014/main" id="{6AD3CBA5-F395-E390-C370-190204A7F17C}"/>
              </a:ext>
            </a:extLst>
          </p:cNvPr>
          <p:cNvSpPr>
            <a:spLocks noGrp="1"/>
          </p:cNvSpPr>
          <p:nvPr>
            <p:ph idx="1"/>
          </p:nvPr>
        </p:nvSpPr>
        <p:spPr/>
        <p:txBody>
          <a:bodyPr/>
          <a:lstStyle/>
          <a:p>
            <a:pPr algn="l">
              <a:buNone/>
            </a:pPr>
            <a:r>
              <a:rPr lang="en-US" b="0" i="0" dirty="0">
                <a:solidFill>
                  <a:srgbClr val="000000"/>
                </a:solidFill>
                <a:effectLst/>
                <a:latin typeface="Raleway" pitchFamily="2" charset="0"/>
              </a:rPr>
              <a:t>Consider the second column (containing 6 </a:t>
            </a:r>
            <a:r>
              <a:rPr lang="en-US" b="0" i="0" dirty="0">
                <a:solidFill>
                  <a:srgbClr val="000000"/>
                </a:solidFill>
                <a:effectLst/>
                <a:latin typeface="Courier New" panose="02070309020205020404" pitchFamily="49" charset="0"/>
              </a:rPr>
              <a:t>C</a:t>
            </a:r>
            <a:r>
              <a:rPr lang="en-US" b="0" i="0" dirty="0">
                <a:solidFill>
                  <a:srgbClr val="000000"/>
                </a:solidFill>
                <a:effectLst/>
                <a:latin typeface="Raleway" pitchFamily="2" charset="0"/>
              </a:rPr>
              <a:t>, 2 </a:t>
            </a:r>
            <a:r>
              <a:rPr lang="en-US" b="0" i="0" dirty="0">
                <a:solidFill>
                  <a:srgbClr val="000000"/>
                </a:solidFill>
                <a:effectLst/>
                <a:latin typeface="Courier New" panose="02070309020205020404" pitchFamily="49" charset="0"/>
              </a:rPr>
              <a:t>A</a:t>
            </a:r>
            <a:r>
              <a:rPr lang="en-US" b="0" i="0" dirty="0">
                <a:solidFill>
                  <a:srgbClr val="000000"/>
                </a:solidFill>
                <a:effectLst/>
                <a:latin typeface="Raleway" pitchFamily="2" charset="0"/>
              </a:rPr>
              <a:t>, and 2 </a:t>
            </a:r>
            <a:r>
              <a:rPr lang="en-US" b="0" i="0" dirty="0">
                <a:solidFill>
                  <a:srgbClr val="000000"/>
                </a:solidFill>
                <a:effectLst/>
                <a:latin typeface="Courier New" panose="02070309020205020404" pitchFamily="49" charset="0"/>
              </a:rPr>
              <a:t>T</a:t>
            </a:r>
            <a:r>
              <a:rPr lang="en-US" b="0" i="0" dirty="0">
                <a:solidFill>
                  <a:srgbClr val="000000"/>
                </a:solidFill>
                <a:effectLst/>
                <a:latin typeface="Raleway" pitchFamily="2" charset="0"/>
              </a:rPr>
              <a:t>) and the final column (containing 6 </a:t>
            </a:r>
            <a:r>
              <a:rPr lang="en-US" b="0" i="0" dirty="0">
                <a:solidFill>
                  <a:srgbClr val="000000"/>
                </a:solidFill>
                <a:effectLst/>
                <a:latin typeface="Courier New" panose="02070309020205020404" pitchFamily="49" charset="0"/>
              </a:rPr>
              <a:t>C</a:t>
            </a:r>
            <a:r>
              <a:rPr lang="en-US" b="0" i="0" dirty="0">
                <a:solidFill>
                  <a:srgbClr val="000000"/>
                </a:solidFill>
                <a:effectLst/>
                <a:latin typeface="Raleway" pitchFamily="2" charset="0"/>
              </a:rPr>
              <a:t> and 4 </a:t>
            </a:r>
            <a:r>
              <a:rPr lang="en-US" b="0" i="0" dirty="0">
                <a:solidFill>
                  <a:srgbClr val="000000"/>
                </a:solidFill>
                <a:effectLst/>
                <a:latin typeface="Courier New" panose="02070309020205020404" pitchFamily="49" charset="0"/>
              </a:rPr>
              <a:t>T</a:t>
            </a:r>
            <a:r>
              <a:rPr lang="en-US" b="0" i="0" dirty="0">
                <a:solidFill>
                  <a:srgbClr val="000000"/>
                </a:solidFill>
                <a:effectLst/>
                <a:latin typeface="Raleway" pitchFamily="2" charset="0"/>
              </a:rPr>
              <a:t>) in the motif matrix reproduced below. Both of these columns contribute 4 to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a:t>
            </a:r>
          </a:p>
          <a:p>
            <a:pPr algn="l">
              <a:buNone/>
            </a:pPr>
            <a:r>
              <a:rPr lang="en-US" b="1" i="0" dirty="0">
                <a:solidFill>
                  <a:srgbClr val="FF4363"/>
                </a:solidFill>
                <a:effectLst/>
                <a:latin typeface="Raleway" pitchFamily="2" charset="0"/>
              </a:rPr>
              <a:t>STOP and Think:</a:t>
            </a:r>
            <a:r>
              <a:rPr lang="en-US" b="0" i="0" dirty="0">
                <a:solidFill>
                  <a:srgbClr val="000000"/>
                </a:solidFill>
                <a:effectLst/>
                <a:latin typeface="Raleway" pitchFamily="2" charset="0"/>
              </a:rPr>
              <a:t> Does scoring these two columns equally make sense biologically?</a:t>
            </a:r>
          </a:p>
          <a:p>
            <a:pPr>
              <a:buNone/>
            </a:pPr>
            <a:br>
              <a:rPr lang="en-US" dirty="0"/>
            </a:br>
            <a:endParaRPr lang="en-US" dirty="0"/>
          </a:p>
        </p:txBody>
      </p:sp>
    </p:spTree>
    <p:extLst>
      <p:ext uri="{BB962C8B-B14F-4D97-AF65-F5344CB8AC3E}">
        <p14:creationId xmlns:p14="http://schemas.microsoft.com/office/powerpoint/2010/main" val="3908421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6F341AAA-6CAC-FB25-3DF5-2395F06F9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704850"/>
            <a:ext cx="9525000" cy="4816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83335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86FC8-FBF9-F471-677E-316529018D66}"/>
              </a:ext>
            </a:extLst>
          </p:cNvPr>
          <p:cNvSpPr>
            <a:spLocks noGrp="1"/>
          </p:cNvSpPr>
          <p:nvPr>
            <p:ph type="title"/>
          </p:nvPr>
        </p:nvSpPr>
        <p:spPr/>
        <p:txBody>
          <a:bodyPr/>
          <a:lstStyle/>
          <a:p>
            <a:r>
              <a:rPr kumimoji="0" lang="en-US" sz="2400" b="0" i="0" u="none" strike="noStrike" kern="1200" cap="all" spc="0" normalizeH="0" baseline="0" noProof="0" dirty="0">
                <a:ln>
                  <a:noFill/>
                </a:ln>
                <a:solidFill>
                  <a:prstClr val="black"/>
                </a:solidFill>
                <a:effectLst/>
                <a:uLnTx/>
                <a:uFillTx/>
                <a:latin typeface="Gill Sans MT" panose="020B0502020104020203"/>
                <a:ea typeface="+mj-ea"/>
                <a:cs typeface="+mj-cs"/>
              </a:rPr>
              <a:t>Towards a more adequate motif scoring function</a:t>
            </a:r>
            <a:endParaRPr lang="en-US" dirty="0"/>
          </a:p>
        </p:txBody>
      </p:sp>
      <p:sp>
        <p:nvSpPr>
          <p:cNvPr id="3" name="Content Placeholder 2">
            <a:extLst>
              <a:ext uri="{FF2B5EF4-FFF2-40B4-BE49-F238E27FC236}">
                <a16:creationId xmlns:a16="http://schemas.microsoft.com/office/drawing/2014/main" id="{DA0B3F37-6A97-234D-8F90-17B48378EF0F}"/>
              </a:ext>
            </a:extLst>
          </p:cNvPr>
          <p:cNvSpPr>
            <a:spLocks noGrp="1"/>
          </p:cNvSpPr>
          <p:nvPr>
            <p:ph idx="1"/>
          </p:nvPr>
        </p:nvSpPr>
        <p:spPr/>
        <p:txBody>
          <a:bodyPr/>
          <a:lstStyle/>
          <a:p>
            <a:r>
              <a:rPr lang="en-US" b="0" i="0" dirty="0">
                <a:solidFill>
                  <a:srgbClr val="000000"/>
                </a:solidFill>
                <a:effectLst/>
                <a:latin typeface="Raleway" pitchFamily="2" charset="0"/>
              </a:rPr>
              <a:t>For many biological motifs, certain positions feature two nucleotides with roughly the same ability to bind to a transcription factor. For example, the sixteen nucleotide-long CSRE transcription factor binding site in the yeast species </a:t>
            </a:r>
            <a:r>
              <a:rPr lang="en-US" b="0" i="1" dirty="0">
                <a:solidFill>
                  <a:srgbClr val="000000"/>
                </a:solidFill>
                <a:effectLst/>
                <a:latin typeface="Raleway" pitchFamily="2" charset="0"/>
              </a:rPr>
              <a:t>S. cerevisiae</a:t>
            </a:r>
            <a:r>
              <a:rPr lang="en-US" b="0" i="0" dirty="0">
                <a:solidFill>
                  <a:srgbClr val="000000"/>
                </a:solidFill>
                <a:effectLst/>
                <a:latin typeface="Raleway" pitchFamily="2" charset="0"/>
              </a:rPr>
              <a:t> consists of five strongly conserved positions (1, 8, 9, 12, and 13) in addition to eleven weakly conserved positions, each of which features two nucleotides with similar frequencies </a:t>
            </a:r>
            <a:endParaRPr lang="en-US" dirty="0"/>
          </a:p>
        </p:txBody>
      </p:sp>
      <p:pic>
        <p:nvPicPr>
          <p:cNvPr id="10246" name="Picture 6">
            <a:extLst>
              <a:ext uri="{FF2B5EF4-FFF2-40B4-BE49-F238E27FC236}">
                <a16:creationId xmlns:a16="http://schemas.microsoft.com/office/drawing/2014/main" id="{A350E617-04A5-38EF-7C2A-0FC2662F0F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0716" y="4335607"/>
            <a:ext cx="952500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82152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19516-8C0F-AC70-029A-0E58402845EF}"/>
              </a:ext>
            </a:extLst>
          </p:cNvPr>
          <p:cNvSpPr>
            <a:spLocks noGrp="1"/>
          </p:cNvSpPr>
          <p:nvPr>
            <p:ph type="title"/>
          </p:nvPr>
        </p:nvSpPr>
        <p:spPr/>
        <p:txBody>
          <a:bodyPr/>
          <a:lstStyle/>
          <a:p>
            <a:r>
              <a:rPr kumimoji="0" lang="en-US" sz="2400" b="0" i="0" u="none" strike="noStrike" kern="1200" cap="all" spc="0" normalizeH="0" baseline="0" noProof="0" dirty="0">
                <a:ln>
                  <a:noFill/>
                </a:ln>
                <a:solidFill>
                  <a:prstClr val="black"/>
                </a:solidFill>
                <a:effectLst/>
                <a:uLnTx/>
                <a:uFillTx/>
                <a:latin typeface="Gill Sans MT" panose="020B0502020104020203"/>
                <a:ea typeface="+mj-ea"/>
                <a:cs typeface="+mj-cs"/>
              </a:rPr>
              <a:t>Towards a more adequate motif scoring function</a:t>
            </a:r>
            <a:endParaRPr lang="en-US" dirty="0"/>
          </a:p>
        </p:txBody>
      </p:sp>
      <p:sp>
        <p:nvSpPr>
          <p:cNvPr id="3" name="Content Placeholder 2">
            <a:extLst>
              <a:ext uri="{FF2B5EF4-FFF2-40B4-BE49-F238E27FC236}">
                <a16:creationId xmlns:a16="http://schemas.microsoft.com/office/drawing/2014/main" id="{027283D1-4FE2-7BE6-F97C-C2CD0556C0AD}"/>
              </a:ext>
            </a:extLst>
          </p:cNvPr>
          <p:cNvSpPr>
            <a:spLocks noGrp="1"/>
          </p:cNvSpPr>
          <p:nvPr>
            <p:ph idx="1"/>
          </p:nvPr>
        </p:nvSpPr>
        <p:spPr/>
        <p:txBody>
          <a:bodyPr/>
          <a:lstStyle/>
          <a:p>
            <a:r>
              <a:rPr lang="en-US" b="0" i="0" dirty="0">
                <a:solidFill>
                  <a:srgbClr val="000000"/>
                </a:solidFill>
                <a:effectLst/>
                <a:latin typeface="Raleway" pitchFamily="2" charset="0"/>
              </a:rPr>
              <a:t>Following this example, a more appropriate representation of the consensus string </a:t>
            </a:r>
            <a:r>
              <a:rPr lang="en-US" b="1" i="0" dirty="0">
                <a:solidFill>
                  <a:srgbClr val="66CC66"/>
                </a:solidFill>
                <a:effectLst/>
                <a:latin typeface="Courier New" panose="02070309020205020404" pitchFamily="49" charset="0"/>
              </a:rPr>
              <a:t>T</a:t>
            </a:r>
            <a:r>
              <a:rPr lang="en-US" b="1" i="0" dirty="0">
                <a:solidFill>
                  <a:srgbClr val="64B0F4"/>
                </a:solidFill>
                <a:effectLst/>
                <a:latin typeface="Courier New" panose="02070309020205020404" pitchFamily="49" charset="0"/>
              </a:rPr>
              <a:t>C</a:t>
            </a:r>
            <a:r>
              <a:rPr lang="en-US" b="1" i="0" dirty="0">
                <a:solidFill>
                  <a:srgbClr val="FF4363"/>
                </a:solidFill>
                <a:effectLst/>
                <a:latin typeface="Courier New" panose="02070309020205020404" pitchFamily="49" charset="0"/>
              </a:rPr>
              <a:t>GGGG</a:t>
            </a:r>
            <a:r>
              <a:rPr lang="en-US" b="1" i="0" dirty="0">
                <a:solidFill>
                  <a:srgbClr val="A03881"/>
                </a:solidFill>
                <a:effectLst/>
                <a:latin typeface="Courier New" panose="02070309020205020404" pitchFamily="49" charset="0"/>
              </a:rPr>
              <a:t>A</a:t>
            </a:r>
            <a:r>
              <a:rPr lang="en-US" b="1" i="0" dirty="0">
                <a:solidFill>
                  <a:srgbClr val="66CC66"/>
                </a:solidFill>
                <a:effectLst/>
                <a:latin typeface="Courier New" panose="02070309020205020404" pitchFamily="49" charset="0"/>
              </a:rPr>
              <a:t>TTT</a:t>
            </a:r>
            <a:r>
              <a:rPr lang="en-US" b="1" i="0" dirty="0">
                <a:solidFill>
                  <a:srgbClr val="64B0F4"/>
                </a:solidFill>
                <a:effectLst/>
                <a:latin typeface="Courier New" panose="02070309020205020404" pitchFamily="49" charset="0"/>
              </a:rPr>
              <a:t>CC</a:t>
            </a:r>
            <a:r>
              <a:rPr lang="en-US" b="0" i="0" dirty="0">
                <a:solidFill>
                  <a:srgbClr val="000000"/>
                </a:solidFill>
                <a:effectLst/>
                <a:latin typeface="Raleway" pitchFamily="2" charset="0"/>
              </a:rPr>
              <a:t> for the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binding sites should include viable alternatives to the most popular nucleotides in each column. For example, nucleotides with frequencies equal to or exceeding 0.4. In this sense, the last column (6 </a:t>
            </a:r>
            <a:r>
              <a:rPr lang="en-US" b="0" i="0" dirty="0">
                <a:solidFill>
                  <a:srgbClr val="000000"/>
                </a:solidFill>
                <a:effectLst/>
                <a:latin typeface="Courier New" panose="02070309020205020404" pitchFamily="49" charset="0"/>
              </a:rPr>
              <a:t>C</a:t>
            </a:r>
            <a:r>
              <a:rPr lang="en-US" b="0" i="0" dirty="0">
                <a:solidFill>
                  <a:srgbClr val="000000"/>
                </a:solidFill>
                <a:effectLst/>
                <a:latin typeface="Raleway" pitchFamily="2" charset="0"/>
              </a:rPr>
              <a:t>, 4 </a:t>
            </a:r>
            <a:r>
              <a:rPr lang="en-US" b="0" i="0" dirty="0">
                <a:solidFill>
                  <a:srgbClr val="000000"/>
                </a:solidFill>
                <a:effectLst/>
                <a:latin typeface="Courier New" panose="02070309020205020404" pitchFamily="49" charset="0"/>
              </a:rPr>
              <a:t>T</a:t>
            </a:r>
            <a:r>
              <a:rPr lang="en-US" b="0" i="0" dirty="0">
                <a:solidFill>
                  <a:srgbClr val="000000"/>
                </a:solidFill>
                <a:effectLst/>
                <a:latin typeface="Raleway" pitchFamily="2" charset="0"/>
              </a:rPr>
              <a:t>) in the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motif matrix (reproduced below) is “more conserved” than the 2nd column (6 </a:t>
            </a:r>
            <a:r>
              <a:rPr lang="en-US" b="0" i="0" dirty="0">
                <a:solidFill>
                  <a:srgbClr val="000000"/>
                </a:solidFill>
                <a:effectLst/>
                <a:latin typeface="Courier New" panose="02070309020205020404" pitchFamily="49" charset="0"/>
              </a:rPr>
              <a:t>C</a:t>
            </a:r>
            <a:r>
              <a:rPr lang="en-US" b="0" i="0" dirty="0">
                <a:solidFill>
                  <a:srgbClr val="000000"/>
                </a:solidFill>
                <a:effectLst/>
                <a:latin typeface="Raleway" pitchFamily="2" charset="0"/>
              </a:rPr>
              <a:t>, 2 </a:t>
            </a:r>
            <a:r>
              <a:rPr lang="en-US" b="0" i="0" dirty="0">
                <a:solidFill>
                  <a:srgbClr val="000000"/>
                </a:solidFill>
                <a:effectLst/>
                <a:latin typeface="Courier New" panose="02070309020205020404" pitchFamily="49" charset="0"/>
              </a:rPr>
              <a:t>A</a:t>
            </a:r>
            <a:r>
              <a:rPr lang="en-US" b="0" i="0" dirty="0">
                <a:solidFill>
                  <a:srgbClr val="000000"/>
                </a:solidFill>
                <a:effectLst/>
                <a:latin typeface="Raleway" pitchFamily="2" charset="0"/>
              </a:rPr>
              <a:t>, 2 </a:t>
            </a:r>
            <a:r>
              <a:rPr lang="en-US" b="0" i="0" dirty="0">
                <a:solidFill>
                  <a:srgbClr val="000000"/>
                </a:solidFill>
                <a:effectLst/>
                <a:latin typeface="Courier New" panose="02070309020205020404" pitchFamily="49" charset="0"/>
              </a:rPr>
              <a:t>T</a:t>
            </a:r>
            <a:r>
              <a:rPr lang="en-US" b="0" i="0" dirty="0">
                <a:solidFill>
                  <a:srgbClr val="000000"/>
                </a:solidFill>
                <a:effectLst/>
                <a:latin typeface="Raleway" pitchFamily="2" charset="0"/>
              </a:rPr>
              <a:t>) and should receive a lower score.</a:t>
            </a:r>
            <a:endParaRPr lang="en-US" dirty="0"/>
          </a:p>
        </p:txBody>
      </p:sp>
      <p:pic>
        <p:nvPicPr>
          <p:cNvPr id="11266" name="Picture 2">
            <a:extLst>
              <a:ext uri="{FF2B5EF4-FFF2-40B4-BE49-F238E27FC236}">
                <a16:creationId xmlns:a16="http://schemas.microsoft.com/office/drawing/2014/main" id="{AB10D72A-E099-1C70-097E-7E992F1BBA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8124" y="4384964"/>
            <a:ext cx="6875751" cy="2262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31019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5BBDA-E454-5A08-21A0-B0FDF19AFB7B}"/>
              </a:ext>
            </a:extLst>
          </p:cNvPr>
          <p:cNvSpPr>
            <a:spLocks noGrp="1"/>
          </p:cNvSpPr>
          <p:nvPr>
            <p:ph type="title"/>
          </p:nvPr>
        </p:nvSpPr>
        <p:spPr/>
        <p:txBody>
          <a:bodyPr/>
          <a:lstStyle/>
          <a:p>
            <a:r>
              <a:rPr lang="en-US" dirty="0"/>
              <a:t>Entropy and the motif logo</a:t>
            </a:r>
          </a:p>
        </p:txBody>
      </p:sp>
      <p:sp>
        <p:nvSpPr>
          <p:cNvPr id="3" name="Content Placeholder 2">
            <a:extLst>
              <a:ext uri="{FF2B5EF4-FFF2-40B4-BE49-F238E27FC236}">
                <a16:creationId xmlns:a16="http://schemas.microsoft.com/office/drawing/2014/main" id="{FAEE92F1-C150-E082-05E4-68AAA373C7A9}"/>
              </a:ext>
            </a:extLst>
          </p:cNvPr>
          <p:cNvSpPr>
            <a:spLocks noGrp="1"/>
          </p:cNvSpPr>
          <p:nvPr>
            <p:ph idx="1"/>
          </p:nvPr>
        </p:nvSpPr>
        <p:spPr/>
        <p:txBody>
          <a:bodyPr/>
          <a:lstStyle/>
          <a:p>
            <a:r>
              <a:rPr lang="en-US" b="0" i="0" dirty="0">
                <a:solidFill>
                  <a:srgbClr val="000000"/>
                </a:solidFill>
                <a:effectLst/>
                <a:latin typeface="Raleway" pitchFamily="2" charset="0"/>
              </a:rPr>
              <a:t>Every column of </a:t>
            </a:r>
            <a:r>
              <a:rPr lang="en-US" b="0" i="1" dirty="0">
                <a:solidFill>
                  <a:srgbClr val="000000"/>
                </a:solidFill>
                <a:effectLst/>
                <a:latin typeface="Raleway" pitchFamily="2" charset="0"/>
              </a:rPr>
              <a:t>Profile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corresponds to a </a:t>
            </a:r>
            <a:r>
              <a:rPr lang="en-US" b="1" i="0" dirty="0">
                <a:solidFill>
                  <a:srgbClr val="000000"/>
                </a:solidFill>
                <a:effectLst/>
                <a:latin typeface="Raleway" pitchFamily="2" charset="0"/>
              </a:rPr>
              <a:t>probability distribution</a:t>
            </a:r>
            <a:r>
              <a:rPr lang="en-US" b="0" i="0" dirty="0">
                <a:solidFill>
                  <a:srgbClr val="000000"/>
                </a:solidFill>
                <a:effectLst/>
                <a:latin typeface="Raleway" pitchFamily="2" charset="0"/>
              </a:rPr>
              <a:t>, or a collection of nonnegative numbers that sum to 1. For example, the 2nd column in the profile matrix for the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binding sites corresponds to the probabilities 0.2, 0.6, 0.0, and 0.2 for </a:t>
            </a:r>
            <a:r>
              <a:rPr lang="en-US" b="0" i="0" dirty="0">
                <a:solidFill>
                  <a:srgbClr val="000000"/>
                </a:solidFill>
                <a:effectLst/>
                <a:latin typeface="Courier New" panose="02070309020205020404" pitchFamily="49" charset="0"/>
              </a:rPr>
              <a:t>A</a:t>
            </a:r>
            <a:r>
              <a:rPr lang="en-US" b="0" i="0" dirty="0">
                <a:solidFill>
                  <a:srgbClr val="000000"/>
                </a:solidFill>
                <a:effectLst/>
                <a:latin typeface="Raleway" pitchFamily="2" charset="0"/>
              </a:rPr>
              <a:t>, </a:t>
            </a:r>
            <a:r>
              <a:rPr lang="en-US" b="0" i="0" dirty="0">
                <a:solidFill>
                  <a:srgbClr val="000000"/>
                </a:solidFill>
                <a:effectLst/>
                <a:latin typeface="Courier New" panose="02070309020205020404" pitchFamily="49" charset="0"/>
              </a:rPr>
              <a:t>C</a:t>
            </a:r>
            <a:r>
              <a:rPr lang="en-US" b="0" i="0" dirty="0">
                <a:solidFill>
                  <a:srgbClr val="000000"/>
                </a:solidFill>
                <a:effectLst/>
                <a:latin typeface="Raleway" pitchFamily="2" charset="0"/>
              </a:rPr>
              <a:t>, </a:t>
            </a:r>
            <a:r>
              <a:rPr lang="en-US" b="0" i="0" dirty="0">
                <a:solidFill>
                  <a:srgbClr val="000000"/>
                </a:solidFill>
                <a:effectLst/>
                <a:latin typeface="Courier New" panose="02070309020205020404" pitchFamily="49" charset="0"/>
              </a:rPr>
              <a:t>G</a:t>
            </a:r>
            <a:r>
              <a:rPr lang="en-US" b="0" i="0" dirty="0">
                <a:solidFill>
                  <a:srgbClr val="000000"/>
                </a:solidFill>
                <a:effectLst/>
                <a:latin typeface="Raleway" pitchFamily="2" charset="0"/>
              </a:rPr>
              <a:t>, and </a:t>
            </a:r>
            <a:r>
              <a:rPr lang="en-US" b="0" i="0" dirty="0">
                <a:solidFill>
                  <a:srgbClr val="000000"/>
                </a:solidFill>
                <a:effectLst/>
                <a:latin typeface="Courier New" panose="02070309020205020404" pitchFamily="49" charset="0"/>
              </a:rPr>
              <a:t>T</a:t>
            </a:r>
            <a:r>
              <a:rPr lang="en-US" b="0" i="0" dirty="0">
                <a:solidFill>
                  <a:srgbClr val="000000"/>
                </a:solidFill>
                <a:effectLst/>
                <a:latin typeface="Raleway" pitchFamily="2" charset="0"/>
              </a:rPr>
              <a:t>, respectivel</a:t>
            </a:r>
            <a:r>
              <a:rPr lang="en-US" dirty="0">
                <a:solidFill>
                  <a:srgbClr val="000000"/>
                </a:solidFill>
                <a:latin typeface="Raleway" pitchFamily="2" charset="0"/>
              </a:rPr>
              <a:t>y.</a:t>
            </a:r>
            <a:endParaRPr lang="fa-IR" b="0" i="0" dirty="0">
              <a:solidFill>
                <a:srgbClr val="000000"/>
              </a:solidFill>
              <a:effectLst/>
              <a:latin typeface="Raleway" pitchFamily="2" charset="0"/>
            </a:endParaRPr>
          </a:p>
          <a:p>
            <a:endParaRPr lang="en-US" dirty="0"/>
          </a:p>
        </p:txBody>
      </p:sp>
      <p:pic>
        <p:nvPicPr>
          <p:cNvPr id="12290" name="Picture 2">
            <a:extLst>
              <a:ext uri="{FF2B5EF4-FFF2-40B4-BE49-F238E27FC236}">
                <a16:creationId xmlns:a16="http://schemas.microsoft.com/office/drawing/2014/main" id="{27203E35-0888-6A2A-AD54-7A67A5589B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005" y="3662043"/>
            <a:ext cx="10740421" cy="1966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872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B4291-A23B-B8FE-9D06-3BE4E35598B1}"/>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Entropy and the motif logo</a:t>
            </a:r>
            <a:endParaRPr lang="en-US" dirty="0"/>
          </a:p>
        </p:txBody>
      </p:sp>
      <p:sp>
        <p:nvSpPr>
          <p:cNvPr id="5" name="Rectangle 2">
            <a:extLst>
              <a:ext uri="{FF2B5EF4-FFF2-40B4-BE49-F238E27FC236}">
                <a16:creationId xmlns:a16="http://schemas.microsoft.com/office/drawing/2014/main" id="{0CBBCF77-7E6F-31C8-B0DD-979874440857}"/>
              </a:ext>
            </a:extLst>
          </p:cNvPr>
          <p:cNvSpPr>
            <a:spLocks noGrp="1" noChangeArrowheads="1"/>
          </p:cNvSpPr>
          <p:nvPr>
            <p:ph idx="1"/>
          </p:nvPr>
        </p:nvSpPr>
        <p:spPr bwMode="auto">
          <a:xfrm>
            <a:off x="580028" y="2700781"/>
            <a:ext cx="1134637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Raleway" pitchFamily="2" charset="0"/>
              </a:rPr>
              <a:t>Entropy</a:t>
            </a:r>
            <a:r>
              <a:rPr kumimoji="0" lang="en-US" altLang="en-US" sz="1400" b="0" i="0" u="none" strike="noStrike" cap="none" normalizeH="0" baseline="0" dirty="0">
                <a:ln>
                  <a:noFill/>
                </a:ln>
                <a:solidFill>
                  <a:srgbClr val="000000"/>
                </a:solidFill>
                <a:effectLst/>
                <a:latin typeface="Raleway" pitchFamily="2" charset="0"/>
              </a:rPr>
              <a:t> is a measure of the uncertainty of a probability distribution (</a:t>
            </a:r>
            <a:r>
              <a:rPr kumimoji="0" lang="en-US" altLang="en-US" sz="1400" b="0" i="1" u="none" strike="noStrike" cap="none" normalizeH="0" baseline="0" dirty="0">
                <a:ln>
                  <a:noFill/>
                </a:ln>
                <a:solidFill>
                  <a:srgbClr val="000000"/>
                </a:solidFill>
                <a:effectLst/>
                <a:latin typeface="Raleway" pitchFamily="2" charset="0"/>
              </a:rPr>
              <a:t>p</a:t>
            </a:r>
            <a:r>
              <a:rPr kumimoji="0" lang="en-US" altLang="en-US" sz="1400" b="0" i="0" u="none" strike="noStrike" cap="none" normalizeH="0" baseline="-30000" dirty="0">
                <a:ln>
                  <a:noFill/>
                </a:ln>
                <a:solidFill>
                  <a:srgbClr val="000000"/>
                </a:solidFill>
                <a:effectLst/>
                <a:latin typeface="Raleway" pitchFamily="2" charset="0"/>
              </a:rPr>
              <a:t>1</a:t>
            </a:r>
            <a:r>
              <a:rPr kumimoji="0" lang="en-US" altLang="en-US" sz="1400" b="0" i="0" u="none" strike="noStrike" cap="none" normalizeH="0" baseline="0" dirty="0">
                <a:ln>
                  <a:noFill/>
                </a:ln>
                <a:solidFill>
                  <a:srgbClr val="000000"/>
                </a:solidFill>
                <a:effectLst/>
                <a:latin typeface="Raleway" pitchFamily="2" charset="0"/>
              </a:rPr>
              <a:t>, …, </a:t>
            </a:r>
            <a:r>
              <a:rPr kumimoji="0" lang="en-US" altLang="en-US" sz="1400" b="0" i="1" u="none" strike="noStrike" cap="none" normalizeH="0" baseline="0" dirty="0" err="1">
                <a:ln>
                  <a:noFill/>
                </a:ln>
                <a:solidFill>
                  <a:srgbClr val="000000"/>
                </a:solidFill>
                <a:effectLst/>
                <a:latin typeface="Raleway" pitchFamily="2" charset="0"/>
              </a:rPr>
              <a:t>p</a:t>
            </a:r>
            <a:r>
              <a:rPr kumimoji="0" lang="en-US" altLang="en-US" sz="1400" b="0" i="1" u="none" strike="noStrike" cap="none" normalizeH="0" baseline="-30000" dirty="0" err="1">
                <a:ln>
                  <a:noFill/>
                </a:ln>
                <a:solidFill>
                  <a:srgbClr val="000000"/>
                </a:solidFill>
                <a:effectLst/>
                <a:latin typeface="Raleway" pitchFamily="2" charset="0"/>
              </a:rPr>
              <a:t>N</a:t>
            </a:r>
            <a:r>
              <a:rPr kumimoji="0" lang="en-US" altLang="en-US" sz="1400" b="0" i="0" u="none" strike="noStrike" cap="none" normalizeH="0" baseline="0" dirty="0">
                <a:ln>
                  <a:noFill/>
                </a:ln>
                <a:solidFill>
                  <a:srgbClr val="000000"/>
                </a:solidFill>
                <a:effectLst/>
                <a:latin typeface="Raleway" pitchFamily="2" charset="0"/>
              </a:rPr>
              <a:t>), and is defined as follows: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rgbClr val="000000"/>
                </a:solidFill>
                <a:effectLst/>
                <a:latin typeface="Raleway" pitchFamily="2" charset="0"/>
              </a:rPr>
              <a:t>H</a:t>
            </a:r>
            <a:r>
              <a:rPr kumimoji="0" lang="en-US" altLang="en-US" sz="1400" b="0" i="0" u="none" strike="noStrike" cap="none" normalizeH="0" baseline="0" dirty="0">
                <a:ln>
                  <a:noFill/>
                </a:ln>
                <a:solidFill>
                  <a:srgbClr val="000000"/>
                </a:solidFill>
                <a:effectLst/>
                <a:latin typeface="Raleway" pitchFamily="2" charset="0"/>
              </a:rPr>
              <a:t>(</a:t>
            </a:r>
            <a:r>
              <a:rPr kumimoji="0" lang="en-US" altLang="en-US" sz="1400" b="0" i="1" u="none" strike="noStrike" cap="none" normalizeH="0" baseline="0" dirty="0">
                <a:ln>
                  <a:noFill/>
                </a:ln>
                <a:solidFill>
                  <a:srgbClr val="000000"/>
                </a:solidFill>
                <a:effectLst/>
                <a:latin typeface="Raleway" pitchFamily="2" charset="0"/>
              </a:rPr>
              <a:t>p</a:t>
            </a:r>
            <a:r>
              <a:rPr kumimoji="0" lang="en-US" altLang="en-US" sz="1400" b="0" i="0" u="none" strike="noStrike" cap="none" normalizeH="0" baseline="-30000" dirty="0">
                <a:ln>
                  <a:noFill/>
                </a:ln>
                <a:solidFill>
                  <a:srgbClr val="000000"/>
                </a:solidFill>
                <a:effectLst/>
                <a:latin typeface="Raleway" pitchFamily="2" charset="0"/>
              </a:rPr>
              <a:t>1</a:t>
            </a:r>
            <a:r>
              <a:rPr kumimoji="0" lang="en-US" altLang="en-US" sz="1400" b="0" i="0" u="none" strike="noStrike" cap="none" normalizeH="0" baseline="0" dirty="0">
                <a:ln>
                  <a:noFill/>
                </a:ln>
                <a:solidFill>
                  <a:srgbClr val="000000"/>
                </a:solidFill>
                <a:effectLst/>
                <a:latin typeface="Raleway" pitchFamily="2" charset="0"/>
              </a:rPr>
              <a:t>, ... </a:t>
            </a:r>
            <a:r>
              <a:rPr kumimoji="0" lang="en-US" altLang="en-US" sz="1400" b="0" i="1" u="none" strike="noStrike" cap="none" normalizeH="0" baseline="0" dirty="0" err="1">
                <a:ln>
                  <a:noFill/>
                </a:ln>
                <a:solidFill>
                  <a:srgbClr val="000000"/>
                </a:solidFill>
                <a:effectLst/>
                <a:latin typeface="Raleway" pitchFamily="2" charset="0"/>
              </a:rPr>
              <a:t>p</a:t>
            </a:r>
            <a:r>
              <a:rPr kumimoji="0" lang="en-US" altLang="en-US" sz="1400" b="0" i="1" u="none" strike="noStrike" cap="none" normalizeH="0" baseline="-30000" dirty="0" err="1">
                <a:ln>
                  <a:noFill/>
                </a:ln>
                <a:solidFill>
                  <a:srgbClr val="000000"/>
                </a:solidFill>
                <a:effectLst/>
                <a:latin typeface="Raleway" pitchFamily="2" charset="0"/>
              </a:rPr>
              <a:t>N</a:t>
            </a:r>
            <a:r>
              <a:rPr kumimoji="0" lang="en-US" altLang="en-US" sz="1400" b="0" i="0" u="none" strike="noStrike" cap="none" normalizeH="0" baseline="0" dirty="0">
                <a:ln>
                  <a:noFill/>
                </a:ln>
                <a:solidFill>
                  <a:srgbClr val="000000"/>
                </a:solidFill>
                <a:effectLst/>
                <a:latin typeface="Raleway" pitchFamily="2" charset="0"/>
              </a:rPr>
              <a:t>) = -</a:t>
            </a:r>
            <a:r>
              <a:rPr kumimoji="0" lang="en-US" altLang="en-US" sz="1400" b="0" i="0" u="none" strike="noStrike" cap="none" normalizeH="0" baseline="0" dirty="0" err="1">
                <a:ln>
                  <a:noFill/>
                </a:ln>
                <a:solidFill>
                  <a:srgbClr val="000000"/>
                </a:solidFill>
                <a:effectLst/>
                <a:latin typeface="Raleway" pitchFamily="2" charset="0"/>
              </a:rPr>
              <a:t>Σ</a:t>
            </a:r>
            <a:r>
              <a:rPr kumimoji="0" lang="en-US" altLang="en-US" sz="1400" b="0" i="1" u="none" strike="noStrike" cap="none" normalizeH="0" baseline="-30000" dirty="0" err="1">
                <a:ln>
                  <a:noFill/>
                </a:ln>
                <a:solidFill>
                  <a:srgbClr val="000000"/>
                </a:solidFill>
                <a:effectLst/>
                <a:latin typeface="Raleway" pitchFamily="2" charset="0"/>
              </a:rPr>
              <a:t>i</a:t>
            </a:r>
            <a:r>
              <a:rPr kumimoji="0" lang="en-US" altLang="en-US" sz="1400" b="0" i="0" u="none" strike="noStrike" cap="none" normalizeH="0" baseline="-30000" dirty="0">
                <a:ln>
                  <a:noFill/>
                </a:ln>
                <a:solidFill>
                  <a:srgbClr val="000000"/>
                </a:solidFill>
                <a:effectLst/>
                <a:latin typeface="Raleway" pitchFamily="2" charset="0"/>
              </a:rPr>
              <a:t>=1</a:t>
            </a:r>
            <a:r>
              <a:rPr kumimoji="0" lang="en-US" altLang="en-US" sz="1400" b="0" i="1" u="none" strike="noStrike" cap="none" normalizeH="0" baseline="30000" dirty="0">
                <a:ln>
                  <a:noFill/>
                </a:ln>
                <a:solidFill>
                  <a:srgbClr val="000000"/>
                </a:solidFill>
                <a:effectLst/>
                <a:latin typeface="Raleway" pitchFamily="2" charset="0"/>
              </a:rPr>
              <a:t>N </a:t>
            </a:r>
            <a:r>
              <a:rPr kumimoji="0" lang="en-US" altLang="en-US" sz="1400" b="0" i="1" u="none" strike="noStrike" cap="none" normalizeH="0" baseline="0" dirty="0">
                <a:ln>
                  <a:noFill/>
                </a:ln>
                <a:solidFill>
                  <a:srgbClr val="000000"/>
                </a:solidFill>
                <a:effectLst/>
                <a:latin typeface="Raleway" pitchFamily="2" charset="0"/>
              </a:rPr>
              <a:t>p</a:t>
            </a:r>
            <a:r>
              <a:rPr kumimoji="0" lang="en-US" altLang="en-US" sz="1400" b="0" i="1" u="none" strike="noStrike" cap="none" normalizeH="0" baseline="-30000" dirty="0">
                <a:ln>
                  <a:noFill/>
                </a:ln>
                <a:solidFill>
                  <a:srgbClr val="000000"/>
                </a:solidFill>
                <a:effectLst/>
                <a:latin typeface="Raleway" pitchFamily="2" charset="0"/>
              </a:rPr>
              <a:t>i</a:t>
            </a:r>
            <a:r>
              <a:rPr kumimoji="0" lang="en-US" altLang="en-US" sz="1400" b="0" i="0" u="none" strike="noStrike" cap="none" normalizeH="0" baseline="0" dirty="0">
                <a:ln>
                  <a:noFill/>
                </a:ln>
                <a:solidFill>
                  <a:srgbClr val="000000"/>
                </a:solidFill>
                <a:effectLst/>
                <a:latin typeface="Raleway" pitchFamily="2" charset="0"/>
              </a:rPr>
              <a:t> ·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a:t>
            </a:r>
            <a:r>
              <a:rPr kumimoji="0" lang="en-US" altLang="en-US" sz="1400" b="0" i="1" u="none" strike="noStrike" cap="none" normalizeH="0" baseline="0" dirty="0">
                <a:ln>
                  <a:noFill/>
                </a:ln>
                <a:solidFill>
                  <a:srgbClr val="000000"/>
                </a:solidFill>
                <a:effectLst/>
                <a:latin typeface="Raleway" pitchFamily="2" charset="0"/>
              </a:rPr>
              <a:t>p</a:t>
            </a:r>
            <a:r>
              <a:rPr kumimoji="0" lang="en-US" altLang="en-US" sz="1400" b="0" i="1" u="none" strike="noStrike" cap="none" normalizeH="0" baseline="-30000" dirty="0">
                <a:ln>
                  <a:noFill/>
                </a:ln>
                <a:solidFill>
                  <a:srgbClr val="000000"/>
                </a:solidFill>
                <a:effectLst/>
                <a:latin typeface="Raleway" pitchFamily="2" charset="0"/>
              </a:rPr>
              <a:t>i</a:t>
            </a:r>
            <a:endParaRPr kumimoji="0" lang="en-US" altLang="en-US" sz="1400" b="0" i="0" u="none" strike="noStrike" cap="none" normalizeH="0" baseline="0" dirty="0">
              <a:ln>
                <a:noFill/>
              </a:ln>
              <a:solidFill>
                <a:srgbClr val="000000"/>
              </a:solidFill>
              <a:effectLst/>
              <a:latin typeface="Raleway"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Raleway" pitchFamily="2" charset="0"/>
              </a:rPr>
              <a:t>For example, the entropy of the probability distribution (0.2, 0.6, 0.0, 0.2) corresponding to the 2nd column of the NF-</a:t>
            </a:r>
            <a:r>
              <a:rPr kumimoji="0" lang="en-US" altLang="en-US" sz="1400" b="0" i="0" u="none" strike="noStrike" cap="none" normalizeH="0" baseline="0" dirty="0" err="1">
                <a:ln>
                  <a:noFill/>
                </a:ln>
                <a:solidFill>
                  <a:srgbClr val="000000"/>
                </a:solidFill>
                <a:effectLst/>
                <a:latin typeface="Raleway" pitchFamily="2" charset="0"/>
              </a:rPr>
              <a:t>κB</a:t>
            </a:r>
            <a:r>
              <a:rPr kumimoji="0" lang="en-US" altLang="en-US" sz="1400" b="0" i="0" u="none" strike="noStrike" cap="none" normalizeH="0" baseline="0" dirty="0">
                <a:ln>
                  <a:noFill/>
                </a:ln>
                <a:solidFill>
                  <a:srgbClr val="000000"/>
                </a:solidFill>
                <a:effectLst/>
                <a:latin typeface="Raleway" pitchFamily="2" charset="0"/>
              </a:rPr>
              <a:t> profile matrix is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Raleway" pitchFamily="2" charset="0"/>
              </a:rPr>
              <a:t>-(0.2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(0.2) + 0.6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(0.6) + 0.0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(0.0) + 0.2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(0.2) ≈ 1.371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Raleway" pitchFamily="2" charset="0"/>
              </a:rPr>
              <a:t>whereas the entropy of the more conserved final column (0.0, 0.6, 0.0, 0.4) is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Raleway" pitchFamily="2" charset="0"/>
              </a:rPr>
              <a:t>-(0.0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(0.0) + 0.6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(0.6) + 0.0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(0.0) + 0.4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(0.4)) ≈ 0.971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Raleway" pitchFamily="2" charset="0"/>
              </a:rPr>
              <a:t>and the entropy of the very conserved 5th column (0.0, 0.0, 0.9, 0.1) is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Raleway" pitchFamily="2" charset="0"/>
              </a:rPr>
              <a:t>-(0.0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(0.0) + 0.0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(0.0) + 0.9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(0.9) + 0.1 log</a:t>
            </a:r>
            <a:r>
              <a:rPr kumimoji="0" lang="en-US" altLang="en-US" sz="1400" b="0" i="0" u="none" strike="noStrike" cap="none" normalizeH="0" baseline="-30000" dirty="0">
                <a:ln>
                  <a:noFill/>
                </a:ln>
                <a:solidFill>
                  <a:srgbClr val="000000"/>
                </a:solidFill>
                <a:effectLst/>
                <a:latin typeface="Raleway" pitchFamily="2" charset="0"/>
              </a:rPr>
              <a:t>2</a:t>
            </a:r>
            <a:r>
              <a:rPr kumimoji="0" lang="en-US" altLang="en-US" sz="1400" b="0" i="0" u="none" strike="noStrike" cap="none" normalizeH="0" baseline="0" dirty="0">
                <a:ln>
                  <a:noFill/>
                </a:ln>
                <a:solidFill>
                  <a:srgbClr val="000000"/>
                </a:solidFill>
                <a:effectLst/>
                <a:latin typeface="Raleway" pitchFamily="2" charset="0"/>
              </a:rPr>
              <a:t> (0.1) ) ≈ 0.467</a:t>
            </a:r>
          </a:p>
          <a:p>
            <a:pPr marL="0" marR="0" lvl="0" indent="0" algn="l" defTabSz="914400" rtl="0" eaLnBrk="0" fontAlgn="base" latinLnBrk="0" hangingPunct="0">
              <a:lnSpc>
                <a:spcPct val="100000"/>
              </a:lnSpc>
              <a:spcBef>
                <a:spcPct val="0"/>
              </a:spcBef>
              <a:spcAft>
                <a:spcPct val="0"/>
              </a:spcAft>
              <a:buClrTx/>
              <a:buSzTx/>
              <a:buFontTx/>
              <a:buNone/>
              <a:tabLst/>
            </a:pPr>
            <a:r>
              <a:rPr lang="en-US" sz="1200" b="1" i="0" dirty="0">
                <a:solidFill>
                  <a:srgbClr val="000000"/>
                </a:solidFill>
                <a:effectLst/>
                <a:latin typeface="Raleway" pitchFamily="2" charset="0"/>
              </a:rPr>
              <a:t>Note:</a:t>
            </a:r>
            <a:r>
              <a:rPr lang="en-US" sz="1200" b="0" i="0" dirty="0">
                <a:solidFill>
                  <a:srgbClr val="000000"/>
                </a:solidFill>
                <a:effectLst/>
                <a:latin typeface="Raleway" pitchFamily="2" charset="0"/>
              </a:rPr>
              <a:t> Technically, log</a:t>
            </a:r>
            <a:r>
              <a:rPr lang="en-US" sz="1200" b="0" i="0" baseline="-25000" dirty="0">
                <a:solidFill>
                  <a:srgbClr val="000000"/>
                </a:solidFill>
                <a:effectLst/>
                <a:latin typeface="Raleway" pitchFamily="2" charset="0"/>
              </a:rPr>
              <a:t>2</a:t>
            </a:r>
            <a:r>
              <a:rPr lang="en-US" sz="1200" b="0" i="0" dirty="0">
                <a:solidFill>
                  <a:srgbClr val="000000"/>
                </a:solidFill>
                <a:effectLst/>
                <a:latin typeface="Raleway" pitchFamily="2" charset="0"/>
              </a:rPr>
              <a:t>(0) is undefined, but in the computation of entropy, we assume that 0 · log</a:t>
            </a:r>
            <a:r>
              <a:rPr lang="en-US" sz="1200" b="0" i="0" baseline="-25000" dirty="0">
                <a:solidFill>
                  <a:srgbClr val="000000"/>
                </a:solidFill>
                <a:effectLst/>
                <a:latin typeface="Raleway" pitchFamily="2" charset="0"/>
              </a:rPr>
              <a:t>2</a:t>
            </a:r>
            <a:r>
              <a:rPr lang="en-US" sz="1200" b="0" i="0" dirty="0">
                <a:solidFill>
                  <a:srgbClr val="000000"/>
                </a:solidFill>
                <a:effectLst/>
                <a:latin typeface="Raleway" pitchFamily="2" charset="0"/>
              </a:rPr>
              <a:t>(0) is equal to 0.</a:t>
            </a:r>
            <a:endParaRPr kumimoji="0" lang="en-US" altLang="en-US" sz="1400" b="0" i="0" u="none" strike="noStrike" cap="none" normalizeH="0" baseline="0" dirty="0">
              <a:ln>
                <a:noFill/>
              </a:ln>
              <a:solidFill>
                <a:srgbClr val="000000"/>
              </a:solidFill>
              <a:effectLst/>
              <a:latin typeface="Raleway"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87630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7FB54-CB01-F386-137F-982BB389F6FA}"/>
              </a:ext>
            </a:extLst>
          </p:cNvPr>
          <p:cNvSpPr>
            <a:spLocks noGrp="1"/>
          </p:cNvSpPr>
          <p:nvPr>
            <p:ph type="title"/>
          </p:nvPr>
        </p:nvSpPr>
        <p:spPr/>
        <p:txBody>
          <a:bodyPr/>
          <a:lstStyle/>
          <a:p>
            <a:r>
              <a:rPr lang="en-US" dirty="0">
                <a:solidFill>
                  <a:prstClr val="black"/>
                </a:solidFill>
              </a:rPr>
              <a:t>Entropy and the motif logo</a:t>
            </a:r>
            <a:endParaRPr lang="en-US" dirty="0"/>
          </a:p>
        </p:txBody>
      </p:sp>
      <p:sp>
        <p:nvSpPr>
          <p:cNvPr id="3" name="Content Placeholder 2">
            <a:extLst>
              <a:ext uri="{FF2B5EF4-FFF2-40B4-BE49-F238E27FC236}">
                <a16:creationId xmlns:a16="http://schemas.microsoft.com/office/drawing/2014/main" id="{ADD8968A-91D0-26B7-7F4D-560FFFEA43BF}"/>
              </a:ext>
            </a:extLst>
          </p:cNvPr>
          <p:cNvSpPr>
            <a:spLocks noGrp="1"/>
          </p:cNvSpPr>
          <p:nvPr>
            <p:ph idx="1"/>
          </p:nvPr>
        </p:nvSpPr>
        <p:spPr/>
        <p:txBody>
          <a:bodyPr>
            <a:normAutofit fontScale="92500" lnSpcReduction="10000"/>
          </a:bodyPr>
          <a:lstStyle/>
          <a:p>
            <a:pPr algn="l">
              <a:buNone/>
            </a:pPr>
            <a:r>
              <a:rPr lang="en-US" b="1" i="0" dirty="0">
                <a:solidFill>
                  <a:srgbClr val="FF4363"/>
                </a:solidFill>
                <a:effectLst/>
                <a:latin typeface="Raleway" pitchFamily="2" charset="0"/>
              </a:rPr>
              <a:t>STOP and Think:</a:t>
            </a:r>
            <a:r>
              <a:rPr lang="en-US" b="0" i="0" dirty="0">
                <a:solidFill>
                  <a:srgbClr val="000000"/>
                </a:solidFill>
                <a:effectLst/>
                <a:latin typeface="Raleway" pitchFamily="2" charset="0"/>
              </a:rPr>
              <a:t> What are the maximum and minimum possible values for the entropy of a probability distribution containing four values?</a:t>
            </a:r>
          </a:p>
          <a:p>
            <a:pPr algn="l">
              <a:buNone/>
            </a:pPr>
            <a:r>
              <a:rPr lang="en-US" b="0" i="0" dirty="0">
                <a:solidFill>
                  <a:srgbClr val="000000"/>
                </a:solidFill>
                <a:effectLst/>
                <a:latin typeface="Raleway" pitchFamily="2" charset="0"/>
              </a:rPr>
              <a:t>The entropy of the completely conserved third column is 0, which is the minimum possible entropy. On the other hand, a column with equally-likely nucleotides (all probabilities equal to 1/4) has maximum possible entropy −4 · 1/4 · log</a:t>
            </a:r>
            <a:r>
              <a:rPr lang="en-US" b="0" i="0" baseline="-25000" dirty="0">
                <a:solidFill>
                  <a:srgbClr val="000000"/>
                </a:solidFill>
                <a:effectLst/>
                <a:latin typeface="Raleway" pitchFamily="2" charset="0"/>
              </a:rPr>
              <a:t>2</a:t>
            </a:r>
            <a:r>
              <a:rPr lang="en-US" b="0" i="0" dirty="0">
                <a:solidFill>
                  <a:srgbClr val="000000"/>
                </a:solidFill>
                <a:effectLst/>
                <a:latin typeface="Raleway" pitchFamily="2" charset="0"/>
              </a:rPr>
              <a:t>(1/4) = 2. In general, the more conserved the column, the smaller its entropy. Thus, entropy offers an improved method of scoring motif matrices: the </a:t>
            </a:r>
            <a:r>
              <a:rPr lang="en-US" b="1" i="0" dirty="0">
                <a:solidFill>
                  <a:srgbClr val="000000"/>
                </a:solidFill>
                <a:effectLst/>
                <a:latin typeface="Raleway" pitchFamily="2" charset="0"/>
              </a:rPr>
              <a:t>entropy</a:t>
            </a:r>
            <a:r>
              <a:rPr lang="en-US" b="0" i="0" dirty="0">
                <a:solidFill>
                  <a:srgbClr val="000000"/>
                </a:solidFill>
                <a:effectLst/>
                <a:latin typeface="Raleway" pitchFamily="2" charset="0"/>
              </a:rPr>
              <a:t> of a motif matrix is defined as the sum of the entropies of its columns. In this book, we will continue to use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for simplicity, but the entropy score is used more often in practice.</a:t>
            </a:r>
          </a:p>
          <a:p>
            <a:endParaRPr lang="en-US" dirty="0"/>
          </a:p>
        </p:txBody>
      </p:sp>
    </p:spTree>
    <p:extLst>
      <p:ext uri="{BB962C8B-B14F-4D97-AF65-F5344CB8AC3E}">
        <p14:creationId xmlns:p14="http://schemas.microsoft.com/office/powerpoint/2010/main" val="2169383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D31F3-38E2-CE9E-EBF7-6C276A4A17EF}"/>
              </a:ext>
            </a:extLst>
          </p:cNvPr>
          <p:cNvSpPr>
            <a:spLocks noGrp="1"/>
          </p:cNvSpPr>
          <p:nvPr>
            <p:ph type="title"/>
          </p:nvPr>
        </p:nvSpPr>
        <p:spPr/>
        <p:txBody>
          <a:bodyPr>
            <a:normAutofit fontScale="90000"/>
          </a:bodyPr>
          <a:lstStyle/>
          <a:p>
            <a:r>
              <a:rPr lang="en-US" b="1" i="0" dirty="0">
                <a:solidFill>
                  <a:srgbClr val="A03881"/>
                </a:solidFill>
                <a:effectLst/>
                <a:latin typeface="Raleway" pitchFamily="2" charset="0"/>
              </a:rPr>
              <a:t>Exercise Break:</a:t>
            </a:r>
            <a:r>
              <a:rPr lang="en-US" b="0" i="0" dirty="0">
                <a:solidFill>
                  <a:srgbClr val="000000"/>
                </a:solidFill>
                <a:effectLst/>
                <a:latin typeface="Raleway" pitchFamily="2" charset="0"/>
              </a:rPr>
              <a:t> Compute the entropy of the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motif matrix (reproduced below).</a:t>
            </a:r>
            <a:br>
              <a:rPr lang="en-US" b="0" i="0" dirty="0">
                <a:solidFill>
                  <a:srgbClr val="000000"/>
                </a:solidFill>
                <a:effectLst/>
                <a:latin typeface="Raleway" pitchFamily="2" charset="0"/>
              </a:rPr>
            </a:br>
            <a:br>
              <a:rPr lang="en-US" dirty="0"/>
            </a:br>
            <a:endParaRPr lang="en-US" dirty="0"/>
          </a:p>
        </p:txBody>
      </p:sp>
      <p:pic>
        <p:nvPicPr>
          <p:cNvPr id="14338" name="Picture 2">
            <a:extLst>
              <a:ext uri="{FF2B5EF4-FFF2-40B4-BE49-F238E27FC236}">
                <a16:creationId xmlns:a16="http://schemas.microsoft.com/office/drawing/2014/main" id="{2377C453-62A8-974F-D6C2-FA15CADB59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1212" y="2385579"/>
            <a:ext cx="8029575" cy="318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19206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64619-6703-4278-08DA-DD07F4F7DD27}"/>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Entropy and the motif logo</a:t>
            </a:r>
            <a:endParaRPr lang="en-US" dirty="0"/>
          </a:p>
        </p:txBody>
      </p:sp>
      <p:sp>
        <p:nvSpPr>
          <p:cNvPr id="3" name="Content Placeholder 2">
            <a:extLst>
              <a:ext uri="{FF2B5EF4-FFF2-40B4-BE49-F238E27FC236}">
                <a16:creationId xmlns:a16="http://schemas.microsoft.com/office/drawing/2014/main" id="{482077B7-A29E-1CF8-FD09-430932D9C8E3}"/>
              </a:ext>
            </a:extLst>
          </p:cNvPr>
          <p:cNvSpPr>
            <a:spLocks noGrp="1"/>
          </p:cNvSpPr>
          <p:nvPr>
            <p:ph idx="1"/>
          </p:nvPr>
        </p:nvSpPr>
        <p:spPr/>
        <p:txBody>
          <a:bodyPr/>
          <a:lstStyle/>
          <a:p>
            <a:r>
              <a:rPr lang="en-US" b="0" i="0" dirty="0">
                <a:solidFill>
                  <a:srgbClr val="000000"/>
                </a:solidFill>
                <a:effectLst/>
                <a:latin typeface="Raleway" pitchFamily="2" charset="0"/>
              </a:rPr>
              <a:t>Another application of entropy is the </a:t>
            </a:r>
            <a:r>
              <a:rPr lang="en-US" b="1" i="0" dirty="0">
                <a:solidFill>
                  <a:srgbClr val="000000"/>
                </a:solidFill>
                <a:effectLst/>
                <a:latin typeface="Raleway" pitchFamily="2" charset="0"/>
              </a:rPr>
              <a:t>motif logo</a:t>
            </a:r>
            <a:r>
              <a:rPr lang="en-US" b="0" i="0" dirty="0">
                <a:solidFill>
                  <a:srgbClr val="000000"/>
                </a:solidFill>
                <a:effectLst/>
                <a:latin typeface="Raleway" pitchFamily="2" charset="0"/>
              </a:rPr>
              <a:t>, a diagram for visualizing motif conservation that consists of a stack of letters at each position. We show a motif logo for the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motif matrix at the bottom. The relative sizes of letters indicate their frequency in the column. The total height of the letters in a column is based on the </a:t>
            </a:r>
            <a:r>
              <a:rPr lang="en-US" b="1" i="0" dirty="0">
                <a:solidFill>
                  <a:srgbClr val="000000"/>
                </a:solidFill>
                <a:effectLst/>
                <a:latin typeface="Raleway" pitchFamily="2" charset="0"/>
              </a:rPr>
              <a:t>information content</a:t>
            </a:r>
            <a:r>
              <a:rPr lang="en-US" b="0" i="0" dirty="0">
                <a:solidFill>
                  <a:srgbClr val="000000"/>
                </a:solidFill>
                <a:effectLst/>
                <a:latin typeface="Raleway" pitchFamily="2" charset="0"/>
              </a:rPr>
              <a:t> of the column, which is defined as 2 − </a:t>
            </a:r>
            <a:r>
              <a:rPr lang="en-US" b="0" i="1" dirty="0">
                <a:solidFill>
                  <a:srgbClr val="000000"/>
                </a:solidFill>
                <a:effectLst/>
                <a:latin typeface="Raleway" pitchFamily="2" charset="0"/>
              </a:rPr>
              <a:t>H</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
            </a:r>
            <a:r>
              <a:rPr lang="en-US" b="0" i="0" baseline="-25000" dirty="0">
                <a:solidFill>
                  <a:srgbClr val="000000"/>
                </a:solidFill>
                <a:effectLst/>
                <a:latin typeface="Raleway" pitchFamily="2" charset="0"/>
              </a:rPr>
              <a:t>1</a:t>
            </a:r>
            <a:r>
              <a:rPr lang="en-US" b="0" i="0" dirty="0">
                <a:solidFill>
                  <a:srgbClr val="000000"/>
                </a:solidFill>
                <a:effectLst/>
                <a:latin typeface="Raleway" pitchFamily="2" charset="0"/>
              </a:rPr>
              <a:t>, … , </a:t>
            </a:r>
            <a:r>
              <a:rPr lang="en-US" b="0" i="1" dirty="0" err="1">
                <a:solidFill>
                  <a:srgbClr val="000000"/>
                </a:solidFill>
                <a:effectLst/>
                <a:latin typeface="Raleway" pitchFamily="2" charset="0"/>
              </a:rPr>
              <a:t>p</a:t>
            </a:r>
            <a:r>
              <a:rPr lang="en-US" b="0" i="1" baseline="-25000" dirty="0" err="1">
                <a:solidFill>
                  <a:srgbClr val="000000"/>
                </a:solidFill>
                <a:effectLst/>
                <a:latin typeface="Raleway" pitchFamily="2" charset="0"/>
              </a:rPr>
              <a:t>N</a:t>
            </a:r>
            <a:r>
              <a:rPr lang="en-US" b="0" i="0" dirty="0">
                <a:solidFill>
                  <a:srgbClr val="000000"/>
                </a:solidFill>
                <a:effectLst/>
                <a:latin typeface="Raleway" pitchFamily="2" charset="0"/>
              </a:rPr>
              <a:t>). The lower the entropy, the higher the information content, meaning that tall columns in the motif logo are highly conserved.</a:t>
            </a:r>
            <a:endParaRPr lang="en-US" dirty="0"/>
          </a:p>
        </p:txBody>
      </p:sp>
    </p:spTree>
    <p:extLst>
      <p:ext uri="{BB962C8B-B14F-4D97-AF65-F5344CB8AC3E}">
        <p14:creationId xmlns:p14="http://schemas.microsoft.com/office/powerpoint/2010/main" val="96561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31FECB80-3E6A-F9D9-0B23-9C7E3A4B0D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0544" y="353291"/>
            <a:ext cx="5849744" cy="586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9093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DF32D-9341-8941-29D6-879D0111472E}"/>
              </a:ext>
            </a:extLst>
          </p:cNvPr>
          <p:cNvSpPr>
            <a:spLocks noGrp="1"/>
          </p:cNvSpPr>
          <p:nvPr>
            <p:ph type="title"/>
          </p:nvPr>
        </p:nvSpPr>
        <p:spPr/>
        <p:txBody>
          <a:bodyPr>
            <a:normAutofit/>
          </a:bodyPr>
          <a:lstStyle/>
          <a:p>
            <a:r>
              <a:rPr lang="en-US" sz="2800" dirty="0"/>
              <a:t>From Motif Finding to Finding a Median String</a:t>
            </a:r>
          </a:p>
        </p:txBody>
      </p:sp>
      <p:sp>
        <p:nvSpPr>
          <p:cNvPr id="3" name="Content Placeholder 2">
            <a:extLst>
              <a:ext uri="{FF2B5EF4-FFF2-40B4-BE49-F238E27FC236}">
                <a16:creationId xmlns:a16="http://schemas.microsoft.com/office/drawing/2014/main" id="{978B0CF6-DDA2-D303-08F1-3F8331B26120}"/>
              </a:ext>
            </a:extLst>
          </p:cNvPr>
          <p:cNvSpPr>
            <a:spLocks noGrp="1"/>
          </p:cNvSpPr>
          <p:nvPr>
            <p:ph idx="1"/>
          </p:nvPr>
        </p:nvSpPr>
        <p:spPr/>
        <p:txBody>
          <a:bodyPr>
            <a:normAutofit lnSpcReduction="10000"/>
          </a:bodyPr>
          <a:lstStyle/>
          <a:p>
            <a:pPr algn="ctr">
              <a:buNone/>
            </a:pPr>
            <a:r>
              <a:rPr lang="en-US" b="1" i="0" dirty="0">
                <a:solidFill>
                  <a:srgbClr val="000000"/>
                </a:solidFill>
                <a:effectLst/>
                <a:latin typeface="Raleway" pitchFamily="2" charset="0"/>
              </a:rPr>
              <a:t>The Motif Finding Problem</a:t>
            </a:r>
          </a:p>
          <a:p>
            <a:pPr algn="l">
              <a:buNone/>
            </a:pPr>
            <a:r>
              <a:rPr lang="en-US" b="0" i="0" dirty="0">
                <a:solidFill>
                  <a:srgbClr val="000000"/>
                </a:solidFill>
                <a:effectLst/>
                <a:latin typeface="Raleway" pitchFamily="2" charset="0"/>
              </a:rPr>
              <a:t>Now that we have a good grasp of scoring a collection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we are ready to formulate the Motif Finding Problem.</a:t>
            </a:r>
          </a:p>
          <a:p>
            <a:pPr algn="l">
              <a:buNone/>
            </a:pPr>
            <a:r>
              <a:rPr lang="en-US" b="1" i="0" dirty="0">
                <a:solidFill>
                  <a:srgbClr val="000000"/>
                </a:solidFill>
                <a:effectLst/>
                <a:latin typeface="Raleway" pitchFamily="2" charset="0"/>
              </a:rPr>
              <a:t>Motif Finding Problem:</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Given a collection of strings, find a set of k-</a:t>
            </a:r>
            <a:r>
              <a:rPr lang="en-US" b="0" i="1" dirty="0" err="1">
                <a:solidFill>
                  <a:srgbClr val="000000"/>
                </a:solidFill>
                <a:effectLst/>
                <a:latin typeface="Raleway" pitchFamily="2" charset="0"/>
              </a:rPr>
              <a:t>mers</a:t>
            </a:r>
            <a:r>
              <a:rPr lang="en-US" b="0" i="1" dirty="0">
                <a:solidFill>
                  <a:srgbClr val="000000"/>
                </a:solidFill>
                <a:effectLst/>
                <a:latin typeface="Raleway" pitchFamily="2" charset="0"/>
              </a:rPr>
              <a:t>, one from each string, that minimizes the score of the resulting motif.</a:t>
            </a:r>
            <a:endParaRPr lang="en-US" b="0" i="0" dirty="0">
              <a:solidFill>
                <a:srgbClr val="000000"/>
              </a:solidFill>
              <a:effectLst/>
              <a:latin typeface="Raleway" pitchFamily="2" charset="0"/>
            </a:endParaRPr>
          </a:p>
          <a:p>
            <a:pPr algn="l">
              <a:buFont typeface="Arial" panose="020B0604020202020204" pitchFamily="34" charset="0"/>
              <a:buChar char="•"/>
            </a:pPr>
            <a:r>
              <a:rPr lang="en-US" b="1" i="0" dirty="0">
                <a:solidFill>
                  <a:srgbClr val="000000"/>
                </a:solidFill>
                <a:effectLst/>
                <a:latin typeface="Raleway" pitchFamily="2" charset="0"/>
              </a:rPr>
              <a:t>Input:</a:t>
            </a:r>
            <a:r>
              <a:rPr lang="en-US" b="0" i="0" dirty="0">
                <a:solidFill>
                  <a:srgbClr val="000000"/>
                </a:solidFill>
                <a:effectLst/>
                <a:latin typeface="Raleway" pitchFamily="2" charset="0"/>
              </a:rPr>
              <a:t> A collection of strings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and an integer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p>
          <a:p>
            <a:pPr algn="l">
              <a:buFont typeface="Arial" panose="020B0604020202020204" pitchFamily="34" charset="0"/>
              <a:buChar char="•"/>
            </a:pPr>
            <a:r>
              <a:rPr lang="en-US" b="1" i="0" dirty="0">
                <a:solidFill>
                  <a:srgbClr val="000000"/>
                </a:solidFill>
                <a:effectLst/>
                <a:latin typeface="Raleway" pitchFamily="2" charset="0"/>
              </a:rPr>
              <a:t>Output:</a:t>
            </a:r>
            <a:r>
              <a:rPr lang="en-US" b="0" i="0" dirty="0">
                <a:solidFill>
                  <a:srgbClr val="000000"/>
                </a:solidFill>
                <a:effectLst/>
                <a:latin typeface="Raleway" pitchFamily="2" charset="0"/>
              </a:rPr>
              <a:t> A collection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one from each string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minimizing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among all possible choices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a:t>
            </a:r>
          </a:p>
          <a:p>
            <a:endParaRPr lang="en-US" dirty="0"/>
          </a:p>
        </p:txBody>
      </p:sp>
    </p:spTree>
    <p:extLst>
      <p:ext uri="{BB962C8B-B14F-4D97-AF65-F5344CB8AC3E}">
        <p14:creationId xmlns:p14="http://schemas.microsoft.com/office/powerpoint/2010/main" val="27964122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D0999-335F-4D26-728D-F11A69A05815}"/>
              </a:ext>
            </a:extLst>
          </p:cNvPr>
          <p:cNvSpPr>
            <a:spLocks noGrp="1"/>
          </p:cNvSpPr>
          <p:nvPr>
            <p:ph type="title"/>
          </p:nvPr>
        </p:nvSpPr>
        <p:spPr/>
        <p:txBody>
          <a:bodyPr/>
          <a:lstStyle/>
          <a:p>
            <a:r>
              <a:rPr lang="en-US" dirty="0"/>
              <a:t>The Motif Finding Problem</a:t>
            </a:r>
            <a:br>
              <a:rPr lang="en-US" dirty="0"/>
            </a:br>
            <a:endParaRPr lang="en-US" dirty="0"/>
          </a:p>
        </p:txBody>
      </p:sp>
      <p:sp>
        <p:nvSpPr>
          <p:cNvPr id="3" name="Content Placeholder 2">
            <a:extLst>
              <a:ext uri="{FF2B5EF4-FFF2-40B4-BE49-F238E27FC236}">
                <a16:creationId xmlns:a16="http://schemas.microsoft.com/office/drawing/2014/main" id="{AC7189AB-7135-18C2-2B0F-167C1BD86E89}"/>
              </a:ext>
            </a:extLst>
          </p:cNvPr>
          <p:cNvSpPr>
            <a:spLocks noGrp="1"/>
          </p:cNvSpPr>
          <p:nvPr>
            <p:ph idx="1"/>
          </p:nvPr>
        </p:nvSpPr>
        <p:spPr/>
        <p:txBody>
          <a:bodyPr/>
          <a:lstStyle/>
          <a:p>
            <a:r>
              <a:rPr lang="en-US" b="0" i="0" dirty="0">
                <a:solidFill>
                  <a:srgbClr val="000000"/>
                </a:solidFill>
                <a:effectLst/>
                <a:latin typeface="Raleway" pitchFamily="2" charset="0"/>
              </a:rPr>
              <a:t>A brute force algorithm for the Motif Finding Problem (referred to as </a:t>
            </a:r>
            <a:r>
              <a:rPr lang="en-US" b="1" i="0" dirty="0" err="1">
                <a:solidFill>
                  <a:srgbClr val="000000"/>
                </a:solidFill>
                <a:effectLst/>
                <a:latin typeface="Raleway" pitchFamily="2" charset="0"/>
              </a:rPr>
              <a:t>BruteForceMotifSearch</a:t>
            </a:r>
            <a:r>
              <a:rPr lang="en-US" b="0" i="0" dirty="0">
                <a:solidFill>
                  <a:srgbClr val="000000"/>
                </a:solidFill>
                <a:effectLst/>
                <a:latin typeface="Raleway" pitchFamily="2" charset="0"/>
              </a:rPr>
              <a:t>) considers every possible choice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from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(one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from each string of </a:t>
            </a:r>
            <a:r>
              <a:rPr lang="en-US" b="0" i="1" dirty="0">
                <a:solidFill>
                  <a:srgbClr val="000000"/>
                </a:solidFill>
                <a:effectLst/>
                <a:latin typeface="Raleway" pitchFamily="2" charset="0"/>
              </a:rPr>
              <a:t>n</a:t>
            </a:r>
            <a:r>
              <a:rPr lang="en-US" b="0" i="0" dirty="0">
                <a:solidFill>
                  <a:srgbClr val="000000"/>
                </a:solidFill>
                <a:effectLst/>
                <a:latin typeface="Raleway" pitchFamily="2" charset="0"/>
              </a:rPr>
              <a:t> nucleotides) and returns the collection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having minimum score. Because there are </a:t>
            </a:r>
            <a:r>
              <a:rPr lang="en-US" b="0" i="1" dirty="0">
                <a:solidFill>
                  <a:srgbClr val="000000"/>
                </a:solidFill>
                <a:effectLst/>
                <a:latin typeface="Raleway" pitchFamily="2" charset="0"/>
              </a:rPr>
              <a:t>n</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+ 1 choices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in each of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sequences, there are (</a:t>
            </a:r>
            <a:r>
              <a:rPr lang="en-US" b="0" i="1" dirty="0">
                <a:solidFill>
                  <a:srgbClr val="000000"/>
                </a:solidFill>
                <a:effectLst/>
                <a:latin typeface="Raleway" pitchFamily="2" charset="0"/>
              </a:rPr>
              <a:t>n</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+ 1)</a:t>
            </a:r>
            <a:r>
              <a:rPr lang="en-US" b="0" i="1" baseline="30000" dirty="0">
                <a:solidFill>
                  <a:srgbClr val="000000"/>
                </a:solidFill>
                <a:effectLst/>
                <a:latin typeface="Raleway" pitchFamily="2" charset="0"/>
              </a:rPr>
              <a:t>t</a:t>
            </a:r>
            <a:r>
              <a:rPr lang="en-US" b="0" i="0" dirty="0">
                <a:solidFill>
                  <a:srgbClr val="000000"/>
                </a:solidFill>
                <a:effectLst/>
                <a:latin typeface="Raleway" pitchFamily="2" charset="0"/>
              </a:rPr>
              <a:t> different ways to form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For each choice of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the algorithm calculates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which requires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steps. Thus, assuming that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is smaller than </a:t>
            </a:r>
            <a:r>
              <a:rPr lang="en-US" b="0" i="1" dirty="0">
                <a:solidFill>
                  <a:srgbClr val="000000"/>
                </a:solidFill>
                <a:effectLst/>
                <a:latin typeface="Raleway" pitchFamily="2" charset="0"/>
              </a:rPr>
              <a:t>n</a:t>
            </a:r>
            <a:r>
              <a:rPr lang="en-US" b="0" i="0" dirty="0">
                <a:solidFill>
                  <a:srgbClr val="000000"/>
                </a:solidFill>
                <a:effectLst/>
                <a:latin typeface="Raleway" pitchFamily="2" charset="0"/>
              </a:rPr>
              <a:t>, the overall running time of the algorithm is O(</a:t>
            </a:r>
            <a:r>
              <a:rPr lang="en-US" b="0" i="1" dirty="0" err="1">
                <a:solidFill>
                  <a:srgbClr val="000000"/>
                </a:solidFill>
                <a:effectLst/>
                <a:latin typeface="Raleway" pitchFamily="2" charset="0"/>
              </a:rPr>
              <a:t>n</a:t>
            </a:r>
            <a:r>
              <a:rPr lang="en-US" b="0" i="1" baseline="30000" dirty="0" err="1">
                <a:solidFill>
                  <a:srgbClr val="000000"/>
                </a:solidFill>
                <a:effectLst/>
                <a:latin typeface="Raleway" pitchFamily="2" charset="0"/>
              </a:rPr>
              <a:t>t</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We need to come up with a faster algorithm!</a:t>
            </a:r>
            <a:endParaRPr lang="en-US" dirty="0"/>
          </a:p>
        </p:txBody>
      </p:sp>
    </p:spTree>
    <p:extLst>
      <p:ext uri="{BB962C8B-B14F-4D97-AF65-F5344CB8AC3E}">
        <p14:creationId xmlns:p14="http://schemas.microsoft.com/office/powerpoint/2010/main" val="41278343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133C3-73D4-4A1D-5FE4-F7E23749EB21}"/>
              </a:ext>
            </a:extLst>
          </p:cNvPr>
          <p:cNvSpPr>
            <a:spLocks noGrp="1"/>
          </p:cNvSpPr>
          <p:nvPr>
            <p:ph type="title"/>
          </p:nvPr>
        </p:nvSpPr>
        <p:spPr/>
        <p:txBody>
          <a:bodyPr/>
          <a:lstStyle/>
          <a:p>
            <a:r>
              <a:rPr lang="en-US" dirty="0"/>
              <a:t>Reformulating the Motif Finding Problem</a:t>
            </a:r>
          </a:p>
        </p:txBody>
      </p:sp>
      <p:sp>
        <p:nvSpPr>
          <p:cNvPr id="3" name="Content Placeholder 2">
            <a:extLst>
              <a:ext uri="{FF2B5EF4-FFF2-40B4-BE49-F238E27FC236}">
                <a16:creationId xmlns:a16="http://schemas.microsoft.com/office/drawing/2014/main" id="{CCFF97E6-1A14-22F3-5EF0-B77D8A8A3DF2}"/>
              </a:ext>
            </a:extLst>
          </p:cNvPr>
          <p:cNvSpPr>
            <a:spLocks noGrp="1"/>
          </p:cNvSpPr>
          <p:nvPr>
            <p:ph idx="1"/>
          </p:nvPr>
        </p:nvSpPr>
        <p:spPr/>
        <p:txBody>
          <a:bodyPr>
            <a:normAutofit fontScale="92500" lnSpcReduction="20000"/>
          </a:bodyPr>
          <a:lstStyle/>
          <a:p>
            <a:r>
              <a:rPr lang="en-US" dirty="0"/>
              <a:t>Because </a:t>
            </a:r>
            <a:r>
              <a:rPr lang="en-US" dirty="0" err="1"/>
              <a:t>BruteForceMotifSearch</a:t>
            </a:r>
            <a:r>
              <a:rPr lang="en-US" dirty="0"/>
              <a:t> is inefficient, we will think about motif finding in a different way. Instead of exploring all Motifs in </a:t>
            </a:r>
            <a:r>
              <a:rPr lang="en-US" dirty="0" err="1"/>
              <a:t>Dna</a:t>
            </a:r>
            <a:r>
              <a:rPr lang="en-US" dirty="0"/>
              <a:t> and deriving the consensus string from Motifs afterwards:</a:t>
            </a:r>
          </a:p>
          <a:p>
            <a:endParaRPr lang="en-US" dirty="0"/>
          </a:p>
          <a:p>
            <a:r>
              <a:rPr lang="en-US" dirty="0"/>
              <a:t>Motifs → Consensus(Motifs),</a:t>
            </a:r>
          </a:p>
          <a:p>
            <a:r>
              <a:rPr lang="en-US" dirty="0"/>
              <a:t>we will explore all potential k-</a:t>
            </a:r>
            <a:r>
              <a:rPr lang="en-US" dirty="0" err="1"/>
              <a:t>mer</a:t>
            </a:r>
            <a:r>
              <a:rPr lang="en-US" dirty="0"/>
              <a:t> consensus strings first and then find the best possible collection Motifs for each consensus string:</a:t>
            </a:r>
          </a:p>
          <a:p>
            <a:endParaRPr lang="en-US" dirty="0"/>
          </a:p>
          <a:p>
            <a:r>
              <a:rPr lang="en-US" dirty="0"/>
              <a:t>Consensus(Motifs) → Motifs.</a:t>
            </a:r>
          </a:p>
        </p:txBody>
      </p:sp>
    </p:spTree>
    <p:extLst>
      <p:ext uri="{BB962C8B-B14F-4D97-AF65-F5344CB8AC3E}">
        <p14:creationId xmlns:p14="http://schemas.microsoft.com/office/powerpoint/2010/main" val="16073699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F8B8C-6EF0-BCA9-1A0F-D77CCD7B4BB4}"/>
              </a:ext>
            </a:extLst>
          </p:cNvPr>
          <p:cNvSpPr>
            <a:spLocks noGrp="1"/>
          </p:cNvSpPr>
          <p:nvPr>
            <p:ph type="title"/>
          </p:nvPr>
        </p:nvSpPr>
        <p:spPr/>
        <p:txBody>
          <a:bodyPr/>
          <a:lstStyle/>
          <a:p>
            <a:r>
              <a:rPr lang="en-US" dirty="0"/>
              <a:t>Reformulating the Motif Finding Problem</a:t>
            </a:r>
          </a:p>
        </p:txBody>
      </p:sp>
      <p:sp>
        <p:nvSpPr>
          <p:cNvPr id="3" name="Content Placeholder 2">
            <a:extLst>
              <a:ext uri="{FF2B5EF4-FFF2-40B4-BE49-F238E27FC236}">
                <a16:creationId xmlns:a16="http://schemas.microsoft.com/office/drawing/2014/main" id="{B92A891F-E643-DEC8-C1D5-0568F7909DB5}"/>
              </a:ext>
            </a:extLst>
          </p:cNvPr>
          <p:cNvSpPr>
            <a:spLocks noGrp="1"/>
          </p:cNvSpPr>
          <p:nvPr>
            <p:ph idx="1"/>
          </p:nvPr>
        </p:nvSpPr>
        <p:spPr/>
        <p:txBody>
          <a:bodyPr>
            <a:normAutofit fontScale="92500" lnSpcReduction="10000"/>
          </a:bodyPr>
          <a:lstStyle/>
          <a:p>
            <a:r>
              <a:rPr lang="en-US" b="0" i="0" dirty="0">
                <a:solidFill>
                  <a:srgbClr val="000000"/>
                </a:solidFill>
                <a:effectLst/>
                <a:latin typeface="Raleway" pitchFamily="2" charset="0"/>
              </a:rPr>
              <a:t>To reformulate the motif finding problem, we need to devise an alternative way of computing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Until now, we have computed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the number of lower case letters in the motif matrix, column-by-column. For example, we previously computed the score of the NF-</a:t>
            </a:r>
            <a:r>
              <a:rPr lang="en-US" b="0" i="0" dirty="0" err="1">
                <a:solidFill>
                  <a:srgbClr val="000000"/>
                </a:solidFill>
                <a:effectLst/>
                <a:latin typeface="Raleway" pitchFamily="2" charset="0"/>
              </a:rPr>
              <a:t>κB</a:t>
            </a:r>
            <a:r>
              <a:rPr lang="en-US" b="0" i="0" dirty="0">
                <a:solidFill>
                  <a:srgbClr val="000000"/>
                </a:solidFill>
                <a:effectLst/>
                <a:latin typeface="Raleway" pitchFamily="2" charset="0"/>
              </a:rPr>
              <a:t> motif matrix as 3 + 4 + 0 + 0 + 1 + 1 + 1 + 5 + 2 + 3 + 6 + 4 = 30. The figure below illustrates that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can just as easily be computed row-by-row (</a:t>
            </a:r>
            <a:r>
              <a:rPr lang="en-US" b="1" i="0" dirty="0">
                <a:solidFill>
                  <a:srgbClr val="000000"/>
                </a:solidFill>
                <a:effectLst/>
                <a:latin typeface="Raleway" pitchFamily="2" charset="0"/>
              </a:rPr>
              <a:t>3</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4</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2</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4</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3</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2</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3</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2</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4</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3</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30</a:t>
            </a:r>
            <a:r>
              <a:rPr lang="en-US" b="0" i="0" dirty="0">
                <a:solidFill>
                  <a:srgbClr val="000000"/>
                </a:solidFill>
                <a:effectLst/>
                <a:latin typeface="Raleway" pitchFamily="2" charset="0"/>
              </a:rPr>
              <a:t>). Note that each element in the latter sum represents the number of mismatches between the consensus string </a:t>
            </a:r>
            <a:r>
              <a:rPr lang="en-US" b="1" i="0" dirty="0">
                <a:solidFill>
                  <a:srgbClr val="66CC66"/>
                </a:solidFill>
                <a:effectLst/>
                <a:latin typeface="Courier New" panose="02070309020205020404" pitchFamily="49" charset="0"/>
              </a:rPr>
              <a:t>T</a:t>
            </a:r>
            <a:r>
              <a:rPr lang="en-US" b="1" i="0" dirty="0">
                <a:solidFill>
                  <a:srgbClr val="64B0F4"/>
                </a:solidFill>
                <a:effectLst/>
                <a:latin typeface="Courier New" panose="02070309020205020404" pitchFamily="49" charset="0"/>
              </a:rPr>
              <a:t>C</a:t>
            </a:r>
            <a:r>
              <a:rPr lang="en-US" b="1" i="0" dirty="0">
                <a:solidFill>
                  <a:srgbClr val="FF4363"/>
                </a:solidFill>
                <a:effectLst/>
                <a:latin typeface="Courier New" panose="02070309020205020404" pitchFamily="49" charset="0"/>
              </a:rPr>
              <a:t>GGGG</a:t>
            </a:r>
            <a:r>
              <a:rPr lang="en-US" b="1" i="0" dirty="0">
                <a:solidFill>
                  <a:srgbClr val="A03881"/>
                </a:solidFill>
                <a:effectLst/>
                <a:latin typeface="Courier New" panose="02070309020205020404" pitchFamily="49" charset="0"/>
              </a:rPr>
              <a:t>A</a:t>
            </a:r>
            <a:r>
              <a:rPr lang="en-US" b="1" i="0" dirty="0">
                <a:solidFill>
                  <a:srgbClr val="66CC66"/>
                </a:solidFill>
                <a:effectLst/>
                <a:latin typeface="Courier New" panose="02070309020205020404" pitchFamily="49" charset="0"/>
              </a:rPr>
              <a:t>TTT</a:t>
            </a:r>
            <a:r>
              <a:rPr lang="en-US" b="1" i="0" dirty="0">
                <a:solidFill>
                  <a:srgbClr val="64B0F4"/>
                </a:solidFill>
                <a:effectLst/>
                <a:latin typeface="Courier New" panose="02070309020205020404" pitchFamily="49" charset="0"/>
              </a:rPr>
              <a:t>CC</a:t>
            </a:r>
            <a:r>
              <a:rPr lang="en-US" b="0" i="0" dirty="0">
                <a:solidFill>
                  <a:srgbClr val="000000"/>
                </a:solidFill>
                <a:effectLst/>
                <a:latin typeface="Raleway" pitchFamily="2" charset="0"/>
              </a:rPr>
              <a:t> and a motif in the corresponding row of the motif matrix, i.e., the Hamming distance between these strings. For the first row of the motif matrix below,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a:t>
            </a:r>
            <a:r>
              <a:rPr lang="en-US" b="1" i="0" dirty="0">
                <a:solidFill>
                  <a:srgbClr val="66CC66"/>
                </a:solidFill>
                <a:effectLst/>
                <a:latin typeface="Courier New" panose="02070309020205020404" pitchFamily="49" charset="0"/>
              </a:rPr>
              <a:t>T</a:t>
            </a:r>
            <a:r>
              <a:rPr lang="en-US" b="1" i="0" dirty="0">
                <a:solidFill>
                  <a:srgbClr val="64B0F4"/>
                </a:solidFill>
                <a:effectLst/>
                <a:latin typeface="Courier New" panose="02070309020205020404" pitchFamily="49" charset="0"/>
              </a:rPr>
              <a:t>C</a:t>
            </a:r>
            <a:r>
              <a:rPr lang="en-US" b="1" i="0" dirty="0">
                <a:solidFill>
                  <a:srgbClr val="FF4363"/>
                </a:solidFill>
                <a:effectLst/>
                <a:latin typeface="Courier New" panose="02070309020205020404" pitchFamily="49" charset="0"/>
              </a:rPr>
              <a:t>GGGG</a:t>
            </a:r>
            <a:r>
              <a:rPr lang="en-US" b="1" i="0" dirty="0">
                <a:solidFill>
                  <a:srgbClr val="A03881"/>
                </a:solidFill>
                <a:effectLst/>
                <a:latin typeface="Courier New" panose="02070309020205020404" pitchFamily="49" charset="0"/>
              </a:rPr>
              <a:t>A</a:t>
            </a:r>
            <a:r>
              <a:rPr lang="en-US" b="1" i="0" dirty="0">
                <a:solidFill>
                  <a:srgbClr val="66CC66"/>
                </a:solidFill>
                <a:effectLst/>
                <a:latin typeface="Courier New" panose="02070309020205020404" pitchFamily="49" charset="0"/>
              </a:rPr>
              <a:t>TTT</a:t>
            </a:r>
            <a:r>
              <a:rPr lang="en-US" b="1" i="0" dirty="0">
                <a:solidFill>
                  <a:srgbClr val="64B0F4"/>
                </a:solidFill>
                <a:effectLst/>
                <a:latin typeface="Courier New" panose="02070309020205020404" pitchFamily="49" charset="0"/>
              </a:rPr>
              <a:t>CC</a:t>
            </a:r>
            <a:r>
              <a:rPr lang="en-US" b="0" i="0" dirty="0">
                <a:solidFill>
                  <a:srgbClr val="000000"/>
                </a:solidFill>
                <a:effectLst/>
                <a:latin typeface="Raleway" pitchFamily="2" charset="0"/>
              </a:rPr>
              <a:t>, </a:t>
            </a:r>
            <a:r>
              <a:rPr lang="en-US" b="1" i="0" dirty="0" err="1">
                <a:solidFill>
                  <a:srgbClr val="66CC66"/>
                </a:solidFill>
                <a:effectLst/>
                <a:latin typeface="Courier New" panose="02070309020205020404" pitchFamily="49" charset="0"/>
              </a:rPr>
              <a:t>T</a:t>
            </a:r>
            <a:r>
              <a:rPr lang="en-US" b="1" i="0" dirty="0" err="1">
                <a:solidFill>
                  <a:srgbClr val="64B0F4"/>
                </a:solidFill>
                <a:effectLst/>
                <a:latin typeface="Courier New" panose="02070309020205020404" pitchFamily="49" charset="0"/>
              </a:rPr>
              <a:t>C</a:t>
            </a:r>
            <a:r>
              <a:rPr lang="en-US" b="1" i="0" dirty="0" err="1">
                <a:solidFill>
                  <a:srgbClr val="FF4363"/>
                </a:solidFill>
                <a:effectLst/>
                <a:latin typeface="Courier New" panose="02070309020205020404" pitchFamily="49" charset="0"/>
              </a:rPr>
              <a:t>GGGG</a:t>
            </a:r>
            <a:r>
              <a:rPr lang="en-US" b="1" i="0" dirty="0" err="1">
                <a:solidFill>
                  <a:srgbClr val="000000"/>
                </a:solidFill>
                <a:effectLst/>
                <a:latin typeface="Courier New" panose="02070309020205020404" pitchFamily="49" charset="0"/>
              </a:rPr>
              <a:t>g</a:t>
            </a:r>
            <a:r>
              <a:rPr lang="en-US" b="1" i="0" dirty="0" err="1">
                <a:solidFill>
                  <a:srgbClr val="66CC66"/>
                </a:solidFill>
                <a:effectLst/>
                <a:latin typeface="Courier New" panose="02070309020205020404" pitchFamily="49" charset="0"/>
              </a:rPr>
              <a:t>TTT</a:t>
            </a:r>
            <a:r>
              <a:rPr lang="en-US" b="1" i="0" dirty="0" err="1">
                <a:solidFill>
                  <a:srgbClr val="000000"/>
                </a:solidFill>
                <a:effectLst/>
                <a:latin typeface="Courier New" panose="02070309020205020404" pitchFamily="49" charset="0"/>
              </a:rPr>
              <a:t>tt</a:t>
            </a:r>
            <a:r>
              <a:rPr lang="en-US" b="0" i="0" dirty="0">
                <a:solidFill>
                  <a:srgbClr val="000000"/>
                </a:solidFill>
                <a:effectLst/>
                <a:latin typeface="Raleway" pitchFamily="2" charset="0"/>
              </a:rPr>
              <a:t>) = </a:t>
            </a:r>
            <a:r>
              <a:rPr lang="en-US" b="1" i="0" dirty="0">
                <a:solidFill>
                  <a:srgbClr val="000000"/>
                </a:solidFill>
                <a:effectLst/>
                <a:latin typeface="Raleway" pitchFamily="2" charset="0"/>
              </a:rPr>
              <a:t>3</a:t>
            </a:r>
            <a:r>
              <a:rPr lang="en-US" b="0" i="0" dirty="0">
                <a:solidFill>
                  <a:srgbClr val="000000"/>
                </a:solidFill>
                <a:effectLst/>
                <a:latin typeface="Raleway" pitchFamily="2" charset="0"/>
              </a:rPr>
              <a:t>.</a:t>
            </a:r>
            <a:endParaRPr lang="en-US" dirty="0"/>
          </a:p>
        </p:txBody>
      </p:sp>
    </p:spTree>
    <p:extLst>
      <p:ext uri="{BB962C8B-B14F-4D97-AF65-F5344CB8AC3E}">
        <p14:creationId xmlns:p14="http://schemas.microsoft.com/office/powerpoint/2010/main" val="5953097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a:extLst>
              <a:ext uri="{FF2B5EF4-FFF2-40B4-BE49-F238E27FC236}">
                <a16:creationId xmlns:a16="http://schemas.microsoft.com/office/drawing/2014/main" id="{A7445A28-03F4-4C08-93FF-0846D40659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4159" y="0"/>
            <a:ext cx="7983682" cy="359265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ABE4BBF-29E5-D128-CB93-F16995033AE1}"/>
              </a:ext>
            </a:extLst>
          </p:cNvPr>
          <p:cNvSpPr txBox="1"/>
          <p:nvPr/>
        </p:nvSpPr>
        <p:spPr>
          <a:xfrm>
            <a:off x="2104159" y="3643745"/>
            <a:ext cx="7983683" cy="1754326"/>
          </a:xfrm>
          <a:prstGeom prst="rect">
            <a:avLst/>
          </a:prstGeom>
          <a:noFill/>
        </p:spPr>
        <p:txBody>
          <a:bodyPr wrap="square" rtlCol="0">
            <a:spAutoFit/>
          </a:bodyPr>
          <a:lstStyle/>
          <a:p>
            <a:r>
              <a:rPr lang="en-US" b="1" i="0">
                <a:solidFill>
                  <a:srgbClr val="000000"/>
                </a:solidFill>
                <a:effectLst/>
                <a:latin typeface="Raleway" pitchFamily="2" charset="0"/>
              </a:rPr>
              <a:t>Figure: </a:t>
            </a:r>
            <a:r>
              <a:rPr lang="en-US" b="0" i="0">
                <a:solidFill>
                  <a:srgbClr val="000000"/>
                </a:solidFill>
                <a:effectLst/>
                <a:latin typeface="Raleway" pitchFamily="2" charset="0"/>
              </a:rPr>
              <a:t>The motif and score matrices in addition to consensus string for the NF-κB binding sites. Rather than add the non-consensus elements (i.e., lower case nucleotides) column-by-column, we can add them row-by-row, as highlighted on the right of the motifs matrix. Each value at the end of a row corresponds to the Hamming distance between that row and the consensus string.</a:t>
            </a:r>
            <a:endParaRPr lang="en-US" dirty="0"/>
          </a:p>
        </p:txBody>
      </p:sp>
    </p:spTree>
    <p:extLst>
      <p:ext uri="{BB962C8B-B14F-4D97-AF65-F5344CB8AC3E}">
        <p14:creationId xmlns:p14="http://schemas.microsoft.com/office/powerpoint/2010/main" val="7096642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37C31-2017-D425-D8C6-C01CF7CCC1CD}"/>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Reformulating the Motif Finding Problem</a:t>
            </a:r>
            <a:endParaRPr lang="en-US" dirty="0"/>
          </a:p>
        </p:txBody>
      </p:sp>
      <p:sp>
        <p:nvSpPr>
          <p:cNvPr id="4" name="Rectangle 1">
            <a:extLst>
              <a:ext uri="{FF2B5EF4-FFF2-40B4-BE49-F238E27FC236}">
                <a16:creationId xmlns:a16="http://schemas.microsoft.com/office/drawing/2014/main" id="{25955793-79FF-8148-5162-5D86A81C4590}"/>
              </a:ext>
            </a:extLst>
          </p:cNvPr>
          <p:cNvSpPr>
            <a:spLocks noGrp="1" noChangeArrowheads="1"/>
          </p:cNvSpPr>
          <p:nvPr>
            <p:ph idx="1"/>
          </p:nvPr>
        </p:nvSpPr>
        <p:spPr bwMode="auto">
          <a:xfrm>
            <a:off x="1431830" y="2516646"/>
            <a:ext cx="932834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aleway" pitchFamily="2" charset="0"/>
              </a:rPr>
              <a:t>Given a collection of </a:t>
            </a:r>
            <a:r>
              <a:rPr kumimoji="0" lang="en-US" altLang="en-US" b="0" i="1" u="none" strike="noStrike" cap="none" normalizeH="0" baseline="0" dirty="0">
                <a:ln>
                  <a:noFill/>
                </a:ln>
                <a:solidFill>
                  <a:srgbClr val="000000"/>
                </a:solidFill>
                <a:effectLst/>
                <a:latin typeface="Raleway" pitchFamily="2" charset="0"/>
              </a:rPr>
              <a:t>k</a:t>
            </a:r>
            <a:r>
              <a:rPr kumimoji="0" lang="en-US" altLang="en-US" b="0" i="0" u="none" strike="noStrike" cap="none" normalizeH="0" baseline="0" dirty="0">
                <a:ln>
                  <a:noFill/>
                </a:ln>
                <a:solidFill>
                  <a:srgbClr val="000000"/>
                </a:solidFill>
                <a:effectLst/>
                <a:latin typeface="Raleway" pitchFamily="2" charset="0"/>
              </a:rPr>
              <a:t>-</a:t>
            </a:r>
            <a:r>
              <a:rPr kumimoji="0" lang="en-US" altLang="en-US" b="0" i="0" u="none" strike="noStrike" cap="none" normalizeH="0" baseline="0" dirty="0" err="1">
                <a:ln>
                  <a:noFill/>
                </a:ln>
                <a:solidFill>
                  <a:srgbClr val="000000"/>
                </a:solidFill>
                <a:effectLst/>
                <a:latin typeface="Raleway" pitchFamily="2" charset="0"/>
              </a:rPr>
              <a:t>mers</a:t>
            </a:r>
            <a:r>
              <a:rPr kumimoji="0" lang="en-US" altLang="en-US" b="0" i="0" u="none" strike="noStrike" cap="none" normalizeH="0" baseline="0" dirty="0">
                <a:ln>
                  <a:noFill/>
                </a:ln>
                <a:solidFill>
                  <a:srgbClr val="000000"/>
                </a:solidFill>
                <a:effectLst/>
                <a:latin typeface="Raleway" pitchFamily="2" charset="0"/>
              </a:rPr>
              <a:t> </a:t>
            </a:r>
            <a:r>
              <a:rPr kumimoji="0" lang="en-US" altLang="en-US" b="0" i="1" u="none" strike="noStrike" cap="none" normalizeH="0" baseline="0" dirty="0">
                <a:ln>
                  <a:noFill/>
                </a:ln>
                <a:solidFill>
                  <a:srgbClr val="000000"/>
                </a:solidFill>
                <a:effectLst/>
                <a:latin typeface="Raleway" pitchFamily="2" charset="0"/>
              </a:rPr>
              <a:t>Motifs</a:t>
            </a:r>
            <a:r>
              <a:rPr kumimoji="0" lang="en-US" altLang="en-US" b="0" i="0" u="none" strike="noStrike" cap="none" normalizeH="0" baseline="0" dirty="0">
                <a:ln>
                  <a:noFill/>
                </a:ln>
                <a:solidFill>
                  <a:srgbClr val="000000"/>
                </a:solidFill>
                <a:effectLst/>
                <a:latin typeface="Raleway" pitchFamily="2" charset="0"/>
              </a:rPr>
              <a:t> = {</a:t>
            </a:r>
            <a:r>
              <a:rPr kumimoji="0" lang="en-US" altLang="en-US" b="0" i="1" u="none" strike="noStrike" cap="none" normalizeH="0" baseline="0" dirty="0">
                <a:ln>
                  <a:noFill/>
                </a:ln>
                <a:solidFill>
                  <a:srgbClr val="000000"/>
                </a:solidFill>
                <a:effectLst/>
                <a:latin typeface="Raleway" pitchFamily="2" charset="0"/>
              </a:rPr>
              <a:t>Motif</a:t>
            </a:r>
            <a:r>
              <a:rPr kumimoji="0" lang="en-US" altLang="en-US" b="0" i="0" u="none" strike="noStrike" cap="none" normalizeH="0" baseline="-30000" dirty="0">
                <a:ln>
                  <a:noFill/>
                </a:ln>
                <a:solidFill>
                  <a:srgbClr val="000000"/>
                </a:solidFill>
                <a:effectLst/>
                <a:latin typeface="Raleway" pitchFamily="2" charset="0"/>
              </a:rPr>
              <a:t>1</a:t>
            </a:r>
            <a:r>
              <a:rPr kumimoji="0" lang="en-US" altLang="en-US" b="0" i="0" u="none" strike="noStrike" cap="none" normalizeH="0" baseline="0" dirty="0">
                <a:ln>
                  <a:noFill/>
                </a:ln>
                <a:solidFill>
                  <a:srgbClr val="000000"/>
                </a:solidFill>
                <a:effectLst/>
                <a:latin typeface="Raleway" pitchFamily="2" charset="0"/>
              </a:rPr>
              <a:t>, … , </a:t>
            </a:r>
            <a:r>
              <a:rPr kumimoji="0" lang="en-US" altLang="en-US" b="0" i="1" u="none" strike="noStrike" cap="none" normalizeH="0" baseline="0" dirty="0" err="1">
                <a:ln>
                  <a:noFill/>
                </a:ln>
                <a:solidFill>
                  <a:srgbClr val="000000"/>
                </a:solidFill>
                <a:effectLst/>
                <a:latin typeface="Raleway" pitchFamily="2" charset="0"/>
              </a:rPr>
              <a:t>Motif</a:t>
            </a:r>
            <a:r>
              <a:rPr kumimoji="0" lang="en-US" altLang="en-US" b="0" i="1" u="none" strike="noStrike" cap="none" normalizeH="0" baseline="-30000" dirty="0" err="1">
                <a:ln>
                  <a:noFill/>
                </a:ln>
                <a:solidFill>
                  <a:srgbClr val="000000"/>
                </a:solidFill>
                <a:effectLst/>
                <a:latin typeface="Raleway" pitchFamily="2" charset="0"/>
              </a:rPr>
              <a:t>t</a:t>
            </a:r>
            <a:r>
              <a:rPr kumimoji="0" lang="en-US" altLang="en-US" b="0" i="0" u="none" strike="noStrike" cap="none" normalizeH="0" baseline="0" dirty="0">
                <a:ln>
                  <a:noFill/>
                </a:ln>
                <a:solidFill>
                  <a:srgbClr val="000000"/>
                </a:solidFill>
                <a:effectLst/>
                <a:latin typeface="Raleway" pitchFamily="2" charset="0"/>
              </a:rPr>
              <a:t>} and a </a:t>
            </a:r>
            <a:r>
              <a:rPr kumimoji="0" lang="en-US" altLang="en-US" b="0" i="1" u="none" strike="noStrike" cap="none" normalizeH="0" baseline="0" dirty="0">
                <a:ln>
                  <a:noFill/>
                </a:ln>
                <a:solidFill>
                  <a:srgbClr val="000000"/>
                </a:solidFill>
                <a:effectLst/>
                <a:latin typeface="Raleway" pitchFamily="2" charset="0"/>
              </a:rPr>
              <a:t>k</a:t>
            </a:r>
            <a:r>
              <a:rPr kumimoji="0" lang="en-US" altLang="en-US" b="0" i="0" u="none" strike="noStrike" cap="none" normalizeH="0" baseline="0" dirty="0">
                <a:ln>
                  <a:noFill/>
                </a:ln>
                <a:solidFill>
                  <a:srgbClr val="000000"/>
                </a:solidFill>
                <a:effectLst/>
                <a:latin typeface="Raleway" pitchFamily="2" charset="0"/>
              </a:rPr>
              <a:t>-</a:t>
            </a:r>
            <a:r>
              <a:rPr kumimoji="0" lang="en-US" altLang="en-US" b="0" i="0" u="none" strike="noStrike" cap="none" normalizeH="0" baseline="0" dirty="0" err="1">
                <a:ln>
                  <a:noFill/>
                </a:ln>
                <a:solidFill>
                  <a:srgbClr val="000000"/>
                </a:solidFill>
                <a:effectLst/>
                <a:latin typeface="Raleway" pitchFamily="2" charset="0"/>
              </a:rPr>
              <a:t>mer</a:t>
            </a:r>
            <a:r>
              <a:rPr kumimoji="0" lang="en-US" altLang="en-US" b="0" i="0" u="none" strike="noStrike" cap="none" normalizeH="0" baseline="0" dirty="0">
                <a:ln>
                  <a:noFill/>
                </a:ln>
                <a:solidFill>
                  <a:srgbClr val="000000"/>
                </a:solidFill>
                <a:effectLst/>
                <a:latin typeface="Raleway" pitchFamily="2" charset="0"/>
              </a:rPr>
              <a:t> </a:t>
            </a:r>
            <a:r>
              <a:rPr kumimoji="0" lang="en-US" altLang="en-US" b="0" i="1" u="none" strike="noStrike" cap="none" normalizeH="0" baseline="0" dirty="0" err="1">
                <a:ln>
                  <a:noFill/>
                </a:ln>
                <a:solidFill>
                  <a:srgbClr val="000000"/>
                </a:solidFill>
                <a:effectLst/>
                <a:latin typeface="Raleway" pitchFamily="2" charset="0"/>
              </a:rPr>
              <a:t>Pattern</a:t>
            </a:r>
            <a:r>
              <a:rPr kumimoji="0" lang="en-US" altLang="en-US" b="0" i="0" u="none" strike="noStrike" cap="none" normalizeH="0" baseline="0" dirty="0" err="1">
                <a:ln>
                  <a:noFill/>
                </a:ln>
                <a:solidFill>
                  <a:srgbClr val="000000"/>
                </a:solidFill>
                <a:effectLst/>
                <a:latin typeface="Raleway" pitchFamily="2" charset="0"/>
              </a:rPr>
              <a:t>,we</a:t>
            </a:r>
            <a:r>
              <a:rPr kumimoji="0" lang="en-US" altLang="en-US" b="0" i="0" u="none" strike="noStrike" cap="none" normalizeH="0" baseline="0" dirty="0">
                <a:ln>
                  <a:noFill/>
                </a:ln>
                <a:solidFill>
                  <a:srgbClr val="000000"/>
                </a:solidFill>
                <a:effectLst/>
                <a:latin typeface="Raleway" pitchFamily="2" charset="0"/>
              </a:rPr>
              <a:t> now define </a:t>
            </a:r>
            <a:r>
              <a:rPr kumimoji="0" lang="en-US" altLang="en-US" b="0" i="1" u="none" strike="noStrike" cap="none" normalizeH="0" baseline="0" dirty="0">
                <a:ln>
                  <a:noFill/>
                </a:ln>
                <a:solidFill>
                  <a:srgbClr val="000000"/>
                </a:solidFill>
                <a:effectLst/>
                <a:latin typeface="Raleway" pitchFamily="2" charset="0"/>
              </a:rPr>
              <a:t>d</a:t>
            </a:r>
            <a:r>
              <a:rPr kumimoji="0" lang="en-US" altLang="en-US" b="0" i="0" u="none" strike="noStrike" cap="none" normalizeH="0" baseline="0" dirty="0">
                <a:ln>
                  <a:noFill/>
                </a:ln>
                <a:solidFill>
                  <a:srgbClr val="000000"/>
                </a:solidFill>
                <a:effectLst/>
                <a:latin typeface="Raleway" pitchFamily="2" charset="0"/>
              </a:rPr>
              <a:t>(</a:t>
            </a:r>
            <a:r>
              <a:rPr kumimoji="0" lang="en-US" altLang="en-US" b="0" i="1" u="none" strike="noStrike" cap="none" normalizeH="0" baseline="0" dirty="0">
                <a:ln>
                  <a:noFill/>
                </a:ln>
                <a:solidFill>
                  <a:srgbClr val="000000"/>
                </a:solidFill>
                <a:effectLst/>
                <a:latin typeface="Raleway" pitchFamily="2" charset="0"/>
              </a:rPr>
              <a:t>Pattern</a:t>
            </a:r>
            <a:r>
              <a:rPr kumimoji="0" lang="en-US" altLang="en-US" b="0" i="0" u="none" strike="noStrike" cap="none" normalizeH="0" baseline="0" dirty="0">
                <a:ln>
                  <a:noFill/>
                </a:ln>
                <a:solidFill>
                  <a:srgbClr val="000000"/>
                </a:solidFill>
                <a:effectLst/>
                <a:latin typeface="Raleway" pitchFamily="2" charset="0"/>
              </a:rPr>
              <a:t>, </a:t>
            </a:r>
            <a:r>
              <a:rPr kumimoji="0" lang="en-US" altLang="en-US" b="0" i="1" u="none" strike="noStrike" cap="none" normalizeH="0" baseline="0" dirty="0">
                <a:ln>
                  <a:noFill/>
                </a:ln>
                <a:solidFill>
                  <a:srgbClr val="000000"/>
                </a:solidFill>
                <a:effectLst/>
                <a:latin typeface="Raleway" pitchFamily="2" charset="0"/>
              </a:rPr>
              <a:t>Motifs</a:t>
            </a:r>
            <a:r>
              <a:rPr kumimoji="0" lang="en-US" altLang="en-US" b="0" i="0" u="none" strike="noStrike" cap="none" normalizeH="0" baseline="0" dirty="0">
                <a:ln>
                  <a:noFill/>
                </a:ln>
                <a:solidFill>
                  <a:srgbClr val="000000"/>
                </a:solidFill>
                <a:effectLst/>
                <a:latin typeface="Raleway" pitchFamily="2" charset="0"/>
              </a:rPr>
              <a:t>) as the sum of Hamming distances between </a:t>
            </a:r>
            <a:r>
              <a:rPr kumimoji="0" lang="en-US" altLang="en-US" b="0" i="1" u="none" strike="noStrike" cap="none" normalizeH="0" baseline="0" dirty="0">
                <a:ln>
                  <a:noFill/>
                </a:ln>
                <a:solidFill>
                  <a:srgbClr val="000000"/>
                </a:solidFill>
                <a:effectLst/>
                <a:latin typeface="Raleway" pitchFamily="2" charset="0"/>
              </a:rPr>
              <a:t>Pattern</a:t>
            </a:r>
            <a:r>
              <a:rPr kumimoji="0" lang="en-US" altLang="en-US" b="0" i="0" u="none" strike="noStrike" cap="none" normalizeH="0" baseline="0" dirty="0">
                <a:ln>
                  <a:noFill/>
                </a:ln>
                <a:solidFill>
                  <a:srgbClr val="000000"/>
                </a:solidFill>
                <a:effectLst/>
                <a:latin typeface="Raleway" pitchFamily="2" charset="0"/>
              </a:rPr>
              <a:t> and each </a:t>
            </a:r>
            <a:r>
              <a:rPr kumimoji="0" lang="en-US" altLang="en-US" b="0" i="1" u="none" strike="noStrike" cap="none" normalizeH="0" baseline="0" dirty="0" err="1">
                <a:ln>
                  <a:noFill/>
                </a:ln>
                <a:solidFill>
                  <a:srgbClr val="000000"/>
                </a:solidFill>
                <a:effectLst/>
                <a:latin typeface="Raleway" pitchFamily="2" charset="0"/>
              </a:rPr>
              <a:t>Motif</a:t>
            </a:r>
            <a:r>
              <a:rPr kumimoji="0" lang="en-US" altLang="en-US" b="0" i="1" u="none" strike="noStrike" cap="none" normalizeH="0" baseline="-30000" dirty="0" err="1">
                <a:ln>
                  <a:noFill/>
                </a:ln>
                <a:solidFill>
                  <a:srgbClr val="000000"/>
                </a:solidFill>
                <a:effectLst/>
                <a:latin typeface="Raleway" pitchFamily="2" charset="0"/>
              </a:rPr>
              <a:t>i</a:t>
            </a:r>
            <a:r>
              <a:rPr kumimoji="0" lang="en-US" altLang="en-US" b="0" i="0" u="none" strike="noStrike" cap="none" normalizeH="0" baseline="0" dirty="0">
                <a:ln>
                  <a:noFill/>
                </a:ln>
                <a:solidFill>
                  <a:srgbClr val="000000"/>
                </a:solidFill>
                <a:effectLst/>
                <a:latin typeface="Raleway" pitchFamily="2"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000000"/>
                </a:solidFill>
                <a:effectLst/>
                <a:latin typeface="Raleway" pitchFamily="2" charset="0"/>
              </a:rPr>
              <a:t>d</a:t>
            </a:r>
            <a:r>
              <a:rPr kumimoji="0" lang="en-US" altLang="en-US" b="0" i="0" u="none" strike="noStrike" cap="none" normalizeH="0" baseline="0" dirty="0">
                <a:ln>
                  <a:noFill/>
                </a:ln>
                <a:solidFill>
                  <a:srgbClr val="000000"/>
                </a:solidFill>
                <a:effectLst/>
                <a:latin typeface="Raleway" pitchFamily="2" charset="0"/>
              </a:rPr>
              <a:t>(</a:t>
            </a:r>
            <a:r>
              <a:rPr kumimoji="0" lang="en-US" altLang="en-US" b="0" i="1" u="none" strike="noStrike" cap="none" normalizeH="0" baseline="0" dirty="0">
                <a:ln>
                  <a:noFill/>
                </a:ln>
                <a:solidFill>
                  <a:srgbClr val="000000"/>
                </a:solidFill>
                <a:effectLst/>
                <a:latin typeface="Raleway" pitchFamily="2" charset="0"/>
              </a:rPr>
              <a:t>Pattern</a:t>
            </a:r>
            <a:r>
              <a:rPr kumimoji="0" lang="en-US" altLang="en-US" b="0" i="0" u="none" strike="noStrike" cap="none" normalizeH="0" baseline="0" dirty="0">
                <a:ln>
                  <a:noFill/>
                </a:ln>
                <a:solidFill>
                  <a:srgbClr val="000000"/>
                </a:solidFill>
                <a:effectLst/>
                <a:latin typeface="Raleway" pitchFamily="2" charset="0"/>
              </a:rPr>
              <a:t>, </a:t>
            </a:r>
            <a:r>
              <a:rPr kumimoji="0" lang="en-US" altLang="en-US" b="0" i="1" u="none" strike="noStrike" cap="none" normalizeH="0" baseline="0" dirty="0">
                <a:ln>
                  <a:noFill/>
                </a:ln>
                <a:solidFill>
                  <a:srgbClr val="000000"/>
                </a:solidFill>
                <a:effectLst/>
                <a:latin typeface="Raleway" pitchFamily="2" charset="0"/>
              </a:rPr>
              <a:t>Motifs</a:t>
            </a:r>
            <a:r>
              <a:rPr kumimoji="0" lang="en-US" altLang="en-US" b="0" i="0" u="none" strike="noStrike" cap="none" normalizeH="0" baseline="0" dirty="0">
                <a:ln>
                  <a:noFill/>
                </a:ln>
                <a:solidFill>
                  <a:srgbClr val="000000"/>
                </a:solidFill>
                <a:effectLst/>
                <a:latin typeface="Raleway" pitchFamily="2" charset="0"/>
              </a:rPr>
              <a:t>) = </a:t>
            </a:r>
            <a:r>
              <a:rPr kumimoji="0" lang="en-US" altLang="en-US" b="0" i="0" u="none" strike="noStrike" cap="none" normalizeH="0" baseline="0" dirty="0" err="1">
                <a:ln>
                  <a:noFill/>
                </a:ln>
                <a:solidFill>
                  <a:srgbClr val="000000"/>
                </a:solidFill>
                <a:effectLst/>
                <a:latin typeface="Raleway" pitchFamily="2" charset="0"/>
              </a:rPr>
              <a:t>Σ</a:t>
            </a:r>
            <a:r>
              <a:rPr kumimoji="0" lang="en-US" altLang="en-US" b="0" i="1" u="none" strike="noStrike" cap="none" normalizeH="0" baseline="-30000" dirty="0" err="1">
                <a:ln>
                  <a:noFill/>
                </a:ln>
                <a:solidFill>
                  <a:srgbClr val="000000"/>
                </a:solidFill>
                <a:effectLst/>
                <a:latin typeface="Raleway" pitchFamily="2" charset="0"/>
              </a:rPr>
              <a:t>i</a:t>
            </a:r>
            <a:r>
              <a:rPr kumimoji="0" lang="en-US" altLang="en-US" b="0" i="0" u="none" strike="noStrike" cap="none" normalizeH="0" baseline="-30000" dirty="0">
                <a:ln>
                  <a:noFill/>
                </a:ln>
                <a:solidFill>
                  <a:srgbClr val="000000"/>
                </a:solidFill>
                <a:effectLst/>
                <a:latin typeface="Raleway" pitchFamily="2" charset="0"/>
              </a:rPr>
              <a:t>=1</a:t>
            </a:r>
            <a:r>
              <a:rPr kumimoji="0" lang="en-US" altLang="en-US" b="0" i="1" u="none" strike="noStrike" cap="none" normalizeH="0" baseline="30000" dirty="0">
                <a:ln>
                  <a:noFill/>
                </a:ln>
                <a:solidFill>
                  <a:srgbClr val="000000"/>
                </a:solidFill>
                <a:effectLst/>
                <a:latin typeface="Raleway" pitchFamily="2" charset="0"/>
              </a:rPr>
              <a:t>t </a:t>
            </a:r>
            <a:r>
              <a:rPr kumimoji="0" lang="en-US" altLang="en-US" b="0" i="1" u="none" strike="noStrike" cap="none" normalizeH="0" baseline="0" dirty="0" err="1">
                <a:ln>
                  <a:noFill/>
                </a:ln>
                <a:solidFill>
                  <a:srgbClr val="000000"/>
                </a:solidFill>
                <a:effectLst/>
                <a:latin typeface="Raleway" pitchFamily="2" charset="0"/>
              </a:rPr>
              <a:t>HammingDistance</a:t>
            </a:r>
            <a:r>
              <a:rPr kumimoji="0" lang="en-US" altLang="en-US" b="0" i="0" u="none" strike="noStrike" cap="none" normalizeH="0" baseline="0" dirty="0">
                <a:ln>
                  <a:noFill/>
                </a:ln>
                <a:solidFill>
                  <a:srgbClr val="000000"/>
                </a:solidFill>
                <a:effectLst/>
                <a:latin typeface="Raleway" pitchFamily="2" charset="0"/>
              </a:rPr>
              <a:t>(</a:t>
            </a:r>
            <a:r>
              <a:rPr kumimoji="0" lang="en-US" altLang="en-US" b="0" i="1" u="none" strike="noStrike" cap="none" normalizeH="0" baseline="0" dirty="0">
                <a:ln>
                  <a:noFill/>
                </a:ln>
                <a:solidFill>
                  <a:srgbClr val="000000"/>
                </a:solidFill>
                <a:effectLst/>
                <a:latin typeface="Raleway" pitchFamily="2" charset="0"/>
              </a:rPr>
              <a:t>Pattern</a:t>
            </a:r>
            <a:r>
              <a:rPr kumimoji="0" lang="en-US" altLang="en-US" b="0" i="0" u="none" strike="noStrike" cap="none" normalizeH="0" baseline="0" dirty="0">
                <a:ln>
                  <a:noFill/>
                </a:ln>
                <a:solidFill>
                  <a:srgbClr val="000000"/>
                </a:solidFill>
                <a:effectLst/>
                <a:latin typeface="Raleway" pitchFamily="2" charset="0"/>
              </a:rPr>
              <a:t>, </a:t>
            </a:r>
            <a:r>
              <a:rPr kumimoji="0" lang="en-US" altLang="en-US" b="0" i="1" u="none" strike="noStrike" cap="none" normalizeH="0" baseline="0" dirty="0" err="1">
                <a:ln>
                  <a:noFill/>
                </a:ln>
                <a:solidFill>
                  <a:srgbClr val="000000"/>
                </a:solidFill>
                <a:effectLst/>
                <a:latin typeface="Raleway" pitchFamily="2" charset="0"/>
              </a:rPr>
              <a:t>Motif</a:t>
            </a:r>
            <a:r>
              <a:rPr kumimoji="0" lang="en-US" altLang="en-US" b="0" i="1" u="none" strike="noStrike" cap="none" normalizeH="0" baseline="-30000" dirty="0" err="1">
                <a:ln>
                  <a:noFill/>
                </a:ln>
                <a:solidFill>
                  <a:srgbClr val="000000"/>
                </a:solidFill>
                <a:effectLst/>
                <a:latin typeface="Raleway" pitchFamily="2" charset="0"/>
              </a:rPr>
              <a:t>i</a:t>
            </a:r>
            <a:r>
              <a:rPr kumimoji="0" lang="en-US" altLang="en-US" b="0" i="0" u="none" strike="noStrike" cap="none" normalizeH="0" baseline="0" dirty="0">
                <a:ln>
                  <a:noFill/>
                </a:ln>
                <a:solidFill>
                  <a:srgbClr val="000000"/>
                </a:solidFill>
                <a:effectLst/>
                <a:latin typeface="Raleway"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90075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2CD84-9076-3EEF-3402-B0847854B46C}"/>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Reformulating the Motif Finding Problem</a:t>
            </a:r>
            <a:endParaRPr lang="en-US" dirty="0"/>
          </a:p>
        </p:txBody>
      </p:sp>
      <p:sp>
        <p:nvSpPr>
          <p:cNvPr id="4" name="Rectangle 1">
            <a:extLst>
              <a:ext uri="{FF2B5EF4-FFF2-40B4-BE49-F238E27FC236}">
                <a16:creationId xmlns:a16="http://schemas.microsoft.com/office/drawing/2014/main" id="{4FB4CAB1-C206-B060-7E93-3B6A2B528DD2}"/>
              </a:ext>
            </a:extLst>
          </p:cNvPr>
          <p:cNvSpPr>
            <a:spLocks noGrp="1" noChangeArrowheads="1"/>
          </p:cNvSpPr>
          <p:nvPr>
            <p:ph idx="1"/>
          </p:nvPr>
        </p:nvSpPr>
        <p:spPr bwMode="auto">
          <a:xfrm>
            <a:off x="1284738" y="2309937"/>
            <a:ext cx="9936956"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Raleway" pitchFamily="2" charset="0"/>
              </a:rPr>
              <a:t>Because </a:t>
            </a:r>
            <a:r>
              <a:rPr kumimoji="0" lang="en-US" altLang="en-US" sz="1600" b="0" i="1" u="none" strike="noStrike" cap="none" normalizeH="0" baseline="0" dirty="0">
                <a:ln>
                  <a:noFill/>
                </a:ln>
                <a:solidFill>
                  <a:srgbClr val="000000"/>
                </a:solidFill>
                <a:effectLst/>
                <a:latin typeface="Raleway" pitchFamily="2" charset="0"/>
              </a:rPr>
              <a:t>Score</a:t>
            </a:r>
            <a:r>
              <a:rPr kumimoji="0" lang="en-US" altLang="en-US" sz="1600" b="0" i="0" u="none" strike="noStrike" cap="none" normalizeH="0" baseline="0" dirty="0">
                <a:ln>
                  <a:noFill/>
                </a:ln>
                <a:solidFill>
                  <a:srgbClr val="000000"/>
                </a:solidFill>
                <a:effectLst/>
                <a:latin typeface="Raleway" pitchFamily="2" charset="0"/>
              </a:rPr>
              <a:t>(</a:t>
            </a:r>
            <a:r>
              <a:rPr kumimoji="0" lang="en-US" altLang="en-US" sz="1600" b="0" i="1" u="none" strike="noStrike" cap="none" normalizeH="0" baseline="0" dirty="0">
                <a:ln>
                  <a:noFill/>
                </a:ln>
                <a:solidFill>
                  <a:srgbClr val="000000"/>
                </a:solidFill>
                <a:effectLst/>
                <a:latin typeface="Raleway" pitchFamily="2" charset="0"/>
              </a:rPr>
              <a:t>Motifs</a:t>
            </a:r>
            <a:r>
              <a:rPr kumimoji="0" lang="en-US" altLang="en-US" sz="1600" b="0" i="0" u="none" strike="noStrike" cap="none" normalizeH="0" baseline="0" dirty="0">
                <a:ln>
                  <a:noFill/>
                </a:ln>
                <a:solidFill>
                  <a:srgbClr val="000000"/>
                </a:solidFill>
                <a:effectLst/>
                <a:latin typeface="Raleway" pitchFamily="2" charset="0"/>
              </a:rPr>
              <a:t>) corresponds to counting the lower case elements of </a:t>
            </a:r>
            <a:r>
              <a:rPr kumimoji="0" lang="en-US" altLang="en-US" sz="1600" b="0" i="1" u="none" strike="noStrike" cap="none" normalizeH="0" baseline="0" dirty="0">
                <a:ln>
                  <a:noFill/>
                </a:ln>
                <a:solidFill>
                  <a:srgbClr val="000000"/>
                </a:solidFill>
                <a:effectLst/>
                <a:latin typeface="Raleway" pitchFamily="2" charset="0"/>
              </a:rPr>
              <a:t>Motifs</a:t>
            </a:r>
            <a:r>
              <a:rPr kumimoji="0" lang="en-US" altLang="en-US" sz="1600" b="0" i="0" u="none" strike="noStrike" cap="none" normalizeH="0" baseline="0" dirty="0">
                <a:ln>
                  <a:noFill/>
                </a:ln>
                <a:solidFill>
                  <a:srgbClr val="000000"/>
                </a:solidFill>
                <a:effectLst/>
                <a:latin typeface="Raleway" pitchFamily="2" charset="0"/>
              </a:rPr>
              <a:t> column-by-column and </a:t>
            </a:r>
            <a:r>
              <a:rPr kumimoji="0" lang="en-US" altLang="en-US" sz="1600" b="0" i="1" u="none" strike="noStrike" cap="none" normalizeH="0" baseline="0" dirty="0">
                <a:ln>
                  <a:noFill/>
                </a:ln>
                <a:solidFill>
                  <a:srgbClr val="000000"/>
                </a:solidFill>
                <a:effectLst/>
                <a:latin typeface="Raleway" pitchFamily="2" charset="0"/>
              </a:rPr>
              <a:t>d</a:t>
            </a:r>
            <a:r>
              <a:rPr kumimoji="0" lang="en-US" altLang="en-US" sz="1600" b="0" i="0" u="none" strike="noStrike" cap="none" normalizeH="0" baseline="0" dirty="0">
                <a:ln>
                  <a:noFill/>
                </a:ln>
                <a:solidFill>
                  <a:srgbClr val="000000"/>
                </a:solidFill>
                <a:effectLst/>
                <a:latin typeface="Raleway" pitchFamily="2" charset="0"/>
              </a:rPr>
              <a:t>(</a:t>
            </a:r>
            <a:r>
              <a:rPr kumimoji="0" lang="en-US" altLang="en-US" sz="1600" b="0" i="1" u="none" strike="noStrike" cap="none" normalizeH="0" baseline="0" dirty="0">
                <a:ln>
                  <a:noFill/>
                </a:ln>
                <a:solidFill>
                  <a:srgbClr val="000000"/>
                </a:solidFill>
                <a:effectLst/>
                <a:latin typeface="Raleway" pitchFamily="2" charset="0"/>
              </a:rPr>
              <a:t>Consensus</a:t>
            </a:r>
            <a:r>
              <a:rPr kumimoji="0" lang="en-US" altLang="en-US" sz="1600" b="0" i="0" u="none" strike="noStrike" cap="none" normalizeH="0" baseline="0" dirty="0">
                <a:ln>
                  <a:noFill/>
                </a:ln>
                <a:solidFill>
                  <a:srgbClr val="000000"/>
                </a:solidFill>
                <a:effectLst/>
                <a:latin typeface="Raleway" pitchFamily="2" charset="0"/>
              </a:rPr>
              <a:t>(</a:t>
            </a:r>
            <a:r>
              <a:rPr kumimoji="0" lang="en-US" altLang="en-US" sz="1600" b="0" i="1" u="none" strike="noStrike" cap="none" normalizeH="0" baseline="0" dirty="0">
                <a:ln>
                  <a:noFill/>
                </a:ln>
                <a:solidFill>
                  <a:srgbClr val="000000"/>
                </a:solidFill>
                <a:effectLst/>
                <a:latin typeface="Raleway" pitchFamily="2" charset="0"/>
              </a:rPr>
              <a:t>Motifs</a:t>
            </a:r>
            <a:r>
              <a:rPr kumimoji="0" lang="en-US" altLang="en-US" sz="1600" b="0" i="0" u="none" strike="noStrike" cap="none" normalizeH="0" baseline="0" dirty="0">
                <a:ln>
                  <a:noFill/>
                </a:ln>
                <a:solidFill>
                  <a:srgbClr val="000000"/>
                </a:solidFill>
                <a:effectLst/>
                <a:latin typeface="Raleway" pitchFamily="2" charset="0"/>
              </a:rPr>
              <a:t>), </a:t>
            </a:r>
            <a:r>
              <a:rPr kumimoji="0" lang="en-US" altLang="en-US" sz="1600" b="0" i="1" u="none" strike="noStrike" cap="none" normalizeH="0" baseline="0" dirty="0">
                <a:ln>
                  <a:noFill/>
                </a:ln>
                <a:solidFill>
                  <a:srgbClr val="000000"/>
                </a:solidFill>
                <a:effectLst/>
                <a:latin typeface="Raleway" pitchFamily="2" charset="0"/>
              </a:rPr>
              <a:t>Motifs</a:t>
            </a:r>
            <a:r>
              <a:rPr kumimoji="0" lang="en-US" altLang="en-US" sz="1600" b="0" i="0" u="none" strike="noStrike" cap="none" normalizeH="0" baseline="0" dirty="0">
                <a:ln>
                  <a:noFill/>
                </a:ln>
                <a:solidFill>
                  <a:srgbClr val="000000"/>
                </a:solidFill>
                <a:effectLst/>
                <a:latin typeface="Raleway" pitchFamily="2" charset="0"/>
              </a:rPr>
              <a:t>) corresponds to counting these elements row-by-row, we obtain that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rgbClr val="000000"/>
                </a:solidFill>
                <a:effectLst/>
                <a:latin typeface="Raleway" pitchFamily="2" charset="0"/>
              </a:rPr>
              <a:t>Score</a:t>
            </a:r>
            <a:r>
              <a:rPr kumimoji="0" lang="en-US" altLang="en-US" sz="1600" b="0" i="0" u="none" strike="noStrike" cap="none" normalizeH="0" baseline="0" dirty="0">
                <a:ln>
                  <a:noFill/>
                </a:ln>
                <a:solidFill>
                  <a:srgbClr val="000000"/>
                </a:solidFill>
                <a:effectLst/>
                <a:latin typeface="Raleway" pitchFamily="2" charset="0"/>
              </a:rPr>
              <a:t>(</a:t>
            </a:r>
            <a:r>
              <a:rPr kumimoji="0" lang="en-US" altLang="en-US" sz="1600" b="0" i="1" u="none" strike="noStrike" cap="none" normalizeH="0" baseline="0" dirty="0">
                <a:ln>
                  <a:noFill/>
                </a:ln>
                <a:solidFill>
                  <a:srgbClr val="000000"/>
                </a:solidFill>
                <a:effectLst/>
                <a:latin typeface="Raleway" pitchFamily="2" charset="0"/>
              </a:rPr>
              <a:t>Motifs</a:t>
            </a:r>
            <a:r>
              <a:rPr kumimoji="0" lang="en-US" altLang="en-US" sz="1600" b="0" i="0" u="none" strike="noStrike" cap="none" normalizeH="0" baseline="0" dirty="0">
                <a:ln>
                  <a:noFill/>
                </a:ln>
                <a:solidFill>
                  <a:srgbClr val="000000"/>
                </a:solidFill>
                <a:effectLst/>
                <a:latin typeface="Raleway" pitchFamily="2" charset="0"/>
              </a:rPr>
              <a:t>) = </a:t>
            </a:r>
            <a:r>
              <a:rPr kumimoji="0" lang="en-US" altLang="en-US" sz="1600" b="0" i="1" u="none" strike="noStrike" cap="none" normalizeH="0" baseline="0" dirty="0">
                <a:ln>
                  <a:noFill/>
                </a:ln>
                <a:solidFill>
                  <a:srgbClr val="000000"/>
                </a:solidFill>
                <a:effectLst/>
                <a:latin typeface="Raleway" pitchFamily="2" charset="0"/>
              </a:rPr>
              <a:t>d</a:t>
            </a:r>
            <a:r>
              <a:rPr kumimoji="0" lang="en-US" altLang="en-US" sz="1600" b="0" i="0" u="none" strike="noStrike" cap="none" normalizeH="0" baseline="0" dirty="0">
                <a:ln>
                  <a:noFill/>
                </a:ln>
                <a:solidFill>
                  <a:srgbClr val="000000"/>
                </a:solidFill>
                <a:effectLst/>
                <a:latin typeface="Raleway" pitchFamily="2" charset="0"/>
              </a:rPr>
              <a:t>(</a:t>
            </a:r>
            <a:r>
              <a:rPr kumimoji="0" lang="en-US" altLang="en-US" sz="1600" b="0" i="1" u="none" strike="noStrike" cap="none" normalizeH="0" baseline="0" dirty="0">
                <a:ln>
                  <a:noFill/>
                </a:ln>
                <a:solidFill>
                  <a:srgbClr val="000000"/>
                </a:solidFill>
                <a:effectLst/>
                <a:latin typeface="Raleway" pitchFamily="2" charset="0"/>
              </a:rPr>
              <a:t>Consensus</a:t>
            </a:r>
            <a:r>
              <a:rPr kumimoji="0" lang="en-US" altLang="en-US" sz="1600" b="0" i="0" u="none" strike="noStrike" cap="none" normalizeH="0" baseline="0" dirty="0">
                <a:ln>
                  <a:noFill/>
                </a:ln>
                <a:solidFill>
                  <a:srgbClr val="000000"/>
                </a:solidFill>
                <a:effectLst/>
                <a:latin typeface="Raleway" pitchFamily="2" charset="0"/>
              </a:rPr>
              <a:t>(</a:t>
            </a:r>
            <a:r>
              <a:rPr kumimoji="0" lang="en-US" altLang="en-US" sz="1600" b="0" i="1" u="none" strike="noStrike" cap="none" normalizeH="0" baseline="0" dirty="0">
                <a:ln>
                  <a:noFill/>
                </a:ln>
                <a:solidFill>
                  <a:srgbClr val="000000"/>
                </a:solidFill>
                <a:effectLst/>
                <a:latin typeface="Raleway" pitchFamily="2" charset="0"/>
              </a:rPr>
              <a:t>Motifs</a:t>
            </a:r>
            <a:r>
              <a:rPr kumimoji="0" lang="en-US" altLang="en-US" sz="1600" b="0" i="0" u="none" strike="noStrike" cap="none" normalizeH="0" baseline="0" dirty="0">
                <a:ln>
                  <a:noFill/>
                </a:ln>
                <a:solidFill>
                  <a:srgbClr val="000000"/>
                </a:solidFill>
                <a:effectLst/>
                <a:latin typeface="Raleway" pitchFamily="2" charset="0"/>
              </a:rPr>
              <a:t>), </a:t>
            </a:r>
            <a:r>
              <a:rPr kumimoji="0" lang="en-US" altLang="en-US" sz="1600" b="0" i="1" u="none" strike="noStrike" cap="none" normalizeH="0" baseline="0" dirty="0">
                <a:ln>
                  <a:noFill/>
                </a:ln>
                <a:solidFill>
                  <a:srgbClr val="000000"/>
                </a:solidFill>
                <a:effectLst/>
                <a:latin typeface="Raleway" pitchFamily="2" charset="0"/>
              </a:rPr>
              <a:t>Motifs</a:t>
            </a:r>
            <a:r>
              <a:rPr kumimoji="0" lang="en-US" altLang="en-US" sz="1600" b="0" i="0" u="none" strike="noStrike" cap="none" normalizeH="0" baseline="0" dirty="0">
                <a:ln>
                  <a:noFill/>
                </a:ln>
                <a:solidFill>
                  <a:srgbClr val="000000"/>
                </a:solidFill>
                <a:effectLst/>
                <a:latin typeface="Raleway"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Raleway" pitchFamily="2" charset="0"/>
              </a:rPr>
              <a:t>This equation gives us an idea. Instead of searching for a collection of </a:t>
            </a:r>
            <a:r>
              <a:rPr kumimoji="0" lang="en-US" altLang="en-US" sz="1600" b="0" i="1" u="none" strike="noStrike" cap="none" normalizeH="0" baseline="0" dirty="0">
                <a:ln>
                  <a:noFill/>
                </a:ln>
                <a:solidFill>
                  <a:srgbClr val="000000"/>
                </a:solidFill>
                <a:effectLst/>
                <a:latin typeface="Raleway" pitchFamily="2" charset="0"/>
              </a:rPr>
              <a:t>k</a:t>
            </a:r>
            <a:r>
              <a:rPr kumimoji="0" lang="en-US" altLang="en-US" sz="1600" b="0" i="0" u="none" strike="noStrike" cap="none" normalizeH="0" baseline="0" dirty="0">
                <a:ln>
                  <a:noFill/>
                </a:ln>
                <a:solidFill>
                  <a:srgbClr val="000000"/>
                </a:solidFill>
                <a:effectLst/>
                <a:latin typeface="Raleway" pitchFamily="2" charset="0"/>
              </a:rPr>
              <a:t>-</a:t>
            </a:r>
            <a:r>
              <a:rPr kumimoji="0" lang="en-US" altLang="en-US" sz="1600" b="0" i="0" u="none" strike="noStrike" cap="none" normalizeH="0" baseline="0" dirty="0" err="1">
                <a:ln>
                  <a:noFill/>
                </a:ln>
                <a:solidFill>
                  <a:srgbClr val="000000"/>
                </a:solidFill>
                <a:effectLst/>
                <a:latin typeface="Raleway" pitchFamily="2" charset="0"/>
              </a:rPr>
              <a:t>mers</a:t>
            </a:r>
            <a:r>
              <a:rPr kumimoji="0" lang="en-US" altLang="en-US" sz="1600" b="0" i="0" u="none" strike="noStrike" cap="none" normalizeH="0" baseline="0" dirty="0">
                <a:ln>
                  <a:noFill/>
                </a:ln>
                <a:solidFill>
                  <a:srgbClr val="000000"/>
                </a:solidFill>
                <a:effectLst/>
                <a:latin typeface="Raleway" pitchFamily="2" charset="0"/>
              </a:rPr>
              <a:t> </a:t>
            </a:r>
            <a:r>
              <a:rPr kumimoji="0" lang="en-US" altLang="en-US" sz="1600" b="0" i="1" u="none" strike="noStrike" cap="none" normalizeH="0" baseline="0" dirty="0">
                <a:ln>
                  <a:noFill/>
                </a:ln>
                <a:solidFill>
                  <a:srgbClr val="000000"/>
                </a:solidFill>
                <a:effectLst/>
                <a:latin typeface="Raleway" pitchFamily="2" charset="0"/>
              </a:rPr>
              <a:t>Motifs</a:t>
            </a:r>
            <a:r>
              <a:rPr kumimoji="0" lang="en-US" altLang="en-US" sz="1600" b="0" i="0" u="none" strike="noStrike" cap="none" normalizeH="0" baseline="0" dirty="0">
                <a:ln>
                  <a:noFill/>
                </a:ln>
                <a:solidFill>
                  <a:srgbClr val="000000"/>
                </a:solidFill>
                <a:effectLst/>
                <a:latin typeface="Raleway" pitchFamily="2" charset="0"/>
              </a:rPr>
              <a:t> minimizing</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rgbClr val="000000"/>
                </a:solidFill>
                <a:effectLst/>
                <a:latin typeface="Raleway" pitchFamily="2" charset="0"/>
              </a:rPr>
              <a:t>Score</a:t>
            </a:r>
            <a:r>
              <a:rPr kumimoji="0" lang="en-US" altLang="en-US" sz="1600" b="0" i="0" u="none" strike="noStrike" cap="none" normalizeH="0" baseline="0" dirty="0">
                <a:ln>
                  <a:noFill/>
                </a:ln>
                <a:solidFill>
                  <a:srgbClr val="000000"/>
                </a:solidFill>
                <a:effectLst/>
                <a:latin typeface="Raleway" pitchFamily="2" charset="0"/>
              </a:rPr>
              <a:t>(</a:t>
            </a:r>
            <a:r>
              <a:rPr kumimoji="0" lang="en-US" altLang="en-US" sz="1600" b="0" i="1" u="none" strike="noStrike" cap="none" normalizeH="0" baseline="0" dirty="0">
                <a:ln>
                  <a:noFill/>
                </a:ln>
                <a:solidFill>
                  <a:srgbClr val="000000"/>
                </a:solidFill>
                <a:effectLst/>
                <a:latin typeface="Raleway" pitchFamily="2" charset="0"/>
              </a:rPr>
              <a:t>Motifs</a:t>
            </a:r>
            <a:r>
              <a:rPr kumimoji="0" lang="en-US" altLang="en-US" sz="1600" b="0" i="0" u="none" strike="noStrike" cap="none" normalizeH="0" baseline="0" dirty="0">
                <a:ln>
                  <a:noFill/>
                </a:ln>
                <a:solidFill>
                  <a:srgbClr val="000000"/>
                </a:solidFill>
                <a:effectLst/>
                <a:latin typeface="Raleway"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Raleway" pitchFamily="2" charset="0"/>
              </a:rPr>
              <a:t>let's instead search for a potential consensus string </a:t>
            </a:r>
            <a:r>
              <a:rPr kumimoji="0" lang="en-US" altLang="en-US" sz="1600" b="0" i="1" u="none" strike="noStrike" cap="none" normalizeH="0" baseline="0" dirty="0">
                <a:ln>
                  <a:noFill/>
                </a:ln>
                <a:solidFill>
                  <a:srgbClr val="000000"/>
                </a:solidFill>
                <a:effectLst/>
                <a:latin typeface="Raleway" pitchFamily="2" charset="0"/>
              </a:rPr>
              <a:t>Pattern</a:t>
            </a:r>
            <a:r>
              <a:rPr kumimoji="0" lang="en-US" altLang="en-US" sz="1600" b="0" i="0" u="none" strike="noStrike" cap="none" normalizeH="0" baseline="0" dirty="0">
                <a:ln>
                  <a:noFill/>
                </a:ln>
                <a:solidFill>
                  <a:srgbClr val="000000"/>
                </a:solidFill>
                <a:effectLst/>
                <a:latin typeface="Raleway" pitchFamily="2" charset="0"/>
              </a:rPr>
              <a:t> minimizing</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rgbClr val="000000"/>
                </a:solidFill>
                <a:effectLst/>
                <a:latin typeface="Raleway" pitchFamily="2" charset="0"/>
              </a:rPr>
              <a:t>d</a:t>
            </a:r>
            <a:r>
              <a:rPr kumimoji="0" lang="en-US" altLang="en-US" sz="1600" b="0" i="0" u="none" strike="noStrike" cap="none" normalizeH="0" baseline="0" dirty="0">
                <a:ln>
                  <a:noFill/>
                </a:ln>
                <a:solidFill>
                  <a:srgbClr val="000000"/>
                </a:solidFill>
                <a:effectLst/>
                <a:latin typeface="Raleway" pitchFamily="2" charset="0"/>
              </a:rPr>
              <a:t>(</a:t>
            </a:r>
            <a:r>
              <a:rPr kumimoji="0" lang="en-US" altLang="en-US" sz="1600" b="0" i="1" u="none" strike="noStrike" cap="none" normalizeH="0" baseline="0" dirty="0">
                <a:ln>
                  <a:noFill/>
                </a:ln>
                <a:solidFill>
                  <a:srgbClr val="000000"/>
                </a:solidFill>
                <a:effectLst/>
                <a:latin typeface="Raleway" pitchFamily="2" charset="0"/>
              </a:rPr>
              <a:t>Pattern</a:t>
            </a:r>
            <a:r>
              <a:rPr kumimoji="0" lang="en-US" altLang="en-US" sz="1600" b="0" i="0" u="none" strike="noStrike" cap="none" normalizeH="0" baseline="0" dirty="0">
                <a:ln>
                  <a:noFill/>
                </a:ln>
                <a:solidFill>
                  <a:srgbClr val="000000"/>
                </a:solidFill>
                <a:effectLst/>
                <a:latin typeface="Raleway" pitchFamily="2" charset="0"/>
              </a:rPr>
              <a:t>, </a:t>
            </a:r>
            <a:r>
              <a:rPr kumimoji="0" lang="en-US" altLang="en-US" sz="1600" b="0" i="1" u="none" strike="noStrike" cap="none" normalizeH="0" baseline="0" dirty="0">
                <a:ln>
                  <a:noFill/>
                </a:ln>
                <a:solidFill>
                  <a:srgbClr val="000000"/>
                </a:solidFill>
                <a:effectLst/>
                <a:latin typeface="Raleway" pitchFamily="2" charset="0"/>
              </a:rPr>
              <a:t>Motifs</a:t>
            </a:r>
            <a:r>
              <a:rPr kumimoji="0" lang="en-US" altLang="en-US" sz="1600" b="0" i="0" u="none" strike="noStrike" cap="none" normalizeH="0" baseline="0" dirty="0">
                <a:ln>
                  <a:noFill/>
                </a:ln>
                <a:solidFill>
                  <a:srgbClr val="000000"/>
                </a:solidFill>
                <a:effectLst/>
                <a:latin typeface="Raleway"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011933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1D7F8-BD25-2FFD-EA23-C8497363BA05}"/>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Reformulating the Motif Finding Problem</a:t>
            </a:r>
            <a:endParaRPr lang="en-US" dirty="0"/>
          </a:p>
        </p:txBody>
      </p:sp>
      <p:sp>
        <p:nvSpPr>
          <p:cNvPr id="3" name="Content Placeholder 2">
            <a:extLst>
              <a:ext uri="{FF2B5EF4-FFF2-40B4-BE49-F238E27FC236}">
                <a16:creationId xmlns:a16="http://schemas.microsoft.com/office/drawing/2014/main" id="{F7FC8EF4-943A-E3F3-BB14-D3E483949C32}"/>
              </a:ext>
            </a:extLst>
          </p:cNvPr>
          <p:cNvSpPr>
            <a:spLocks noGrp="1"/>
          </p:cNvSpPr>
          <p:nvPr>
            <p:ph idx="1"/>
          </p:nvPr>
        </p:nvSpPr>
        <p:spPr/>
        <p:txBody>
          <a:bodyPr>
            <a:normAutofit fontScale="92500"/>
          </a:bodyPr>
          <a:lstStyle/>
          <a:p>
            <a:pPr algn="l">
              <a:buNone/>
            </a:pPr>
            <a:r>
              <a:rPr lang="en-US" b="0" i="0" dirty="0">
                <a:solidFill>
                  <a:srgbClr val="000000"/>
                </a:solidFill>
                <a:effectLst/>
                <a:latin typeface="Raleway" pitchFamily="2" charset="0"/>
              </a:rPr>
              <a:t>among all possible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and all possible choices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This problem is equivalent to the Motif Finding Problem.</a:t>
            </a:r>
          </a:p>
          <a:p>
            <a:pPr algn="l">
              <a:buNone/>
            </a:pPr>
            <a:r>
              <a:rPr lang="en-US" b="1" i="0" dirty="0">
                <a:solidFill>
                  <a:srgbClr val="000000"/>
                </a:solidFill>
                <a:effectLst/>
                <a:latin typeface="Raleway" pitchFamily="2" charset="0"/>
              </a:rPr>
              <a:t>Equivalent Motif Finding Problem:</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Given a collection of strings, find a collection of k-</a:t>
            </a:r>
            <a:r>
              <a:rPr lang="en-US" b="0" i="1" dirty="0" err="1">
                <a:solidFill>
                  <a:srgbClr val="000000"/>
                </a:solidFill>
                <a:effectLst/>
                <a:latin typeface="Raleway" pitchFamily="2" charset="0"/>
              </a:rPr>
              <a:t>mers</a:t>
            </a:r>
            <a:r>
              <a:rPr lang="en-US" b="0" i="1" dirty="0">
                <a:solidFill>
                  <a:srgbClr val="000000"/>
                </a:solidFill>
                <a:effectLst/>
                <a:latin typeface="Raleway" pitchFamily="2" charset="0"/>
              </a:rPr>
              <a:t> (one from each string) that minimizes the distance between all possible patterns and all possible collections of k-</a:t>
            </a:r>
            <a:r>
              <a:rPr lang="en-US" b="0" i="1" dirty="0" err="1">
                <a:solidFill>
                  <a:srgbClr val="000000"/>
                </a:solidFill>
                <a:effectLst/>
                <a:latin typeface="Raleway" pitchFamily="2" charset="0"/>
              </a:rPr>
              <a:t>mers</a:t>
            </a:r>
            <a:r>
              <a:rPr lang="en-US" b="0" i="1" dirty="0">
                <a:solidFill>
                  <a:srgbClr val="000000"/>
                </a:solidFill>
                <a:effectLst/>
                <a:latin typeface="Raleway" pitchFamily="2" charset="0"/>
              </a:rPr>
              <a:t>.</a:t>
            </a:r>
            <a:endParaRPr lang="en-US" b="0" i="0" dirty="0">
              <a:solidFill>
                <a:srgbClr val="000000"/>
              </a:solidFill>
              <a:effectLst/>
              <a:latin typeface="Raleway" pitchFamily="2" charset="0"/>
            </a:endParaRPr>
          </a:p>
          <a:p>
            <a:pPr algn="l">
              <a:buFont typeface="Arial" panose="020B0604020202020204" pitchFamily="34" charset="0"/>
              <a:buChar char="•"/>
            </a:pPr>
            <a:r>
              <a:rPr lang="en-US" b="1" i="0" dirty="0">
                <a:solidFill>
                  <a:srgbClr val="000000"/>
                </a:solidFill>
                <a:effectLst/>
                <a:latin typeface="Raleway" pitchFamily="2" charset="0"/>
              </a:rPr>
              <a:t>Input:</a:t>
            </a:r>
            <a:r>
              <a:rPr lang="en-US" b="0" i="0" dirty="0">
                <a:solidFill>
                  <a:srgbClr val="000000"/>
                </a:solidFill>
                <a:effectLst/>
                <a:latin typeface="Raleway" pitchFamily="2" charset="0"/>
              </a:rPr>
              <a:t> A collection of strings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and an integer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p>
          <a:p>
            <a:pPr algn="l">
              <a:buFont typeface="Arial" panose="020B0604020202020204" pitchFamily="34" charset="0"/>
              <a:buChar char="•"/>
            </a:pPr>
            <a:r>
              <a:rPr lang="en-US" b="1" i="0" dirty="0">
                <a:solidFill>
                  <a:srgbClr val="000000"/>
                </a:solidFill>
                <a:effectLst/>
                <a:latin typeface="Raleway" pitchFamily="2" charset="0"/>
              </a:rPr>
              <a:t>Output:</a:t>
            </a:r>
            <a:r>
              <a:rPr lang="en-US" b="0" i="0" dirty="0">
                <a:solidFill>
                  <a:srgbClr val="000000"/>
                </a:solidFill>
                <a:effectLst/>
                <a:latin typeface="Raleway" pitchFamily="2" charset="0"/>
              </a:rPr>
              <a:t> A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and a collection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one from each string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minimizing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among all possible choices of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and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a:t>
            </a:r>
          </a:p>
          <a:p>
            <a:endParaRPr lang="en-US" dirty="0"/>
          </a:p>
        </p:txBody>
      </p:sp>
    </p:spTree>
    <p:extLst>
      <p:ext uri="{BB962C8B-B14F-4D97-AF65-F5344CB8AC3E}">
        <p14:creationId xmlns:p14="http://schemas.microsoft.com/office/powerpoint/2010/main" val="23892394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87C8C-A640-6026-A902-EBD7E65538CF}"/>
              </a:ext>
            </a:extLst>
          </p:cNvPr>
          <p:cNvSpPr>
            <a:spLocks noGrp="1"/>
          </p:cNvSpPr>
          <p:nvPr>
            <p:ph type="title"/>
          </p:nvPr>
        </p:nvSpPr>
        <p:spPr/>
        <p:txBody>
          <a:bodyPr/>
          <a:lstStyle/>
          <a:p>
            <a:r>
              <a:rPr lang="en-US" dirty="0"/>
              <a:t>The Median String Problem</a:t>
            </a:r>
          </a:p>
        </p:txBody>
      </p:sp>
      <p:sp>
        <p:nvSpPr>
          <p:cNvPr id="3" name="Content Placeholder 2">
            <a:extLst>
              <a:ext uri="{FF2B5EF4-FFF2-40B4-BE49-F238E27FC236}">
                <a16:creationId xmlns:a16="http://schemas.microsoft.com/office/drawing/2014/main" id="{FDF3CC59-9D4D-0483-AD7F-1004B1FE886A}"/>
              </a:ext>
            </a:extLst>
          </p:cNvPr>
          <p:cNvSpPr>
            <a:spLocks noGrp="1"/>
          </p:cNvSpPr>
          <p:nvPr>
            <p:ph idx="1"/>
          </p:nvPr>
        </p:nvSpPr>
        <p:spPr/>
        <p:txBody>
          <a:bodyPr>
            <a:normAutofit lnSpcReduction="10000"/>
          </a:bodyPr>
          <a:lstStyle/>
          <a:p>
            <a:r>
              <a:rPr lang="en-US" b="0" i="0" dirty="0">
                <a:solidFill>
                  <a:srgbClr val="000000"/>
                </a:solidFill>
                <a:effectLst/>
                <a:latin typeface="Raleway" pitchFamily="2" charset="0"/>
              </a:rPr>
              <a:t>But wait a second — have we not just made our task more difficult? Instead of having to search for all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we now have to search all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as well as all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The key observation for solving the Equivalent Motif Finding Problem is that, given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we don’t need to explore all possible collections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in order to minimize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a:t>
            </a:r>
          </a:p>
          <a:p>
            <a:r>
              <a:rPr lang="en-US" b="0" i="0" dirty="0">
                <a:solidFill>
                  <a:srgbClr val="000000"/>
                </a:solidFill>
                <a:effectLst/>
                <a:latin typeface="Raleway" pitchFamily="2" charset="0"/>
              </a:rPr>
              <a:t>To explain how this can be done, we define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as a collection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that minimizes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for a given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and all possible sets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For example, for the strings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shown below, the five colored 3-mers represent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a:t>
            </a:r>
            <a:r>
              <a:rPr lang="en-US" b="1" i="0" dirty="0">
                <a:solidFill>
                  <a:srgbClr val="64B0F4"/>
                </a:solidFill>
                <a:effectLst/>
                <a:latin typeface="Raleway" pitchFamily="2" charset="0"/>
              </a:rPr>
              <a:t>AAA</a:t>
            </a:r>
            <a:r>
              <a:rPr lang="en-US" b="0" i="0" dirty="0">
                <a:solidFill>
                  <a:srgbClr val="000000"/>
                </a:solidFill>
                <a:effectLst/>
                <a:latin typeface="Raleway" pitchFamily="2" charset="0"/>
              </a:rPr>
              <a:t>,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a:t>
            </a:r>
            <a:endParaRPr lang="en-US" dirty="0"/>
          </a:p>
        </p:txBody>
      </p:sp>
    </p:spTree>
    <p:extLst>
      <p:ext uri="{BB962C8B-B14F-4D97-AF65-F5344CB8AC3E}">
        <p14:creationId xmlns:p14="http://schemas.microsoft.com/office/powerpoint/2010/main" val="8181248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EC701-E3EF-7AB5-3EF7-C47EFB0B64F7}"/>
              </a:ext>
            </a:extLst>
          </p:cNvPr>
          <p:cNvSpPr>
            <a:spLocks noGrp="1"/>
          </p:cNvSpPr>
          <p:nvPr>
            <p:ph type="title"/>
          </p:nvPr>
        </p:nvSpPr>
        <p:spPr>
          <a:xfrm>
            <a:off x="976257" y="703186"/>
            <a:ext cx="8643154" cy="1887950"/>
          </a:xfrm>
        </p:spPr>
        <p:txBody>
          <a:bodyPr/>
          <a:lstStyle/>
          <a:p>
            <a:endParaRPr lang="en-US" dirty="0"/>
          </a:p>
        </p:txBody>
      </p:sp>
      <p:sp>
        <p:nvSpPr>
          <p:cNvPr id="3" name="Text Placeholder 2">
            <a:extLst>
              <a:ext uri="{FF2B5EF4-FFF2-40B4-BE49-F238E27FC236}">
                <a16:creationId xmlns:a16="http://schemas.microsoft.com/office/drawing/2014/main" id="{8FBABA5A-6C39-5F4D-5BD3-2F17E34BE1D2}"/>
              </a:ext>
            </a:extLst>
          </p:cNvPr>
          <p:cNvSpPr>
            <a:spLocks noGrp="1"/>
          </p:cNvSpPr>
          <p:nvPr>
            <p:ph type="body" idx="1"/>
          </p:nvPr>
        </p:nvSpPr>
        <p:spPr/>
        <p:txBody>
          <a:bodyPr/>
          <a:lstStyle/>
          <a:p>
            <a:r>
              <a:rPr lang="en-US" b="1" i="0" dirty="0">
                <a:solidFill>
                  <a:srgbClr val="FF4363"/>
                </a:solidFill>
                <a:effectLst/>
                <a:latin typeface="Raleway" pitchFamily="2" charset="0"/>
              </a:rPr>
              <a:t>STOP and Think:</a:t>
            </a:r>
            <a:r>
              <a:rPr lang="en-US" b="0" i="0" dirty="0">
                <a:solidFill>
                  <a:srgbClr val="000000"/>
                </a:solidFill>
                <a:effectLst/>
                <a:latin typeface="Raleway" pitchFamily="2" charset="0"/>
              </a:rPr>
              <a:t> Given a collection of strings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and a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design a fast algorithm for generating </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a:t>
            </a:r>
            <a:endParaRPr lang="en-US" dirty="0"/>
          </a:p>
        </p:txBody>
      </p:sp>
      <p:pic>
        <p:nvPicPr>
          <p:cNvPr id="19458" name="Picture 2">
            <a:extLst>
              <a:ext uri="{FF2B5EF4-FFF2-40B4-BE49-F238E27FC236}">
                <a16:creationId xmlns:a16="http://schemas.microsoft.com/office/drawing/2014/main" id="{708498B2-754F-A122-9151-07898CD845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3493" y="1013981"/>
            <a:ext cx="3829050"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6314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8596D-BAD5-C3BF-2967-2EFF2EC83E88}"/>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The Median String Problem</a:t>
            </a:r>
            <a:endParaRPr lang="en-US" dirty="0"/>
          </a:p>
        </p:txBody>
      </p:sp>
      <p:sp>
        <p:nvSpPr>
          <p:cNvPr id="4" name="Rectangle 1">
            <a:extLst>
              <a:ext uri="{FF2B5EF4-FFF2-40B4-BE49-F238E27FC236}">
                <a16:creationId xmlns:a16="http://schemas.microsoft.com/office/drawing/2014/main" id="{BAFD25CD-EBD4-2E6F-FB9F-B02E7834F96B}"/>
              </a:ext>
            </a:extLst>
          </p:cNvPr>
          <p:cNvSpPr>
            <a:spLocks noGrp="1" noChangeArrowheads="1"/>
          </p:cNvSpPr>
          <p:nvPr>
            <p:ph idx="1"/>
          </p:nvPr>
        </p:nvSpPr>
        <p:spPr bwMode="auto">
          <a:xfrm>
            <a:off x="1451579" y="2448377"/>
            <a:ext cx="960327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aleway" pitchFamily="2" charset="0"/>
              </a:rPr>
              <a:t>he reason why we don’t need to consider all possible collections </a:t>
            </a:r>
            <a:r>
              <a:rPr kumimoji="0" lang="en-US" altLang="en-US" sz="1800" b="0" i="1" u="none" strike="noStrike" cap="none" normalizeH="0" baseline="0" dirty="0">
                <a:ln>
                  <a:noFill/>
                </a:ln>
                <a:solidFill>
                  <a:srgbClr val="000000"/>
                </a:solidFill>
                <a:effectLst/>
                <a:latin typeface="Raleway" pitchFamily="2" charset="0"/>
              </a:rPr>
              <a:t>Motifs</a:t>
            </a:r>
            <a:r>
              <a:rPr kumimoji="0" lang="en-US" altLang="en-US" sz="1800" b="0" i="0" u="none" strike="noStrike" cap="none" normalizeH="0" baseline="0" dirty="0">
                <a:ln>
                  <a:noFill/>
                </a:ln>
                <a:solidFill>
                  <a:srgbClr val="000000"/>
                </a:solidFill>
                <a:effectLst/>
                <a:latin typeface="Raleway" pitchFamily="2" charset="0"/>
              </a:rPr>
              <a:t> in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0" u="none" strike="noStrike" cap="none" normalizeH="0" baseline="0" dirty="0">
                <a:ln>
                  <a:noFill/>
                </a:ln>
                <a:solidFill>
                  <a:srgbClr val="000000"/>
                </a:solidFill>
                <a:effectLst/>
                <a:latin typeface="Raleway" pitchFamily="2" charset="0"/>
              </a:rPr>
              <a:t> = </a:t>
            </a:r>
            <a:r>
              <a:rPr kumimoji="0" lang="en-US" altLang="en-US" sz="1800" b="0" i="1" u="none" strike="noStrike" cap="none" normalizeH="0" baseline="0" dirty="0">
                <a:ln>
                  <a:noFill/>
                </a:ln>
                <a:solidFill>
                  <a:srgbClr val="000000"/>
                </a:solidFill>
                <a:effectLst/>
                <a:latin typeface="Raleway" pitchFamily="2" charset="0"/>
              </a:rPr>
              <a:t>Dna</a:t>
            </a:r>
            <a:r>
              <a:rPr kumimoji="0" lang="en-US" altLang="en-US" sz="1800" b="0" i="0" u="none" strike="noStrike" cap="none" normalizeH="0" baseline="-30000" dirty="0">
                <a:ln>
                  <a:noFill/>
                </a:ln>
                <a:solidFill>
                  <a:srgbClr val="000000"/>
                </a:solidFill>
                <a:effectLst/>
                <a:latin typeface="Raleway" pitchFamily="2" charset="0"/>
              </a:rPr>
              <a:t>1</a:t>
            </a:r>
            <a:r>
              <a:rPr kumimoji="0" lang="en-US" altLang="en-US" sz="1800" b="0" i="0" u="none" strike="noStrike" cap="none" normalizeH="0" baseline="0" dirty="0">
                <a:ln>
                  <a:noFill/>
                </a:ln>
                <a:solidFill>
                  <a:srgbClr val="000000"/>
                </a:solidFill>
                <a:effectLst/>
                <a:latin typeface="Raleway" pitchFamily="2" charset="0"/>
              </a:rPr>
              <a:t>, ...,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1" u="none" strike="noStrike" cap="none" normalizeH="0" baseline="-30000" dirty="0" err="1">
                <a:ln>
                  <a:noFill/>
                </a:ln>
                <a:solidFill>
                  <a:srgbClr val="000000"/>
                </a:solidFill>
                <a:effectLst/>
                <a:latin typeface="Raleway" pitchFamily="2" charset="0"/>
              </a:rPr>
              <a:t>t</a:t>
            </a:r>
            <a:r>
              <a:rPr kumimoji="0" lang="en-US" altLang="en-US" sz="1800" b="0" i="0" u="none" strike="noStrike" cap="none" normalizeH="0" baseline="0" dirty="0">
                <a:ln>
                  <a:noFill/>
                </a:ln>
                <a:solidFill>
                  <a:srgbClr val="000000"/>
                </a:solidFill>
                <a:effectLst/>
                <a:latin typeface="Raleway" pitchFamily="2" charset="0"/>
              </a:rPr>
              <a:t> is that we can generate the </a:t>
            </a:r>
            <a:r>
              <a:rPr kumimoji="0" lang="en-US" altLang="en-US" sz="1800" b="0" i="1" u="none" strike="noStrike" cap="none" normalizeH="0" baseline="0" dirty="0">
                <a:ln>
                  <a:noFill/>
                </a:ln>
                <a:solidFill>
                  <a:srgbClr val="000000"/>
                </a:solidFill>
                <a:effectLst/>
                <a:latin typeface="Raleway" pitchFamily="2" charset="0"/>
              </a:rPr>
              <a:t>k</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0" u="none" strike="noStrike" cap="none" normalizeH="0" baseline="0" dirty="0" err="1">
                <a:ln>
                  <a:noFill/>
                </a:ln>
                <a:solidFill>
                  <a:srgbClr val="000000"/>
                </a:solidFill>
                <a:effectLst/>
                <a:latin typeface="Raleway" pitchFamily="2" charset="0"/>
              </a:rPr>
              <a:t>mers</a:t>
            </a:r>
            <a:r>
              <a:rPr kumimoji="0" lang="en-US" altLang="en-US" sz="1800" b="0" i="0" u="none" strike="noStrike" cap="none" normalizeH="0" baseline="0" dirty="0">
                <a:ln>
                  <a:noFill/>
                </a:ln>
                <a:solidFill>
                  <a:srgbClr val="000000"/>
                </a:solidFill>
                <a:effectLst/>
                <a:latin typeface="Raleway" pitchFamily="2" charset="0"/>
              </a:rPr>
              <a:t> in </a:t>
            </a:r>
            <a:r>
              <a:rPr kumimoji="0" lang="en-US" altLang="en-US" sz="1800" b="0" i="1" u="none" strike="noStrike" cap="none" normalizeH="0" baseline="0" dirty="0">
                <a:ln>
                  <a:noFill/>
                </a:ln>
                <a:solidFill>
                  <a:srgbClr val="000000"/>
                </a:solidFill>
                <a:effectLst/>
                <a:latin typeface="Raleway" pitchFamily="2" charset="0"/>
              </a:rPr>
              <a:t>Motifs</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0" u="none" strike="noStrike" cap="none" normalizeH="0" baseline="0" dirty="0">
                <a:ln>
                  <a:noFill/>
                </a:ln>
                <a:solidFill>
                  <a:srgbClr val="000000"/>
                </a:solidFill>
                <a:effectLst/>
                <a:latin typeface="Raleway" pitchFamily="2" charset="0"/>
              </a:rPr>
              <a:t>) one at a time; that is, we can select a </a:t>
            </a:r>
            <a:r>
              <a:rPr kumimoji="0" lang="en-US" altLang="en-US" sz="1800" b="0" i="1" u="none" strike="noStrike" cap="none" normalizeH="0" baseline="0" dirty="0">
                <a:ln>
                  <a:noFill/>
                </a:ln>
                <a:solidFill>
                  <a:srgbClr val="000000"/>
                </a:solidFill>
                <a:effectLst/>
                <a:latin typeface="Raleway" pitchFamily="2" charset="0"/>
              </a:rPr>
              <a:t>k</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0" u="none" strike="noStrike" cap="none" normalizeH="0" baseline="0" dirty="0" err="1">
                <a:ln>
                  <a:noFill/>
                </a:ln>
                <a:solidFill>
                  <a:srgbClr val="000000"/>
                </a:solidFill>
                <a:effectLst/>
                <a:latin typeface="Raleway" pitchFamily="2" charset="0"/>
              </a:rPr>
              <a:t>mer</a:t>
            </a:r>
            <a:r>
              <a:rPr kumimoji="0" lang="en-US" altLang="en-US" sz="1800" b="0" i="0" u="none" strike="noStrike" cap="none" normalizeH="0" baseline="0" dirty="0">
                <a:ln>
                  <a:noFill/>
                </a:ln>
                <a:solidFill>
                  <a:srgbClr val="000000"/>
                </a:solidFill>
                <a:effectLst/>
                <a:latin typeface="Raleway" pitchFamily="2" charset="0"/>
              </a:rPr>
              <a:t> in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1" u="none" strike="noStrike" cap="none" normalizeH="0" baseline="-30000" dirty="0" err="1">
                <a:ln>
                  <a:noFill/>
                </a:ln>
                <a:solidFill>
                  <a:srgbClr val="000000"/>
                </a:solidFill>
                <a:effectLst/>
                <a:latin typeface="Raleway" pitchFamily="2" charset="0"/>
              </a:rPr>
              <a:t>i</a:t>
            </a:r>
            <a:r>
              <a:rPr kumimoji="0" lang="en-US" altLang="en-US" sz="1800" b="0" i="0" u="none" strike="noStrike" cap="none" normalizeH="0" baseline="0" dirty="0">
                <a:ln>
                  <a:noFill/>
                </a:ln>
                <a:solidFill>
                  <a:srgbClr val="000000"/>
                </a:solidFill>
                <a:effectLst/>
                <a:latin typeface="Raleway" pitchFamily="2" charset="0"/>
              </a:rPr>
              <a:t> independently of selecting </a:t>
            </a:r>
            <a:r>
              <a:rPr kumimoji="0" lang="en-US" altLang="en-US" sz="1800" b="0" i="1" u="none" strike="noStrike" cap="none" normalizeH="0" baseline="0" dirty="0">
                <a:ln>
                  <a:noFill/>
                </a:ln>
                <a:solidFill>
                  <a:srgbClr val="000000"/>
                </a:solidFill>
                <a:effectLst/>
                <a:latin typeface="Raleway" pitchFamily="2" charset="0"/>
              </a:rPr>
              <a:t>k</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0" u="none" strike="noStrike" cap="none" normalizeH="0" baseline="0" dirty="0" err="1">
                <a:ln>
                  <a:noFill/>
                </a:ln>
                <a:solidFill>
                  <a:srgbClr val="000000"/>
                </a:solidFill>
                <a:effectLst/>
                <a:latin typeface="Raleway" pitchFamily="2" charset="0"/>
              </a:rPr>
              <a:t>mers</a:t>
            </a:r>
            <a:r>
              <a:rPr kumimoji="0" lang="en-US" altLang="en-US" sz="1800" b="0" i="0" u="none" strike="noStrike" cap="none" normalizeH="0" baseline="0" dirty="0">
                <a:ln>
                  <a:noFill/>
                </a:ln>
                <a:solidFill>
                  <a:srgbClr val="000000"/>
                </a:solidFill>
                <a:effectLst/>
                <a:latin typeface="Raleway" pitchFamily="2" charset="0"/>
              </a:rPr>
              <a:t> in all other strings in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0" u="none" strike="noStrike" cap="none" normalizeH="0" baseline="0" dirty="0">
                <a:ln>
                  <a:noFill/>
                </a:ln>
                <a:solidFill>
                  <a:srgbClr val="000000"/>
                </a:solidFill>
                <a:effectLst/>
                <a:latin typeface="Raleway" pitchFamily="2" charset="0"/>
              </a:rPr>
              <a:t>. Given a </a:t>
            </a:r>
            <a:r>
              <a:rPr kumimoji="0" lang="en-US" altLang="en-US" sz="1800" b="0" i="1" u="none" strike="noStrike" cap="none" normalizeH="0" baseline="0" dirty="0">
                <a:ln>
                  <a:noFill/>
                </a:ln>
                <a:solidFill>
                  <a:srgbClr val="000000"/>
                </a:solidFill>
                <a:effectLst/>
                <a:latin typeface="Raleway" pitchFamily="2" charset="0"/>
              </a:rPr>
              <a:t>k</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0" u="none" strike="noStrike" cap="none" normalizeH="0" baseline="0" dirty="0" err="1">
                <a:ln>
                  <a:noFill/>
                </a:ln>
                <a:solidFill>
                  <a:srgbClr val="000000"/>
                </a:solidFill>
                <a:effectLst/>
                <a:latin typeface="Raleway" pitchFamily="2" charset="0"/>
              </a:rPr>
              <a:t>mer</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and a longer string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 we use </a:t>
            </a:r>
            <a:r>
              <a:rPr kumimoji="0" lang="en-US" altLang="en-US" sz="1800" b="0" i="1" u="none" strike="noStrike" cap="none" normalizeH="0" baseline="0" dirty="0">
                <a:ln>
                  <a:noFill/>
                </a:ln>
                <a:solidFill>
                  <a:srgbClr val="000000"/>
                </a:solidFill>
                <a:effectLst/>
                <a:latin typeface="Raleway" pitchFamily="2" charset="0"/>
              </a:rPr>
              <a:t>d</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 to denote the minimum Hamming distance between </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and any </a:t>
            </a:r>
            <a:r>
              <a:rPr kumimoji="0" lang="en-US" altLang="en-US" sz="1800" b="0" i="1" u="none" strike="noStrike" cap="none" normalizeH="0" baseline="0" dirty="0">
                <a:ln>
                  <a:noFill/>
                </a:ln>
                <a:solidFill>
                  <a:srgbClr val="000000"/>
                </a:solidFill>
                <a:effectLst/>
                <a:latin typeface="Raleway" pitchFamily="2" charset="0"/>
              </a:rPr>
              <a:t>k</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0" u="none" strike="noStrike" cap="none" normalizeH="0" baseline="0" dirty="0" err="1">
                <a:ln>
                  <a:noFill/>
                </a:ln>
                <a:solidFill>
                  <a:srgbClr val="000000"/>
                </a:solidFill>
                <a:effectLst/>
                <a:latin typeface="Raleway" pitchFamily="2" charset="0"/>
              </a:rPr>
              <a:t>mer</a:t>
            </a:r>
            <a:r>
              <a:rPr kumimoji="0" lang="en-US" altLang="en-US" sz="1800" b="0" i="0" u="none" strike="noStrike" cap="none" normalizeH="0" baseline="0" dirty="0">
                <a:ln>
                  <a:noFill/>
                </a:ln>
                <a:solidFill>
                  <a:srgbClr val="000000"/>
                </a:solidFill>
                <a:effectLst/>
                <a:latin typeface="Raleway" pitchFamily="2" charset="0"/>
              </a:rPr>
              <a:t> in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rgbClr val="000000"/>
                </a:solidFill>
                <a:effectLst/>
                <a:latin typeface="Raleway" pitchFamily="2" charset="0"/>
              </a:rPr>
              <a:t>d</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 = </a:t>
            </a:r>
            <a:r>
              <a:rPr kumimoji="0" lang="en-US" altLang="en-US" sz="1800" b="0" i="0" u="none" strike="noStrike" cap="none" normalizeH="0" baseline="0" dirty="0" err="1">
                <a:ln>
                  <a:noFill/>
                </a:ln>
                <a:solidFill>
                  <a:srgbClr val="000000"/>
                </a:solidFill>
                <a:effectLst/>
                <a:latin typeface="Raleway" pitchFamily="2" charset="0"/>
              </a:rPr>
              <a:t>min</a:t>
            </a:r>
            <a:r>
              <a:rPr kumimoji="0" lang="en-US" altLang="en-US" sz="1800" b="0" i="0" u="none" strike="noStrike" cap="none" normalizeH="0" baseline="-30000" dirty="0" err="1">
                <a:ln>
                  <a:noFill/>
                </a:ln>
                <a:solidFill>
                  <a:srgbClr val="000000"/>
                </a:solidFill>
                <a:effectLst/>
                <a:latin typeface="Raleway" pitchFamily="2" charset="0"/>
              </a:rPr>
              <a:t>all</a:t>
            </a:r>
            <a:r>
              <a:rPr kumimoji="0" lang="en-US" altLang="en-US" sz="1800" b="0" i="0" u="none" strike="noStrike" cap="none" normalizeH="0" baseline="-30000" dirty="0">
                <a:ln>
                  <a:noFill/>
                </a:ln>
                <a:solidFill>
                  <a:srgbClr val="000000"/>
                </a:solidFill>
                <a:effectLst/>
                <a:latin typeface="Raleway" pitchFamily="2" charset="0"/>
              </a:rPr>
              <a:t> </a:t>
            </a:r>
            <a:r>
              <a:rPr kumimoji="0" lang="en-US" altLang="en-US" sz="1800" b="0" i="1" u="none" strike="noStrike" cap="none" normalizeH="0" baseline="-30000" dirty="0">
                <a:ln>
                  <a:noFill/>
                </a:ln>
                <a:solidFill>
                  <a:srgbClr val="000000"/>
                </a:solidFill>
                <a:effectLst/>
                <a:latin typeface="Raleway" pitchFamily="2" charset="0"/>
              </a:rPr>
              <a:t>k</a:t>
            </a:r>
            <a:r>
              <a:rPr kumimoji="0" lang="en-US" altLang="en-US" sz="1800" b="0" i="0" u="none" strike="noStrike" cap="none" normalizeH="0" baseline="-30000" dirty="0">
                <a:ln>
                  <a:noFill/>
                </a:ln>
                <a:solidFill>
                  <a:srgbClr val="000000"/>
                </a:solidFill>
                <a:effectLst/>
                <a:latin typeface="Raleway" pitchFamily="2" charset="0"/>
              </a:rPr>
              <a:t>-</a:t>
            </a:r>
            <a:r>
              <a:rPr kumimoji="0" lang="en-US" altLang="en-US" sz="1800" b="0" i="0" u="none" strike="noStrike" cap="none" normalizeH="0" baseline="-30000" dirty="0" err="1">
                <a:ln>
                  <a:noFill/>
                </a:ln>
                <a:solidFill>
                  <a:srgbClr val="000000"/>
                </a:solidFill>
                <a:effectLst/>
                <a:latin typeface="Raleway" pitchFamily="2" charset="0"/>
              </a:rPr>
              <a:t>mers</a:t>
            </a:r>
            <a:r>
              <a:rPr kumimoji="0" lang="en-US" altLang="en-US" sz="1800" b="0" i="0" u="none" strike="noStrike" cap="none" normalizeH="0" baseline="-30000" dirty="0">
                <a:ln>
                  <a:noFill/>
                </a:ln>
                <a:solidFill>
                  <a:srgbClr val="000000"/>
                </a:solidFill>
                <a:effectLst/>
                <a:latin typeface="Raleway" pitchFamily="2" charset="0"/>
              </a:rPr>
              <a:t> </a:t>
            </a:r>
            <a:r>
              <a:rPr kumimoji="0" lang="en-US" altLang="en-US" sz="1800" b="0" i="1" u="none" strike="noStrike" cap="none" normalizeH="0" baseline="-30000" dirty="0">
                <a:ln>
                  <a:noFill/>
                </a:ln>
                <a:solidFill>
                  <a:srgbClr val="000000"/>
                </a:solidFill>
                <a:effectLst/>
                <a:latin typeface="Raleway" pitchFamily="2" charset="0"/>
              </a:rPr>
              <a:t>Pattern' </a:t>
            </a:r>
            <a:r>
              <a:rPr kumimoji="0" lang="en-US" altLang="en-US" sz="1800" b="0" i="0" u="none" strike="noStrike" cap="none" normalizeH="0" baseline="-30000" dirty="0">
                <a:ln>
                  <a:noFill/>
                </a:ln>
                <a:solidFill>
                  <a:srgbClr val="000000"/>
                </a:solidFill>
                <a:effectLst/>
                <a:latin typeface="Raleway" pitchFamily="2" charset="0"/>
              </a:rPr>
              <a:t>in </a:t>
            </a:r>
            <a:r>
              <a:rPr kumimoji="0" lang="en-US" altLang="en-US" sz="1800" b="0" i="1" u="none" strike="noStrike" cap="none" normalizeH="0" baseline="-30000" dirty="0">
                <a:ln>
                  <a:noFill/>
                </a:ln>
                <a:solidFill>
                  <a:srgbClr val="000000"/>
                </a:solidFill>
                <a:effectLst/>
                <a:latin typeface="Raleway" pitchFamily="2" charset="0"/>
              </a:rPr>
              <a:t>Text </a:t>
            </a:r>
            <a:r>
              <a:rPr kumimoji="0" lang="en-US" altLang="en-US" sz="1800" b="0" i="1" u="none" strike="noStrike" cap="none" normalizeH="0" baseline="0" dirty="0" err="1">
                <a:ln>
                  <a:noFill/>
                </a:ln>
                <a:solidFill>
                  <a:srgbClr val="000000"/>
                </a:solidFill>
                <a:effectLst/>
                <a:latin typeface="Raleway" pitchFamily="2" charset="0"/>
              </a:rPr>
              <a:t>HammingDistance</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aleway" pitchFamily="2" charset="0"/>
              </a:rPr>
              <a:t>For example,</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rgbClr val="000000"/>
                </a:solidFill>
                <a:effectLst/>
                <a:latin typeface="Raleway" pitchFamily="2" charset="0"/>
              </a:rPr>
              <a:t>d</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1" i="0" u="none" strike="noStrike" cap="none" normalizeH="0" baseline="0" dirty="0">
                <a:ln>
                  <a:noFill/>
                </a:ln>
                <a:solidFill>
                  <a:srgbClr val="64B0F4"/>
                </a:solidFill>
                <a:effectLst/>
                <a:latin typeface="Arial Unicode MS"/>
              </a:rPr>
              <a:t>GATTCTCA</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0" u="none" strike="noStrike" cap="none" normalizeH="0" baseline="0" dirty="0">
                <a:ln>
                  <a:noFill/>
                </a:ln>
                <a:solidFill>
                  <a:srgbClr val="000000"/>
                </a:solidFill>
                <a:effectLst/>
                <a:latin typeface="Arial Unicode MS"/>
              </a:rPr>
              <a:t>GCAAA</a:t>
            </a:r>
            <a:r>
              <a:rPr kumimoji="0" lang="en-US" altLang="en-US" sz="1800" b="1" i="0" u="none" strike="noStrike" cap="none" normalizeH="0" baseline="0" dirty="0">
                <a:ln>
                  <a:noFill/>
                </a:ln>
                <a:solidFill>
                  <a:srgbClr val="64B0F4"/>
                </a:solidFill>
                <a:effectLst/>
                <a:latin typeface="Arial Unicode MS"/>
              </a:rPr>
              <a:t>GA</a:t>
            </a:r>
            <a:r>
              <a:rPr kumimoji="0" lang="en-US" altLang="en-US" sz="1800" b="1" i="0" u="none" strike="noStrike" cap="none" normalizeH="0" baseline="0" dirty="0">
                <a:ln>
                  <a:noFill/>
                </a:ln>
                <a:solidFill>
                  <a:srgbClr val="FF4363"/>
                </a:solidFill>
                <a:effectLst/>
                <a:latin typeface="Arial Unicode MS"/>
              </a:rPr>
              <a:t>CG</a:t>
            </a:r>
            <a:r>
              <a:rPr kumimoji="0" lang="en-US" altLang="en-US" sz="1800" b="1" i="0" u="none" strike="noStrike" cap="none" normalizeH="0" baseline="0" dirty="0">
                <a:ln>
                  <a:noFill/>
                </a:ln>
                <a:solidFill>
                  <a:srgbClr val="64B0F4"/>
                </a:solidFill>
                <a:effectLst/>
                <a:latin typeface="Arial Unicode MS"/>
              </a:rPr>
              <a:t>CT</a:t>
            </a:r>
            <a:r>
              <a:rPr kumimoji="0" lang="en-US" altLang="en-US" sz="1800" b="1" i="0" u="none" strike="noStrike" cap="none" normalizeH="0" baseline="0" dirty="0">
                <a:ln>
                  <a:noFill/>
                </a:ln>
                <a:solidFill>
                  <a:srgbClr val="FF4363"/>
                </a:solidFill>
                <a:effectLst/>
                <a:latin typeface="Arial Unicode MS"/>
              </a:rPr>
              <a:t>G</a:t>
            </a:r>
            <a:r>
              <a:rPr kumimoji="0" lang="en-US" altLang="en-US" sz="1800" b="1" i="0" u="none" strike="noStrike" cap="none" normalizeH="0" baseline="0" dirty="0">
                <a:ln>
                  <a:noFill/>
                </a:ln>
                <a:solidFill>
                  <a:srgbClr val="64B0F4"/>
                </a:solidFill>
                <a:effectLst/>
                <a:latin typeface="Arial Unicode MS"/>
              </a:rPr>
              <a:t>A</a:t>
            </a:r>
            <a:r>
              <a:rPr kumimoji="0" lang="en-US" altLang="en-US" sz="1800" b="0" i="0" u="none" strike="noStrike" cap="none" normalizeH="0" baseline="0" dirty="0">
                <a:ln>
                  <a:noFill/>
                </a:ln>
                <a:solidFill>
                  <a:srgbClr val="000000"/>
                </a:solidFill>
                <a:effectLst/>
                <a:latin typeface="Arial Unicode MS"/>
              </a:rPr>
              <a:t>CCAA</a:t>
            </a:r>
            <a:r>
              <a:rPr kumimoji="0" lang="en-US" altLang="en-US" sz="1800" b="0" i="0" u="none" strike="noStrike" cap="none" normalizeH="0" baseline="0" dirty="0">
                <a:ln>
                  <a:noFill/>
                </a:ln>
                <a:solidFill>
                  <a:srgbClr val="000000"/>
                </a:solidFill>
                <a:effectLst/>
                <a:latin typeface="Raleway" pitchFamily="2" charset="0"/>
              </a:rPr>
              <a:t>) = </a:t>
            </a:r>
            <a:r>
              <a:rPr kumimoji="0" lang="en-US" altLang="en-US" sz="1800" b="1" i="0" u="none" strike="noStrike" cap="none" normalizeH="0" baseline="0" dirty="0">
                <a:ln>
                  <a:noFill/>
                </a:ln>
                <a:solidFill>
                  <a:srgbClr val="FF4363"/>
                </a:solidFill>
                <a:effectLst/>
                <a:latin typeface="Raleway" pitchFamily="2" charset="0"/>
              </a:rPr>
              <a:t>3</a:t>
            </a:r>
            <a:r>
              <a:rPr kumimoji="0" lang="en-US" altLang="en-US" sz="1800" b="0" i="0" u="none" strike="noStrike" cap="none" normalizeH="0" baseline="0" dirty="0">
                <a:ln>
                  <a:noFill/>
                </a:ln>
                <a:solidFill>
                  <a:srgbClr val="000000"/>
                </a:solidFill>
                <a:effectLst/>
                <a:latin typeface="Raleway"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70687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473AE-7A91-1AFE-DD32-BD85464AAFAA}"/>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The Median String Problem</a:t>
            </a:r>
            <a:endParaRPr lang="en-US" dirty="0"/>
          </a:p>
        </p:txBody>
      </p:sp>
      <p:sp>
        <p:nvSpPr>
          <p:cNvPr id="4" name="Rectangle 1">
            <a:extLst>
              <a:ext uri="{FF2B5EF4-FFF2-40B4-BE49-F238E27FC236}">
                <a16:creationId xmlns:a16="http://schemas.microsoft.com/office/drawing/2014/main" id="{B496CC74-AAAE-0DDB-8C0A-2DBF627C211C}"/>
              </a:ext>
            </a:extLst>
          </p:cNvPr>
          <p:cNvSpPr>
            <a:spLocks noGrp="1" noChangeArrowheads="1"/>
          </p:cNvSpPr>
          <p:nvPr>
            <p:ph idx="1"/>
          </p:nvPr>
        </p:nvSpPr>
        <p:spPr bwMode="auto">
          <a:xfrm>
            <a:off x="1451579" y="2032878"/>
            <a:ext cx="960327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aleway" pitchFamily="2" charset="0"/>
              </a:rPr>
              <a:t>A </a:t>
            </a:r>
            <a:r>
              <a:rPr kumimoji="0" lang="en-US" altLang="en-US" sz="1800" b="0" i="1" u="none" strike="noStrike" cap="none" normalizeH="0" baseline="0" dirty="0">
                <a:ln>
                  <a:noFill/>
                </a:ln>
                <a:solidFill>
                  <a:srgbClr val="000000"/>
                </a:solidFill>
                <a:effectLst/>
                <a:latin typeface="Raleway" pitchFamily="2" charset="0"/>
              </a:rPr>
              <a:t>k</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0" u="none" strike="noStrike" cap="none" normalizeH="0" baseline="0" dirty="0" err="1">
                <a:ln>
                  <a:noFill/>
                </a:ln>
                <a:solidFill>
                  <a:srgbClr val="000000"/>
                </a:solidFill>
                <a:effectLst/>
                <a:latin typeface="Raleway" pitchFamily="2" charset="0"/>
              </a:rPr>
              <a:t>mer</a:t>
            </a:r>
            <a:r>
              <a:rPr kumimoji="0" lang="en-US" altLang="en-US" sz="1800" b="0" i="0" u="none" strike="noStrike" cap="none" normalizeH="0" baseline="0" dirty="0">
                <a:ln>
                  <a:noFill/>
                </a:ln>
                <a:solidFill>
                  <a:srgbClr val="000000"/>
                </a:solidFill>
                <a:effectLst/>
                <a:latin typeface="Raleway" pitchFamily="2" charset="0"/>
              </a:rPr>
              <a:t> in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 that achieves the minimum Hamming distance with </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is denoted </a:t>
            </a:r>
            <a:r>
              <a:rPr kumimoji="0" lang="en-US" altLang="en-US" sz="1800" b="0" i="1" u="none" strike="noStrike" cap="none" normalizeH="0" baseline="0" dirty="0">
                <a:ln>
                  <a:noFill/>
                </a:ln>
                <a:solidFill>
                  <a:srgbClr val="000000"/>
                </a:solidFill>
                <a:effectLst/>
                <a:latin typeface="Raleway" pitchFamily="2" charset="0"/>
              </a:rPr>
              <a:t>Motif</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 For the above example,</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rgbClr val="000000"/>
                </a:solidFill>
                <a:effectLst/>
                <a:latin typeface="Raleway" pitchFamily="2" charset="0"/>
              </a:rPr>
              <a:t>Motif</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1" i="0" u="none" strike="noStrike" cap="none" normalizeH="0" baseline="0" dirty="0">
                <a:ln>
                  <a:noFill/>
                </a:ln>
                <a:solidFill>
                  <a:srgbClr val="64B0F4"/>
                </a:solidFill>
                <a:effectLst/>
                <a:latin typeface="Arial Unicode MS"/>
              </a:rPr>
              <a:t>GATTCTCA</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0" u="none" strike="noStrike" cap="none" normalizeH="0" baseline="0" dirty="0">
                <a:ln>
                  <a:noFill/>
                </a:ln>
                <a:solidFill>
                  <a:srgbClr val="000000"/>
                </a:solidFill>
                <a:effectLst/>
                <a:latin typeface="Arial Unicode MS"/>
              </a:rPr>
              <a:t>GCAAA</a:t>
            </a:r>
            <a:r>
              <a:rPr kumimoji="0" lang="en-US" altLang="en-US" sz="1800" b="1" i="0" u="none" strike="noStrike" cap="none" normalizeH="0" baseline="0" dirty="0">
                <a:ln>
                  <a:noFill/>
                </a:ln>
                <a:solidFill>
                  <a:srgbClr val="64B0F4"/>
                </a:solidFill>
                <a:effectLst/>
                <a:latin typeface="Arial Unicode MS"/>
              </a:rPr>
              <a:t>GA</a:t>
            </a:r>
            <a:r>
              <a:rPr kumimoji="0" lang="en-US" altLang="en-US" sz="1800" b="1" i="0" u="none" strike="noStrike" cap="none" normalizeH="0" baseline="0" dirty="0">
                <a:ln>
                  <a:noFill/>
                </a:ln>
                <a:solidFill>
                  <a:srgbClr val="FF4363"/>
                </a:solidFill>
                <a:effectLst/>
                <a:latin typeface="Arial Unicode MS"/>
              </a:rPr>
              <a:t>CG</a:t>
            </a:r>
            <a:r>
              <a:rPr kumimoji="0" lang="en-US" altLang="en-US" sz="1800" b="1" i="0" u="none" strike="noStrike" cap="none" normalizeH="0" baseline="0" dirty="0">
                <a:ln>
                  <a:noFill/>
                </a:ln>
                <a:solidFill>
                  <a:srgbClr val="64B0F4"/>
                </a:solidFill>
                <a:effectLst/>
                <a:latin typeface="Arial Unicode MS"/>
              </a:rPr>
              <a:t>CT</a:t>
            </a:r>
            <a:r>
              <a:rPr kumimoji="0" lang="en-US" altLang="en-US" sz="1800" b="1" i="0" u="none" strike="noStrike" cap="none" normalizeH="0" baseline="0" dirty="0">
                <a:ln>
                  <a:noFill/>
                </a:ln>
                <a:solidFill>
                  <a:srgbClr val="FF4363"/>
                </a:solidFill>
                <a:effectLst/>
                <a:latin typeface="Arial Unicode MS"/>
              </a:rPr>
              <a:t>G</a:t>
            </a:r>
            <a:r>
              <a:rPr kumimoji="0" lang="en-US" altLang="en-US" sz="1800" b="1" i="0" u="none" strike="noStrike" cap="none" normalizeH="0" baseline="0" dirty="0">
                <a:ln>
                  <a:noFill/>
                </a:ln>
                <a:solidFill>
                  <a:srgbClr val="64B0F4"/>
                </a:solidFill>
                <a:effectLst/>
                <a:latin typeface="Arial Unicode MS"/>
              </a:rPr>
              <a:t>A</a:t>
            </a:r>
            <a:r>
              <a:rPr kumimoji="0" lang="en-US" altLang="en-US" sz="1800" b="0" i="0" u="none" strike="noStrike" cap="none" normalizeH="0" baseline="0" dirty="0">
                <a:ln>
                  <a:noFill/>
                </a:ln>
                <a:solidFill>
                  <a:srgbClr val="000000"/>
                </a:solidFill>
                <a:effectLst/>
                <a:latin typeface="Arial Unicode MS"/>
              </a:rPr>
              <a:t>CCAA</a:t>
            </a:r>
            <a:r>
              <a:rPr kumimoji="0" lang="en-US" altLang="en-US" sz="1800" b="0" i="0" u="none" strike="noStrike" cap="none" normalizeH="0" baseline="0" dirty="0">
                <a:ln>
                  <a:noFill/>
                </a:ln>
                <a:solidFill>
                  <a:srgbClr val="000000"/>
                </a:solidFill>
                <a:effectLst/>
                <a:latin typeface="Raleway" pitchFamily="2" charset="0"/>
              </a:rPr>
              <a:t>) = </a:t>
            </a:r>
            <a:r>
              <a:rPr kumimoji="0" lang="en-US" altLang="en-US" sz="1800" b="1" i="0" u="none" strike="noStrike" cap="none" normalizeH="0" baseline="0" dirty="0">
                <a:ln>
                  <a:noFill/>
                </a:ln>
                <a:solidFill>
                  <a:srgbClr val="64B0F4"/>
                </a:solidFill>
                <a:effectLst/>
                <a:latin typeface="Arial Unicode MS"/>
              </a:rPr>
              <a:t>GA</a:t>
            </a:r>
            <a:r>
              <a:rPr kumimoji="0" lang="en-US" altLang="en-US" sz="1800" b="1" i="0" u="none" strike="noStrike" cap="none" normalizeH="0" baseline="0" dirty="0">
                <a:ln>
                  <a:noFill/>
                </a:ln>
                <a:solidFill>
                  <a:srgbClr val="FF4363"/>
                </a:solidFill>
                <a:effectLst/>
                <a:latin typeface="Arial Unicode MS"/>
              </a:rPr>
              <a:t>CG</a:t>
            </a:r>
            <a:r>
              <a:rPr kumimoji="0" lang="en-US" altLang="en-US" sz="1800" b="1" i="0" u="none" strike="noStrike" cap="none" normalizeH="0" baseline="0" dirty="0">
                <a:ln>
                  <a:noFill/>
                </a:ln>
                <a:solidFill>
                  <a:srgbClr val="64B0F4"/>
                </a:solidFill>
                <a:effectLst/>
                <a:latin typeface="Arial Unicode MS"/>
              </a:rPr>
              <a:t>CT</a:t>
            </a:r>
            <a:r>
              <a:rPr kumimoji="0" lang="en-US" altLang="en-US" sz="1800" b="1" i="0" u="none" strike="noStrike" cap="none" normalizeH="0" baseline="0" dirty="0">
                <a:ln>
                  <a:noFill/>
                </a:ln>
                <a:solidFill>
                  <a:srgbClr val="FF4363"/>
                </a:solidFill>
                <a:effectLst/>
                <a:latin typeface="Arial Unicode MS"/>
              </a:rPr>
              <a:t>G</a:t>
            </a:r>
            <a:r>
              <a:rPr kumimoji="0" lang="en-US" altLang="en-US" sz="1800" b="1" i="0" u="none" strike="noStrike" cap="none" normalizeH="0" baseline="0" dirty="0">
                <a:ln>
                  <a:noFill/>
                </a:ln>
                <a:solidFill>
                  <a:srgbClr val="64B0F4"/>
                </a:solidFill>
                <a:effectLst/>
                <a:latin typeface="Arial Unicode MS"/>
              </a:rPr>
              <a:t>A</a:t>
            </a:r>
            <a:r>
              <a:rPr kumimoji="0" lang="en-US" altLang="en-US" sz="1800" b="0" i="0" u="none" strike="noStrike" cap="none" normalizeH="0" baseline="0" dirty="0">
                <a:ln>
                  <a:noFill/>
                </a:ln>
                <a:solidFill>
                  <a:srgbClr val="000000"/>
                </a:solidFill>
                <a:effectLst/>
                <a:latin typeface="Raleway"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aleway" pitchFamily="2" charset="0"/>
              </a:rPr>
              <a:t>We note that the notation </a:t>
            </a:r>
            <a:r>
              <a:rPr kumimoji="0" lang="en-US" altLang="en-US" sz="1800" b="0" i="1" u="none" strike="noStrike" cap="none" normalizeH="0" baseline="0" dirty="0">
                <a:ln>
                  <a:noFill/>
                </a:ln>
                <a:solidFill>
                  <a:srgbClr val="000000"/>
                </a:solidFill>
                <a:effectLst/>
                <a:latin typeface="Raleway" pitchFamily="2" charset="0"/>
              </a:rPr>
              <a:t>Motif</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 is ambiguous because there may be multiple </a:t>
            </a:r>
            <a:r>
              <a:rPr kumimoji="0" lang="en-US" altLang="en-US" sz="1800" b="0" i="1" u="none" strike="noStrike" cap="none" normalizeH="0" baseline="0" dirty="0">
                <a:ln>
                  <a:noFill/>
                </a:ln>
                <a:solidFill>
                  <a:srgbClr val="000000"/>
                </a:solidFill>
                <a:effectLst/>
                <a:latin typeface="Raleway" pitchFamily="2" charset="0"/>
              </a:rPr>
              <a:t>k</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0" u="none" strike="noStrike" cap="none" normalizeH="0" baseline="0" dirty="0" err="1">
                <a:ln>
                  <a:noFill/>
                </a:ln>
                <a:solidFill>
                  <a:srgbClr val="000000"/>
                </a:solidFill>
                <a:effectLst/>
                <a:latin typeface="Raleway" pitchFamily="2" charset="0"/>
              </a:rPr>
              <a:t>mers</a:t>
            </a:r>
            <a:r>
              <a:rPr kumimoji="0" lang="en-US" altLang="en-US" sz="1800" b="0" i="0" u="none" strike="noStrike" cap="none" normalizeH="0" baseline="0" dirty="0">
                <a:ln>
                  <a:noFill/>
                </a:ln>
                <a:solidFill>
                  <a:srgbClr val="000000"/>
                </a:solidFill>
                <a:effectLst/>
                <a:latin typeface="Raleway" pitchFamily="2" charset="0"/>
              </a:rPr>
              <a:t> in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 that achieve the minimum Hamming distance with </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For example, </a:t>
            </a:r>
            <a:r>
              <a:rPr kumimoji="0" lang="en-US" altLang="en-US" sz="1800" b="0" i="1" u="none" strike="noStrike" cap="none" normalizeH="0" baseline="0" dirty="0">
                <a:ln>
                  <a:noFill/>
                </a:ln>
                <a:solidFill>
                  <a:srgbClr val="000000"/>
                </a:solidFill>
                <a:effectLst/>
                <a:latin typeface="Raleway" pitchFamily="2" charset="0"/>
              </a:rPr>
              <a:t>Motif</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1" i="0" u="none" strike="noStrike" cap="none" normalizeH="0" baseline="0" dirty="0">
                <a:ln>
                  <a:noFill/>
                </a:ln>
                <a:solidFill>
                  <a:srgbClr val="64B0F4"/>
                </a:solidFill>
                <a:effectLst/>
                <a:latin typeface="Arial Unicode MS"/>
              </a:rPr>
              <a:t>AAG</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0" u="none" strike="noStrike" cap="none" normalizeH="0" baseline="0" dirty="0">
                <a:ln>
                  <a:noFill/>
                </a:ln>
                <a:solidFill>
                  <a:srgbClr val="000000"/>
                </a:solidFill>
                <a:effectLst/>
                <a:latin typeface="Arial Unicode MS"/>
              </a:rPr>
              <a:t>GC</a:t>
            </a:r>
            <a:r>
              <a:rPr kumimoji="0" lang="en-US" altLang="en-US" sz="1800" b="1" i="0" u="none" strike="noStrike" cap="none" normalizeH="0" baseline="0" dirty="0">
                <a:ln>
                  <a:noFill/>
                </a:ln>
                <a:solidFill>
                  <a:srgbClr val="64B0F4"/>
                </a:solidFill>
                <a:effectLst/>
                <a:latin typeface="Arial Unicode MS"/>
              </a:rPr>
              <a:t>AA</a:t>
            </a:r>
            <a:r>
              <a:rPr kumimoji="0" lang="en-US" altLang="en-US" sz="1800" b="1" i="0" u="none" strike="noStrike" cap="none" normalizeH="0" baseline="0" dirty="0">
                <a:ln>
                  <a:noFill/>
                </a:ln>
                <a:solidFill>
                  <a:srgbClr val="FF4363"/>
                </a:solidFill>
                <a:effectLst/>
                <a:latin typeface="Arial Unicode MS"/>
              </a:rPr>
              <a:t>T</a:t>
            </a:r>
            <a:r>
              <a:rPr kumimoji="0" lang="en-US" altLang="en-US" sz="1800" b="0" i="0" u="none" strike="noStrike" cap="none" normalizeH="0" baseline="0" dirty="0">
                <a:ln>
                  <a:noFill/>
                </a:ln>
                <a:solidFill>
                  <a:srgbClr val="000000"/>
                </a:solidFill>
                <a:effectLst/>
                <a:latin typeface="Arial Unicode MS"/>
              </a:rPr>
              <a:t>CCT</a:t>
            </a:r>
            <a:r>
              <a:rPr kumimoji="0" lang="en-US" altLang="en-US" sz="1800" b="1" i="0" u="none" strike="noStrike" cap="none" normalizeH="0" baseline="0" dirty="0">
                <a:ln>
                  <a:noFill/>
                </a:ln>
                <a:solidFill>
                  <a:srgbClr val="FF4363"/>
                </a:solidFill>
                <a:effectLst/>
                <a:latin typeface="Arial Unicode MS"/>
              </a:rPr>
              <a:t>C</a:t>
            </a:r>
            <a:r>
              <a:rPr kumimoji="0" lang="en-US" altLang="en-US" sz="1800" b="1" i="0" u="none" strike="noStrike" cap="none" normalizeH="0" baseline="0" dirty="0">
                <a:ln>
                  <a:noFill/>
                </a:ln>
                <a:solidFill>
                  <a:srgbClr val="64B0F4"/>
                </a:solidFill>
                <a:effectLst/>
                <a:latin typeface="Arial Unicode MS"/>
              </a:rPr>
              <a:t>AG</a:t>
            </a:r>
            <a:r>
              <a:rPr kumimoji="0" lang="en-US" altLang="en-US" sz="1800" b="0" i="0" u="none" strike="noStrike" cap="none" normalizeH="0" baseline="0" dirty="0">
                <a:ln>
                  <a:noFill/>
                </a:ln>
                <a:solidFill>
                  <a:srgbClr val="000000"/>
                </a:solidFill>
                <a:effectLst/>
                <a:latin typeface="Arial Unicode MS"/>
              </a:rPr>
              <a:t>C</a:t>
            </a:r>
            <a:r>
              <a:rPr kumimoji="0" lang="en-US" altLang="en-US" sz="1800" b="0" i="0" u="none" strike="noStrike" cap="none" normalizeH="0" baseline="0" dirty="0">
                <a:ln>
                  <a:noFill/>
                </a:ln>
                <a:solidFill>
                  <a:srgbClr val="000000"/>
                </a:solidFill>
                <a:effectLst/>
                <a:latin typeface="Raleway" pitchFamily="2" charset="0"/>
              </a:rPr>
              <a:t>) could be either </a:t>
            </a:r>
            <a:r>
              <a:rPr kumimoji="0" lang="en-US" altLang="en-US" sz="1800" b="1" i="0" u="none" strike="noStrike" cap="none" normalizeH="0" baseline="0" dirty="0">
                <a:ln>
                  <a:noFill/>
                </a:ln>
                <a:solidFill>
                  <a:srgbClr val="64B0F4"/>
                </a:solidFill>
                <a:effectLst/>
                <a:latin typeface="Arial Unicode MS"/>
              </a:rPr>
              <a:t>AA</a:t>
            </a:r>
            <a:r>
              <a:rPr kumimoji="0" lang="en-US" altLang="en-US" sz="1800" b="1" i="0" u="none" strike="noStrike" cap="none" normalizeH="0" baseline="0" dirty="0">
                <a:ln>
                  <a:noFill/>
                </a:ln>
                <a:solidFill>
                  <a:srgbClr val="FF4363"/>
                </a:solidFill>
                <a:effectLst/>
                <a:latin typeface="Arial Unicode MS"/>
              </a:rPr>
              <a:t>T</a:t>
            </a:r>
            <a:r>
              <a:rPr kumimoji="0" lang="en-US" altLang="en-US" sz="1800" b="0" i="0" u="none" strike="noStrike" cap="none" normalizeH="0" baseline="0" dirty="0">
                <a:ln>
                  <a:noFill/>
                </a:ln>
                <a:solidFill>
                  <a:srgbClr val="000000"/>
                </a:solidFill>
                <a:effectLst/>
                <a:latin typeface="Raleway" pitchFamily="2" charset="0"/>
              </a:rPr>
              <a:t> or </a:t>
            </a:r>
            <a:r>
              <a:rPr kumimoji="0" lang="en-US" altLang="en-US" sz="1800" b="1" i="0" u="none" strike="noStrike" cap="none" normalizeH="0" baseline="0" dirty="0">
                <a:ln>
                  <a:noFill/>
                </a:ln>
                <a:solidFill>
                  <a:srgbClr val="FF4363"/>
                </a:solidFill>
                <a:effectLst/>
                <a:latin typeface="Arial Unicode MS"/>
              </a:rPr>
              <a:t>C</a:t>
            </a:r>
            <a:r>
              <a:rPr kumimoji="0" lang="en-US" altLang="en-US" sz="1800" b="1" i="0" u="none" strike="noStrike" cap="none" normalizeH="0" baseline="0" dirty="0">
                <a:ln>
                  <a:noFill/>
                </a:ln>
                <a:solidFill>
                  <a:srgbClr val="64B0F4"/>
                </a:solidFill>
                <a:effectLst/>
                <a:latin typeface="Arial Unicode MS"/>
              </a:rPr>
              <a:t>AG</a:t>
            </a:r>
            <a:r>
              <a:rPr kumimoji="0" lang="en-US" altLang="en-US" sz="1800" b="0" i="0" u="none" strike="noStrike" cap="none" normalizeH="0" baseline="0" dirty="0">
                <a:ln>
                  <a:noFill/>
                </a:ln>
                <a:solidFill>
                  <a:srgbClr val="000000"/>
                </a:solidFill>
                <a:effectLst/>
                <a:latin typeface="Raleway" pitchFamily="2" charset="0"/>
              </a:rPr>
              <a:t>. If there are multiple </a:t>
            </a:r>
            <a:r>
              <a:rPr kumimoji="0" lang="en-US" altLang="en-US" sz="1800" b="0" i="1" u="none" strike="noStrike" cap="none" normalizeH="0" baseline="0" dirty="0">
                <a:ln>
                  <a:noFill/>
                </a:ln>
                <a:solidFill>
                  <a:srgbClr val="000000"/>
                </a:solidFill>
                <a:effectLst/>
                <a:latin typeface="Raleway" pitchFamily="2" charset="0"/>
              </a:rPr>
              <a:t>k</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0" u="none" strike="noStrike" cap="none" normalizeH="0" baseline="0" dirty="0" err="1">
                <a:ln>
                  <a:noFill/>
                </a:ln>
                <a:solidFill>
                  <a:srgbClr val="000000"/>
                </a:solidFill>
                <a:effectLst/>
                <a:latin typeface="Raleway" pitchFamily="2" charset="0"/>
              </a:rPr>
              <a:t>mers</a:t>
            </a:r>
            <a:r>
              <a:rPr kumimoji="0" lang="en-US" altLang="en-US" sz="1800" b="0" i="0" u="none" strike="noStrike" cap="none" normalizeH="0" baseline="0" dirty="0">
                <a:ln>
                  <a:noFill/>
                </a:ln>
                <a:solidFill>
                  <a:srgbClr val="000000"/>
                </a:solidFill>
                <a:effectLst/>
                <a:latin typeface="Raleway" pitchFamily="2" charset="0"/>
              </a:rPr>
              <a:t> in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 having minimum Hamming distance with </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we select the first such </a:t>
            </a:r>
            <a:r>
              <a:rPr kumimoji="0" lang="en-US" altLang="en-US" sz="1800" b="0" i="1" u="none" strike="noStrike" cap="none" normalizeH="0" baseline="0" dirty="0">
                <a:ln>
                  <a:noFill/>
                </a:ln>
                <a:solidFill>
                  <a:srgbClr val="000000"/>
                </a:solidFill>
                <a:effectLst/>
                <a:latin typeface="Raleway" pitchFamily="2" charset="0"/>
              </a:rPr>
              <a:t>k</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0" u="none" strike="noStrike" cap="none" normalizeH="0" baseline="0" dirty="0" err="1">
                <a:ln>
                  <a:noFill/>
                </a:ln>
                <a:solidFill>
                  <a:srgbClr val="000000"/>
                </a:solidFill>
                <a:effectLst/>
                <a:latin typeface="Raleway" pitchFamily="2" charset="0"/>
              </a:rPr>
              <a:t>mer</a:t>
            </a:r>
            <a:r>
              <a:rPr kumimoji="0" lang="en-US" altLang="en-US" sz="1800" b="0" i="0" u="none" strike="noStrike" cap="none" normalizeH="0" baseline="0" dirty="0">
                <a:ln>
                  <a:noFill/>
                </a:ln>
                <a:solidFill>
                  <a:srgbClr val="000000"/>
                </a:solidFill>
                <a:effectLst/>
                <a:latin typeface="Raleway" pitchFamily="2" charset="0"/>
              </a:rPr>
              <a:t> in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 as </a:t>
            </a:r>
            <a:r>
              <a:rPr kumimoji="0" lang="en-US" altLang="en-US" sz="1800" b="0" i="1" u="none" strike="noStrike" cap="none" normalizeH="0" baseline="0" dirty="0">
                <a:ln>
                  <a:noFill/>
                </a:ln>
                <a:solidFill>
                  <a:srgbClr val="000000"/>
                </a:solidFill>
                <a:effectLst/>
                <a:latin typeface="Raleway" pitchFamily="2" charset="0"/>
              </a:rPr>
              <a:t>Motif</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a:ln>
                  <a:noFill/>
                </a:ln>
                <a:solidFill>
                  <a:srgbClr val="000000"/>
                </a:solidFill>
                <a:effectLst/>
                <a:latin typeface="Raleway" pitchFamily="2" charset="0"/>
              </a:rPr>
              <a:t>Text</a:t>
            </a:r>
            <a:r>
              <a:rPr kumimoji="0" lang="en-US" altLang="en-US" sz="1800" b="0" i="0" u="none" strike="noStrike" cap="none" normalizeH="0" baseline="0" dirty="0">
                <a:ln>
                  <a:noFill/>
                </a:ln>
                <a:solidFill>
                  <a:srgbClr val="000000"/>
                </a:solidFill>
                <a:effectLst/>
                <a:latin typeface="Raleway" pitchFamily="2" charset="0"/>
              </a:rPr>
              <a: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aleway" pitchFamily="2" charset="0"/>
              </a:rPr>
              <a:t>Given a </a:t>
            </a:r>
            <a:r>
              <a:rPr kumimoji="0" lang="en-US" altLang="en-US" sz="1800" b="0" i="1" u="none" strike="noStrike" cap="none" normalizeH="0" baseline="0" dirty="0">
                <a:ln>
                  <a:noFill/>
                </a:ln>
                <a:solidFill>
                  <a:srgbClr val="000000"/>
                </a:solidFill>
                <a:effectLst/>
                <a:latin typeface="Raleway" pitchFamily="2" charset="0"/>
              </a:rPr>
              <a:t>k</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0" u="none" strike="noStrike" cap="none" normalizeH="0" baseline="0" dirty="0" err="1">
                <a:ln>
                  <a:noFill/>
                </a:ln>
                <a:solidFill>
                  <a:srgbClr val="000000"/>
                </a:solidFill>
                <a:effectLst/>
                <a:latin typeface="Raleway" pitchFamily="2" charset="0"/>
              </a:rPr>
              <a:t>mer</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and a set of strings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0" u="none" strike="noStrike" cap="none" normalizeH="0" baseline="0" dirty="0">
                <a:ln>
                  <a:noFill/>
                </a:ln>
                <a:solidFill>
                  <a:srgbClr val="000000"/>
                </a:solidFill>
                <a:effectLst/>
                <a:latin typeface="Raleway" pitchFamily="2" charset="0"/>
              </a:rPr>
              <a:t> = {</a:t>
            </a:r>
            <a:r>
              <a:rPr kumimoji="0" lang="en-US" altLang="en-US" sz="1800" b="0" i="1" u="none" strike="noStrike" cap="none" normalizeH="0" baseline="0" dirty="0">
                <a:ln>
                  <a:noFill/>
                </a:ln>
                <a:solidFill>
                  <a:srgbClr val="000000"/>
                </a:solidFill>
                <a:effectLst/>
                <a:latin typeface="Raleway" pitchFamily="2" charset="0"/>
              </a:rPr>
              <a:t>Dna</a:t>
            </a:r>
            <a:r>
              <a:rPr kumimoji="0" lang="en-US" altLang="en-US" sz="1800" b="0" i="0" u="none" strike="noStrike" cap="none" normalizeH="0" baseline="-30000" dirty="0">
                <a:ln>
                  <a:noFill/>
                </a:ln>
                <a:solidFill>
                  <a:srgbClr val="000000"/>
                </a:solidFill>
                <a:effectLst/>
                <a:latin typeface="Raleway" pitchFamily="2" charset="0"/>
              </a:rPr>
              <a:t>1</a:t>
            </a:r>
            <a:r>
              <a:rPr kumimoji="0" lang="en-US" altLang="en-US" sz="1800" b="0" i="0" u="none" strike="noStrike" cap="none" normalizeH="0" baseline="0" dirty="0">
                <a:ln>
                  <a:noFill/>
                </a:ln>
                <a:solidFill>
                  <a:srgbClr val="000000"/>
                </a:solidFill>
                <a:effectLst/>
                <a:latin typeface="Raleway" pitchFamily="2" charset="0"/>
              </a:rPr>
              <a:t>, … ,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1" u="none" strike="noStrike" cap="none" normalizeH="0" baseline="-30000" dirty="0" err="1">
                <a:ln>
                  <a:noFill/>
                </a:ln>
                <a:solidFill>
                  <a:srgbClr val="000000"/>
                </a:solidFill>
                <a:effectLst/>
                <a:latin typeface="Raleway" pitchFamily="2" charset="0"/>
              </a:rPr>
              <a:t>t</a:t>
            </a:r>
            <a:r>
              <a:rPr kumimoji="0" lang="en-US" altLang="en-US" sz="1800" b="0" i="0" u="none" strike="noStrike" cap="none" normalizeH="0" baseline="0" dirty="0">
                <a:ln>
                  <a:noFill/>
                </a:ln>
                <a:solidFill>
                  <a:srgbClr val="000000"/>
                </a:solidFill>
                <a:effectLst/>
                <a:latin typeface="Raleway" pitchFamily="2" charset="0"/>
              </a:rPr>
              <a:t>}, we define </a:t>
            </a:r>
            <a:r>
              <a:rPr kumimoji="0" lang="en-US" altLang="en-US" sz="1800" b="0" i="1" u="none" strike="noStrike" cap="none" normalizeH="0" baseline="0" dirty="0">
                <a:ln>
                  <a:noFill/>
                </a:ln>
                <a:solidFill>
                  <a:srgbClr val="000000"/>
                </a:solidFill>
                <a:effectLst/>
                <a:latin typeface="Raleway" pitchFamily="2" charset="0"/>
              </a:rPr>
              <a:t>d</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0" u="none" strike="noStrike" cap="none" normalizeH="0" baseline="0" dirty="0">
                <a:ln>
                  <a:noFill/>
                </a:ln>
                <a:solidFill>
                  <a:srgbClr val="000000"/>
                </a:solidFill>
                <a:effectLst/>
                <a:latin typeface="Raleway" pitchFamily="2" charset="0"/>
              </a:rPr>
              <a:t>) as the sum of distances between </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and all strings in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0" u="none" strike="noStrike" cap="none" normalizeH="0" baseline="0" dirty="0">
                <a:ln>
                  <a:noFill/>
                </a:ln>
                <a:solidFill>
                  <a:srgbClr val="000000"/>
                </a:solidFill>
                <a:effectLst/>
                <a:latin typeface="Raleway" pitchFamily="2" charset="0"/>
              </a:rPr>
              <a: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rgbClr val="000000"/>
                </a:solidFill>
                <a:effectLst/>
                <a:latin typeface="Raleway" pitchFamily="2" charset="0"/>
              </a:rPr>
              <a:t>d</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0" u="none" strike="noStrike" cap="none" normalizeH="0" baseline="0" dirty="0">
                <a:ln>
                  <a:noFill/>
                </a:ln>
                <a:solidFill>
                  <a:srgbClr val="000000"/>
                </a:solidFill>
                <a:effectLst/>
                <a:latin typeface="Raleway" pitchFamily="2" charset="0"/>
              </a:rPr>
              <a:t>) = </a:t>
            </a:r>
            <a:r>
              <a:rPr kumimoji="0" lang="en-US" altLang="en-US" sz="1800" b="0" i="0" u="none" strike="noStrike" cap="none" normalizeH="0" baseline="0" dirty="0" err="1">
                <a:ln>
                  <a:noFill/>
                </a:ln>
                <a:solidFill>
                  <a:srgbClr val="000000"/>
                </a:solidFill>
                <a:effectLst/>
                <a:latin typeface="Raleway" pitchFamily="2" charset="0"/>
              </a:rPr>
              <a:t>Σ</a:t>
            </a:r>
            <a:r>
              <a:rPr kumimoji="0" lang="en-US" altLang="en-US" sz="1800" b="0" i="1" u="none" strike="noStrike" cap="none" normalizeH="0" baseline="-30000" dirty="0" err="1">
                <a:ln>
                  <a:noFill/>
                </a:ln>
                <a:solidFill>
                  <a:srgbClr val="000000"/>
                </a:solidFill>
                <a:effectLst/>
                <a:latin typeface="Raleway" pitchFamily="2" charset="0"/>
              </a:rPr>
              <a:t>i</a:t>
            </a:r>
            <a:r>
              <a:rPr kumimoji="0" lang="en-US" altLang="en-US" sz="1800" b="0" i="0" u="none" strike="noStrike" cap="none" normalizeH="0" baseline="-30000" dirty="0">
                <a:ln>
                  <a:noFill/>
                </a:ln>
                <a:solidFill>
                  <a:srgbClr val="000000"/>
                </a:solidFill>
                <a:effectLst/>
                <a:latin typeface="Raleway" pitchFamily="2" charset="0"/>
              </a:rPr>
              <a:t>=1</a:t>
            </a:r>
            <a:r>
              <a:rPr kumimoji="0" lang="en-US" altLang="en-US" sz="1800" b="0" i="1" u="none" strike="noStrike" cap="none" normalizeH="0" baseline="30000" dirty="0">
                <a:ln>
                  <a:noFill/>
                </a:ln>
                <a:solidFill>
                  <a:srgbClr val="000000"/>
                </a:solidFill>
                <a:effectLst/>
                <a:latin typeface="Raleway" pitchFamily="2" charset="0"/>
              </a:rPr>
              <a:t>t </a:t>
            </a:r>
            <a:r>
              <a:rPr kumimoji="0" lang="en-US" altLang="en-US" sz="1800" b="0" i="1" u="none" strike="noStrike" cap="none" normalizeH="0" baseline="0" dirty="0">
                <a:ln>
                  <a:noFill/>
                </a:ln>
                <a:solidFill>
                  <a:srgbClr val="000000"/>
                </a:solidFill>
                <a:effectLst/>
                <a:latin typeface="Raleway" pitchFamily="2" charset="0"/>
              </a:rPr>
              <a:t>d</a:t>
            </a:r>
            <a:r>
              <a:rPr kumimoji="0" lang="en-US" altLang="en-US" sz="1800" b="0" i="0" u="none" strike="noStrike" cap="none" normalizeH="0" baseline="0" dirty="0">
                <a:ln>
                  <a:noFill/>
                </a:ln>
                <a:solidFill>
                  <a:srgbClr val="000000"/>
                </a:solidFill>
                <a:effectLst/>
                <a:latin typeface="Raleway" pitchFamily="2" charset="0"/>
              </a:rPr>
              <a:t>(</a:t>
            </a:r>
            <a:r>
              <a:rPr kumimoji="0" lang="en-US" altLang="en-US" sz="1800" b="0" i="1" u="none" strike="noStrike" cap="none" normalizeH="0" baseline="0" dirty="0">
                <a:ln>
                  <a:noFill/>
                </a:ln>
                <a:solidFill>
                  <a:srgbClr val="000000"/>
                </a:solidFill>
                <a:effectLst/>
                <a:latin typeface="Raleway" pitchFamily="2" charset="0"/>
              </a:rPr>
              <a:t>Pattern</a:t>
            </a:r>
            <a:r>
              <a:rPr kumimoji="0" lang="en-US" altLang="en-US" sz="1800" b="0" i="0"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0" dirty="0" err="1">
                <a:ln>
                  <a:noFill/>
                </a:ln>
                <a:solidFill>
                  <a:srgbClr val="000000"/>
                </a:solidFill>
                <a:effectLst/>
                <a:latin typeface="Raleway" pitchFamily="2" charset="0"/>
              </a:rPr>
              <a:t>Dna</a:t>
            </a:r>
            <a:r>
              <a:rPr kumimoji="0" lang="en-US" altLang="en-US" sz="1800" b="0" i="1" u="none" strike="noStrike" cap="none" normalizeH="0" baseline="0" dirty="0">
                <a:ln>
                  <a:noFill/>
                </a:ln>
                <a:solidFill>
                  <a:srgbClr val="000000"/>
                </a:solidFill>
                <a:effectLst/>
                <a:latin typeface="Raleway" pitchFamily="2" charset="0"/>
              </a:rPr>
              <a:t> </a:t>
            </a:r>
            <a:r>
              <a:rPr kumimoji="0" lang="en-US" altLang="en-US" sz="1800" b="0" i="1" u="none" strike="noStrike" cap="none" normalizeH="0" baseline="-30000" dirty="0" err="1">
                <a:ln>
                  <a:noFill/>
                </a:ln>
                <a:solidFill>
                  <a:srgbClr val="000000"/>
                </a:solidFill>
                <a:effectLst/>
                <a:latin typeface="Raleway" pitchFamily="2" charset="0"/>
              </a:rPr>
              <a:t>i</a:t>
            </a:r>
            <a:r>
              <a:rPr kumimoji="0" lang="en-US" altLang="en-US" sz="1800" b="0" i="1" u="none" strike="noStrike" cap="none" normalizeH="0" baseline="30000" dirty="0">
                <a:ln>
                  <a:noFill/>
                </a:ln>
                <a:solidFill>
                  <a:srgbClr val="000000"/>
                </a:solidFill>
                <a:effectLst/>
                <a:latin typeface="Raleway" pitchFamily="2" charset="0"/>
              </a:rPr>
              <a:t> </a:t>
            </a:r>
            <a:r>
              <a:rPr kumimoji="0" lang="en-US" altLang="en-US" sz="1800" b="0" i="0" u="none" strike="noStrike" cap="none" normalizeH="0" baseline="0" dirty="0">
                <a:ln>
                  <a:noFill/>
                </a:ln>
                <a:solidFill>
                  <a:srgbClr val="000000"/>
                </a:solidFill>
                <a:effectLst/>
                <a:latin typeface="Raleway" pitchFamily="2"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71773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DAF9-EB7C-1D5A-690C-545C84B18506}"/>
              </a:ext>
            </a:extLst>
          </p:cNvPr>
          <p:cNvSpPr>
            <a:spLocks noGrp="1"/>
          </p:cNvSpPr>
          <p:nvPr>
            <p:ph type="title"/>
          </p:nvPr>
        </p:nvSpPr>
        <p:spPr/>
        <p:txBody>
          <a:bodyPr>
            <a:normAutofit/>
          </a:bodyPr>
          <a:lstStyle/>
          <a:p>
            <a:r>
              <a:rPr lang="en-US" sz="1600" b="0" i="0" dirty="0">
                <a:solidFill>
                  <a:srgbClr val="000000"/>
                </a:solidFill>
                <a:effectLst/>
                <a:latin typeface="Raleway" pitchFamily="2" charset="0"/>
              </a:rPr>
              <a:t>For example, for the strings </a:t>
            </a:r>
            <a:r>
              <a:rPr lang="en-US" sz="1600" b="0" i="1" dirty="0" err="1">
                <a:solidFill>
                  <a:srgbClr val="000000"/>
                </a:solidFill>
                <a:effectLst/>
                <a:latin typeface="Raleway" pitchFamily="2" charset="0"/>
              </a:rPr>
              <a:t>Dna</a:t>
            </a:r>
            <a:r>
              <a:rPr lang="en-US" sz="1600" b="0" i="0" dirty="0">
                <a:solidFill>
                  <a:srgbClr val="000000"/>
                </a:solidFill>
                <a:effectLst/>
                <a:latin typeface="Raleway" pitchFamily="2" charset="0"/>
              </a:rPr>
              <a:t> shown below, </a:t>
            </a:r>
            <a:r>
              <a:rPr lang="en-US" sz="1600" b="0" i="1" dirty="0">
                <a:solidFill>
                  <a:srgbClr val="000000"/>
                </a:solidFill>
                <a:effectLst/>
                <a:latin typeface="Raleway" pitchFamily="2" charset="0"/>
              </a:rPr>
              <a:t>d</a:t>
            </a:r>
            <a:r>
              <a:rPr lang="en-US" sz="1600" b="0" i="0" dirty="0">
                <a:solidFill>
                  <a:srgbClr val="000000"/>
                </a:solidFill>
                <a:effectLst/>
                <a:latin typeface="Raleway" pitchFamily="2" charset="0"/>
              </a:rPr>
              <a:t>(</a:t>
            </a:r>
            <a:r>
              <a:rPr lang="en-US" sz="1600" b="1" i="0" dirty="0">
                <a:solidFill>
                  <a:srgbClr val="64B0F4"/>
                </a:solidFill>
                <a:effectLst/>
                <a:latin typeface="Courier New" panose="02070309020205020404" pitchFamily="49" charset="0"/>
              </a:rPr>
              <a:t>AAA</a:t>
            </a:r>
            <a:r>
              <a:rPr lang="en-US" sz="1600" b="0" i="0" dirty="0">
                <a:solidFill>
                  <a:srgbClr val="000000"/>
                </a:solidFill>
                <a:effectLst/>
                <a:latin typeface="Raleway" pitchFamily="2" charset="0"/>
              </a:rPr>
              <a:t>, </a:t>
            </a:r>
            <a:r>
              <a:rPr lang="en-US" sz="1600" b="0" i="1" dirty="0" err="1">
                <a:solidFill>
                  <a:srgbClr val="000000"/>
                </a:solidFill>
                <a:effectLst/>
                <a:latin typeface="Raleway" pitchFamily="2" charset="0"/>
              </a:rPr>
              <a:t>Dna</a:t>
            </a:r>
            <a:r>
              <a:rPr lang="en-US" sz="1600" b="0" i="0" dirty="0">
                <a:solidFill>
                  <a:srgbClr val="000000"/>
                </a:solidFill>
                <a:effectLst/>
                <a:latin typeface="Raleway" pitchFamily="2" charset="0"/>
              </a:rPr>
              <a:t>) = </a:t>
            </a:r>
            <a:r>
              <a:rPr lang="en-US" sz="1600" b="1" i="0" dirty="0">
                <a:solidFill>
                  <a:srgbClr val="FF4363"/>
                </a:solidFill>
                <a:effectLst/>
                <a:latin typeface="Raleway" pitchFamily="2" charset="0"/>
              </a:rPr>
              <a:t>1</a:t>
            </a:r>
            <a:r>
              <a:rPr lang="en-US" sz="1600" b="0" i="0" dirty="0">
                <a:solidFill>
                  <a:srgbClr val="000000"/>
                </a:solidFill>
                <a:effectLst/>
                <a:latin typeface="Raleway" pitchFamily="2" charset="0"/>
              </a:rPr>
              <a:t> + </a:t>
            </a:r>
            <a:r>
              <a:rPr lang="en-US" sz="1600" b="1" i="0" dirty="0">
                <a:solidFill>
                  <a:srgbClr val="FF4363"/>
                </a:solidFill>
                <a:effectLst/>
                <a:latin typeface="Raleway" pitchFamily="2" charset="0"/>
              </a:rPr>
              <a:t>1</a:t>
            </a:r>
            <a:r>
              <a:rPr lang="en-US" sz="1600" b="0" i="0" dirty="0">
                <a:solidFill>
                  <a:srgbClr val="000000"/>
                </a:solidFill>
                <a:effectLst/>
                <a:latin typeface="Raleway" pitchFamily="2" charset="0"/>
              </a:rPr>
              <a:t> + </a:t>
            </a:r>
            <a:r>
              <a:rPr lang="en-US" sz="1600" b="1" i="0" dirty="0">
                <a:solidFill>
                  <a:srgbClr val="FF4363"/>
                </a:solidFill>
                <a:effectLst/>
                <a:latin typeface="Raleway" pitchFamily="2" charset="0"/>
              </a:rPr>
              <a:t>2</a:t>
            </a:r>
            <a:r>
              <a:rPr lang="en-US" sz="1600" b="0" i="0" dirty="0">
                <a:solidFill>
                  <a:srgbClr val="000000"/>
                </a:solidFill>
                <a:effectLst/>
                <a:latin typeface="Raleway" pitchFamily="2" charset="0"/>
              </a:rPr>
              <a:t> + </a:t>
            </a:r>
            <a:r>
              <a:rPr lang="en-US" sz="1600" b="1" i="0" dirty="0">
                <a:solidFill>
                  <a:srgbClr val="FF4363"/>
                </a:solidFill>
                <a:effectLst/>
                <a:latin typeface="Raleway" pitchFamily="2" charset="0"/>
              </a:rPr>
              <a:t>0</a:t>
            </a:r>
            <a:r>
              <a:rPr lang="en-US" sz="1600" b="0" i="0" dirty="0">
                <a:solidFill>
                  <a:srgbClr val="000000"/>
                </a:solidFill>
                <a:effectLst/>
                <a:latin typeface="Raleway" pitchFamily="2" charset="0"/>
              </a:rPr>
              <a:t> + </a:t>
            </a:r>
            <a:r>
              <a:rPr lang="en-US" sz="1600" b="1" i="0" dirty="0">
                <a:solidFill>
                  <a:srgbClr val="FF4363"/>
                </a:solidFill>
                <a:effectLst/>
                <a:latin typeface="Raleway" pitchFamily="2" charset="0"/>
              </a:rPr>
              <a:t>1</a:t>
            </a:r>
            <a:r>
              <a:rPr lang="en-US" sz="1600" b="0" i="0" dirty="0">
                <a:solidFill>
                  <a:srgbClr val="000000"/>
                </a:solidFill>
                <a:effectLst/>
                <a:latin typeface="Raleway" pitchFamily="2" charset="0"/>
              </a:rPr>
              <a:t> = </a:t>
            </a:r>
            <a:r>
              <a:rPr lang="en-US" sz="1600" b="1" i="0" dirty="0">
                <a:solidFill>
                  <a:srgbClr val="FF4363"/>
                </a:solidFill>
                <a:effectLst/>
                <a:latin typeface="Raleway" pitchFamily="2" charset="0"/>
              </a:rPr>
              <a:t>5</a:t>
            </a:r>
            <a:r>
              <a:rPr lang="en-US" sz="1600" b="0" i="0" dirty="0">
                <a:solidFill>
                  <a:srgbClr val="000000"/>
                </a:solidFill>
                <a:effectLst/>
                <a:latin typeface="Raleway" pitchFamily="2" charset="0"/>
              </a:rPr>
              <a:t>.</a:t>
            </a:r>
            <a:endParaRPr lang="en-US" sz="1600" dirty="0"/>
          </a:p>
        </p:txBody>
      </p:sp>
      <p:pic>
        <p:nvPicPr>
          <p:cNvPr id="22530" name="Picture 2">
            <a:extLst>
              <a:ext uri="{FF2B5EF4-FFF2-40B4-BE49-F238E27FC236}">
                <a16:creationId xmlns:a16="http://schemas.microsoft.com/office/drawing/2014/main" id="{2E43F950-51CB-5D78-3269-E90854601A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6650" y="2090738"/>
            <a:ext cx="483870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2567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D748D-18BB-84D8-1BC4-082C3DD7D4A7}"/>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The Median String Problem</a:t>
            </a:r>
            <a:endParaRPr lang="en-US" dirty="0"/>
          </a:p>
        </p:txBody>
      </p:sp>
      <p:sp>
        <p:nvSpPr>
          <p:cNvPr id="3" name="Content Placeholder 2">
            <a:extLst>
              <a:ext uri="{FF2B5EF4-FFF2-40B4-BE49-F238E27FC236}">
                <a16:creationId xmlns:a16="http://schemas.microsoft.com/office/drawing/2014/main" id="{B6BEB5CE-03C5-7AC8-E965-93DB9A4296F9}"/>
              </a:ext>
            </a:extLst>
          </p:cNvPr>
          <p:cNvSpPr>
            <a:spLocks noGrp="1"/>
          </p:cNvSpPr>
          <p:nvPr>
            <p:ph idx="1"/>
          </p:nvPr>
        </p:nvSpPr>
        <p:spPr/>
        <p:txBody>
          <a:bodyPr>
            <a:normAutofit fontScale="85000" lnSpcReduction="10000"/>
          </a:bodyPr>
          <a:lstStyle/>
          <a:p>
            <a:pPr algn="l">
              <a:buNone/>
            </a:pPr>
            <a:r>
              <a:rPr lang="en-US" b="0" i="0" dirty="0">
                <a:solidFill>
                  <a:srgbClr val="000000"/>
                </a:solidFill>
                <a:effectLst/>
                <a:latin typeface="Raleway" pitchFamily="2" charset="0"/>
              </a:rPr>
              <a:t>Our goal is to find a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that minimizes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over all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the same task that the Equivalent Motif Finding Problem is trying to achieve. We call such a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a </a:t>
            </a:r>
            <a:r>
              <a:rPr lang="en-US" b="1" i="0" dirty="0">
                <a:solidFill>
                  <a:srgbClr val="000000"/>
                </a:solidFill>
                <a:effectLst/>
                <a:latin typeface="Raleway" pitchFamily="2" charset="0"/>
              </a:rPr>
              <a:t>median string</a:t>
            </a:r>
            <a:r>
              <a:rPr lang="en-US" b="0" i="0" dirty="0">
                <a:solidFill>
                  <a:srgbClr val="000000"/>
                </a:solidFill>
                <a:effectLst/>
                <a:latin typeface="Raleway" pitchFamily="2" charset="0"/>
              </a:rPr>
              <a:t> for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a:t>
            </a:r>
          </a:p>
          <a:p>
            <a:pPr algn="l">
              <a:buNone/>
            </a:pPr>
            <a:r>
              <a:rPr lang="en-US" b="1" i="0" dirty="0">
                <a:solidFill>
                  <a:srgbClr val="000000"/>
                </a:solidFill>
                <a:effectLst/>
                <a:latin typeface="Raleway" pitchFamily="2" charset="0"/>
              </a:rPr>
              <a:t>Median String Problem:</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Find a median string.</a:t>
            </a:r>
            <a:endParaRPr lang="en-US" b="0" i="0" dirty="0">
              <a:solidFill>
                <a:srgbClr val="000000"/>
              </a:solidFill>
              <a:effectLst/>
              <a:latin typeface="Raleway" pitchFamily="2" charset="0"/>
            </a:endParaRPr>
          </a:p>
          <a:p>
            <a:pPr algn="l">
              <a:buFont typeface="Arial" panose="020B0604020202020204" pitchFamily="34" charset="0"/>
              <a:buChar char="•"/>
            </a:pPr>
            <a:r>
              <a:rPr lang="en-US" b="1" i="0" dirty="0">
                <a:solidFill>
                  <a:srgbClr val="000000"/>
                </a:solidFill>
                <a:effectLst/>
                <a:latin typeface="Raleway" pitchFamily="2" charset="0"/>
              </a:rPr>
              <a:t>Input:</a:t>
            </a:r>
            <a:r>
              <a:rPr lang="en-US" b="0" i="0" dirty="0">
                <a:solidFill>
                  <a:srgbClr val="000000"/>
                </a:solidFill>
                <a:effectLst/>
                <a:latin typeface="Raleway" pitchFamily="2" charset="0"/>
              </a:rPr>
              <a:t> A collection of strings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and an integer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p>
          <a:p>
            <a:pPr algn="l">
              <a:buFont typeface="Arial" panose="020B0604020202020204" pitchFamily="34" charset="0"/>
              <a:buChar char="•"/>
            </a:pPr>
            <a:r>
              <a:rPr lang="en-US" b="1" i="0" dirty="0">
                <a:solidFill>
                  <a:srgbClr val="000000"/>
                </a:solidFill>
                <a:effectLst/>
                <a:latin typeface="Raleway" pitchFamily="2" charset="0"/>
              </a:rPr>
              <a:t>Output:</a:t>
            </a:r>
            <a:r>
              <a:rPr lang="en-US" b="0" i="0" dirty="0">
                <a:solidFill>
                  <a:srgbClr val="000000"/>
                </a:solidFill>
                <a:effectLst/>
                <a:latin typeface="Raleway" pitchFamily="2" charset="0"/>
              </a:rPr>
              <a:t> A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that minimizes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among all possible choices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a:t>
            </a:r>
          </a:p>
          <a:p>
            <a:pPr algn="l">
              <a:buNone/>
            </a:pPr>
            <a:r>
              <a:rPr lang="en-US" b="0" i="0" dirty="0">
                <a:solidFill>
                  <a:srgbClr val="000000"/>
                </a:solidFill>
                <a:effectLst/>
                <a:latin typeface="Raleway" pitchFamily="2" charset="0"/>
              </a:rPr>
              <a:t>Notice that finding a median string requires solving a double minimization problem. We must find a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that minimizes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where this function is itself computed by taking a minimum over all choices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from each string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a:t>
            </a:r>
          </a:p>
          <a:p>
            <a:endParaRPr lang="en-US" dirty="0"/>
          </a:p>
        </p:txBody>
      </p:sp>
    </p:spTree>
    <p:extLst>
      <p:ext uri="{BB962C8B-B14F-4D97-AF65-F5344CB8AC3E}">
        <p14:creationId xmlns:p14="http://schemas.microsoft.com/office/powerpoint/2010/main" val="18146223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C63EB-4605-FBC4-C8AE-0505DA185C08}"/>
              </a:ext>
            </a:extLst>
          </p:cNvPr>
          <p:cNvSpPr>
            <a:spLocks noGrp="1"/>
          </p:cNvSpPr>
          <p:nvPr>
            <p:ph type="title"/>
          </p:nvPr>
        </p:nvSpPr>
        <p:spPr/>
        <p:txBody>
          <a:bodyPr/>
          <a:lstStyle/>
          <a:p>
            <a:r>
              <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rPr>
              <a:t>The Median String Problem</a:t>
            </a:r>
            <a:endParaRPr lang="en-US" dirty="0"/>
          </a:p>
        </p:txBody>
      </p:sp>
      <p:sp>
        <p:nvSpPr>
          <p:cNvPr id="3" name="Content Placeholder 2">
            <a:extLst>
              <a:ext uri="{FF2B5EF4-FFF2-40B4-BE49-F238E27FC236}">
                <a16:creationId xmlns:a16="http://schemas.microsoft.com/office/drawing/2014/main" id="{80ABB293-DC6E-743A-F8B6-6D321CEF280E}"/>
              </a:ext>
            </a:extLst>
          </p:cNvPr>
          <p:cNvSpPr>
            <a:spLocks noGrp="1"/>
          </p:cNvSpPr>
          <p:nvPr>
            <p:ph idx="1"/>
          </p:nvPr>
        </p:nvSpPr>
        <p:spPr/>
        <p:txBody>
          <a:bodyPr>
            <a:normAutofit fontScale="70000" lnSpcReduction="20000"/>
          </a:bodyPr>
          <a:lstStyle/>
          <a:p>
            <a:r>
              <a:rPr lang="en-US" dirty="0"/>
              <a:t>We now give the pseudocode for a brute force solution to the Median String Problem.</a:t>
            </a:r>
          </a:p>
          <a:p>
            <a:endParaRPr lang="en-US" dirty="0"/>
          </a:p>
          <a:p>
            <a:r>
              <a:rPr lang="en-US" dirty="0" err="1"/>
              <a:t>MedianString</a:t>
            </a:r>
            <a:r>
              <a:rPr lang="en-US" dirty="0"/>
              <a:t>(</a:t>
            </a:r>
            <a:r>
              <a:rPr lang="en-US" dirty="0" err="1"/>
              <a:t>Dna</a:t>
            </a:r>
            <a:r>
              <a:rPr lang="en-US" dirty="0"/>
              <a:t>, k)</a:t>
            </a:r>
          </a:p>
          <a:p>
            <a:r>
              <a:rPr lang="en-US" dirty="0"/>
              <a:t>    distance ← ∞</a:t>
            </a:r>
          </a:p>
          <a:p>
            <a:r>
              <a:rPr lang="en-US" dirty="0"/>
              <a:t>    Median ← ""</a:t>
            </a:r>
          </a:p>
          <a:p>
            <a:r>
              <a:rPr lang="en-US" dirty="0"/>
              <a:t>    for each k-</a:t>
            </a:r>
            <a:r>
              <a:rPr lang="en-US" dirty="0" err="1"/>
              <a:t>mer</a:t>
            </a:r>
            <a:r>
              <a:rPr lang="en-US" dirty="0"/>
              <a:t> Pattern from AA…AA to TT…TT</a:t>
            </a:r>
          </a:p>
          <a:p>
            <a:r>
              <a:rPr lang="en-US" dirty="0"/>
              <a:t>        if distance &gt; d(Pattern, </a:t>
            </a:r>
            <a:r>
              <a:rPr lang="en-US" dirty="0" err="1"/>
              <a:t>Dna</a:t>
            </a:r>
            <a:r>
              <a:rPr lang="en-US" dirty="0"/>
              <a:t>)</a:t>
            </a:r>
          </a:p>
          <a:p>
            <a:r>
              <a:rPr lang="en-US" dirty="0"/>
              <a:t>                distance ← d(Pattern, </a:t>
            </a:r>
            <a:r>
              <a:rPr lang="en-US" dirty="0" err="1"/>
              <a:t>Dna</a:t>
            </a:r>
            <a:r>
              <a:rPr lang="en-US" dirty="0"/>
              <a:t>)</a:t>
            </a:r>
          </a:p>
          <a:p>
            <a:r>
              <a:rPr lang="en-US" dirty="0"/>
              <a:t>                Median ← Pattern</a:t>
            </a:r>
          </a:p>
          <a:p>
            <a:r>
              <a:rPr lang="en-US" dirty="0"/>
              <a:t>    return Median</a:t>
            </a:r>
          </a:p>
        </p:txBody>
      </p:sp>
    </p:spTree>
    <p:extLst>
      <p:ext uri="{BB962C8B-B14F-4D97-AF65-F5344CB8AC3E}">
        <p14:creationId xmlns:p14="http://schemas.microsoft.com/office/powerpoint/2010/main" val="15755983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D5258-A712-4020-D4B1-70CBBB28BD0D}"/>
              </a:ext>
            </a:extLst>
          </p:cNvPr>
          <p:cNvSpPr>
            <a:spLocks noGrp="1"/>
          </p:cNvSpPr>
          <p:nvPr>
            <p:ph type="title"/>
          </p:nvPr>
        </p:nvSpPr>
        <p:spPr/>
        <p:txBody>
          <a:bodyPr/>
          <a:lstStyle/>
          <a:p>
            <a:r>
              <a:rPr kumimoji="0" lang="en-US" sz="2400" b="0" i="0" u="none" strike="noStrike" kern="1200" cap="all" spc="0" normalizeH="0" baseline="0" noProof="0" dirty="0">
                <a:ln>
                  <a:noFill/>
                </a:ln>
                <a:solidFill>
                  <a:prstClr val="black"/>
                </a:solidFill>
                <a:effectLst/>
                <a:uLnTx/>
                <a:uFillTx/>
                <a:latin typeface="Gill Sans MT" panose="020B0502020104020203"/>
                <a:ea typeface="+mj-ea"/>
                <a:cs typeface="+mj-cs"/>
              </a:rPr>
              <a:t>Why have we reformulated the Motif Finding Problem?</a:t>
            </a:r>
            <a:endParaRPr lang="en-US" dirty="0"/>
          </a:p>
        </p:txBody>
      </p:sp>
      <p:sp>
        <p:nvSpPr>
          <p:cNvPr id="3" name="Content Placeholder 2">
            <a:extLst>
              <a:ext uri="{FF2B5EF4-FFF2-40B4-BE49-F238E27FC236}">
                <a16:creationId xmlns:a16="http://schemas.microsoft.com/office/drawing/2014/main" id="{11A0519F-DABB-6097-1BB9-76EBE77D4AB6}"/>
              </a:ext>
            </a:extLst>
          </p:cNvPr>
          <p:cNvSpPr>
            <a:spLocks noGrp="1"/>
          </p:cNvSpPr>
          <p:nvPr>
            <p:ph idx="1"/>
          </p:nvPr>
        </p:nvSpPr>
        <p:spPr/>
        <p:txBody>
          <a:bodyPr>
            <a:normAutofit lnSpcReduction="10000"/>
          </a:bodyPr>
          <a:lstStyle/>
          <a:p>
            <a:r>
              <a:rPr lang="en-US" b="0" i="0" dirty="0">
                <a:solidFill>
                  <a:srgbClr val="000000"/>
                </a:solidFill>
                <a:effectLst/>
                <a:latin typeface="Raleway" pitchFamily="2" charset="0"/>
              </a:rPr>
              <a:t>To see why we reformulated the Motif Finding Problem as the equivalent Median String Problem, consider the runtime of </a:t>
            </a:r>
            <a:r>
              <a:rPr lang="en-US" b="1" i="0" dirty="0" err="1">
                <a:solidFill>
                  <a:srgbClr val="000000"/>
                </a:solidFill>
                <a:effectLst/>
                <a:latin typeface="Raleway" pitchFamily="2" charset="0"/>
              </a:rPr>
              <a:t>MedianString</a:t>
            </a:r>
            <a:r>
              <a:rPr lang="en-US" b="0" i="0" dirty="0">
                <a:solidFill>
                  <a:srgbClr val="000000"/>
                </a:solidFill>
                <a:effectLst/>
                <a:latin typeface="Raleway" pitchFamily="2" charset="0"/>
              </a:rPr>
              <a:t> and </a:t>
            </a:r>
            <a:r>
              <a:rPr lang="en-US" b="1" i="0" dirty="0" err="1">
                <a:solidFill>
                  <a:srgbClr val="000000"/>
                </a:solidFill>
                <a:effectLst/>
                <a:latin typeface="Raleway" pitchFamily="2" charset="0"/>
              </a:rPr>
              <a:t>BruteForceMotifSearch</a:t>
            </a:r>
            <a:r>
              <a:rPr lang="en-US" b="0" i="0" dirty="0">
                <a:solidFill>
                  <a:srgbClr val="000000"/>
                </a:solidFill>
                <a:effectLst/>
                <a:latin typeface="Raleway" pitchFamily="2" charset="0"/>
              </a:rPr>
              <a:t>. The former algorithm computes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for each of the 4</a:t>
            </a:r>
            <a:r>
              <a:rPr lang="en-US" b="0" i="1" baseline="30000" dirty="0">
                <a:solidFill>
                  <a:srgbClr val="000000"/>
                </a:solidFill>
                <a:effectLst/>
                <a:latin typeface="Raleway" pitchFamily="2" charset="0"/>
              </a:rPr>
              <a:t>k</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Each computation of </a:t>
            </a:r>
            <a:r>
              <a:rPr lang="en-US" b="0" i="1" dirty="0">
                <a:solidFill>
                  <a:srgbClr val="000000"/>
                </a:solidFill>
                <a:effectLst/>
                <a:latin typeface="Raleway" pitchFamily="2" charset="0"/>
              </a:rPr>
              <a:t>d</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Pattern</a:t>
            </a:r>
            <a:r>
              <a:rPr lang="en-US" b="0" i="0" dirty="0">
                <a:solidFill>
                  <a:srgbClr val="000000"/>
                </a:solidFill>
                <a:effectLst/>
                <a:latin typeface="Raleway" pitchFamily="2" charset="0"/>
              </a:rPr>
              <a:t>,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requires a single pass over each string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which requires approximately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n</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operations for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strings of length </a:t>
            </a:r>
            <a:r>
              <a:rPr lang="en-US" b="0" i="1" dirty="0">
                <a:solidFill>
                  <a:srgbClr val="000000"/>
                </a:solidFill>
                <a:effectLst/>
                <a:latin typeface="Raleway" pitchFamily="2" charset="0"/>
              </a:rPr>
              <a:t>n</a:t>
            </a:r>
            <a:r>
              <a:rPr lang="en-US" b="0" i="0" dirty="0">
                <a:solidFill>
                  <a:srgbClr val="000000"/>
                </a:solidFill>
                <a:effectLst/>
                <a:latin typeface="Raleway" pitchFamily="2" charset="0"/>
              </a:rPr>
              <a:t> in </a:t>
            </a:r>
            <a:r>
              <a:rPr lang="en-US" b="0" i="1" dirty="0" err="1">
                <a:solidFill>
                  <a:srgbClr val="000000"/>
                </a:solidFill>
                <a:effectLst/>
                <a:latin typeface="Raleway" pitchFamily="2" charset="0"/>
              </a:rPr>
              <a:t>Dna</a:t>
            </a:r>
            <a:r>
              <a:rPr lang="en-US" b="0" i="0" dirty="0">
                <a:solidFill>
                  <a:srgbClr val="000000"/>
                </a:solidFill>
                <a:effectLst/>
                <a:latin typeface="Raleway" pitchFamily="2" charset="0"/>
              </a:rPr>
              <a:t>. Therefore, </a:t>
            </a:r>
            <a:r>
              <a:rPr lang="en-US" b="1" i="0" dirty="0" err="1">
                <a:solidFill>
                  <a:srgbClr val="000000"/>
                </a:solidFill>
                <a:effectLst/>
                <a:latin typeface="Raleway" pitchFamily="2" charset="0"/>
              </a:rPr>
              <a:t>MedianString</a:t>
            </a:r>
            <a:r>
              <a:rPr lang="en-US" b="0" i="0" dirty="0">
                <a:solidFill>
                  <a:srgbClr val="000000"/>
                </a:solidFill>
                <a:effectLst/>
                <a:latin typeface="Raleway" pitchFamily="2" charset="0"/>
              </a:rPr>
              <a:t> has a running time of O(4</a:t>
            </a:r>
            <a:r>
              <a:rPr lang="en-US" b="0" i="1" baseline="30000" dirty="0">
                <a:solidFill>
                  <a:srgbClr val="000000"/>
                </a:solidFill>
                <a:effectLst/>
                <a:latin typeface="Raleway" pitchFamily="2" charset="0"/>
              </a:rPr>
              <a:t>k</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n</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which in practice compares favorably with the O(</a:t>
            </a:r>
            <a:r>
              <a:rPr lang="en-US" b="0" i="1" dirty="0" err="1">
                <a:solidFill>
                  <a:srgbClr val="000000"/>
                </a:solidFill>
                <a:effectLst/>
                <a:latin typeface="Raleway" pitchFamily="2" charset="0"/>
              </a:rPr>
              <a:t>n</a:t>
            </a:r>
            <a:r>
              <a:rPr lang="en-US" b="0" i="1" baseline="30000" dirty="0" err="1">
                <a:solidFill>
                  <a:srgbClr val="000000"/>
                </a:solidFill>
                <a:effectLst/>
                <a:latin typeface="Raleway" pitchFamily="2" charset="0"/>
              </a:rPr>
              <a:t>t</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running time of </a:t>
            </a:r>
            <a:r>
              <a:rPr lang="en-US" b="1" i="0" dirty="0" err="1">
                <a:solidFill>
                  <a:srgbClr val="000000"/>
                </a:solidFill>
                <a:effectLst/>
                <a:latin typeface="Raleway" pitchFamily="2" charset="0"/>
              </a:rPr>
              <a:t>BruteForceMotifSearch</a:t>
            </a:r>
            <a:r>
              <a:rPr lang="en-US" b="0" i="0" dirty="0">
                <a:solidFill>
                  <a:srgbClr val="000000"/>
                </a:solidFill>
                <a:effectLst/>
                <a:latin typeface="Raleway" pitchFamily="2" charset="0"/>
              </a:rPr>
              <a:t> because the length of a motif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typically does not exceed 20 nucleotides, whereas </a:t>
            </a:r>
            <a:r>
              <a:rPr lang="en-US" b="0" i="1" dirty="0">
                <a:solidFill>
                  <a:srgbClr val="000000"/>
                </a:solidFill>
                <a:effectLst/>
                <a:latin typeface="Raleway" pitchFamily="2" charset="0"/>
              </a:rPr>
              <a:t>t</a:t>
            </a:r>
            <a:r>
              <a:rPr lang="en-US" b="0" i="0" dirty="0">
                <a:solidFill>
                  <a:srgbClr val="000000"/>
                </a:solidFill>
                <a:effectLst/>
                <a:latin typeface="Raleway" pitchFamily="2" charset="0"/>
              </a:rPr>
              <a:t> is measured in the thousands.</a:t>
            </a:r>
            <a:endParaRPr lang="en-US" dirty="0"/>
          </a:p>
        </p:txBody>
      </p:sp>
    </p:spTree>
    <p:extLst>
      <p:ext uri="{BB962C8B-B14F-4D97-AF65-F5344CB8AC3E}">
        <p14:creationId xmlns:p14="http://schemas.microsoft.com/office/powerpoint/2010/main" val="30089410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5B5D-89F0-30EB-B992-A4DA7DD485FE}"/>
              </a:ext>
            </a:extLst>
          </p:cNvPr>
          <p:cNvSpPr>
            <a:spLocks noGrp="1"/>
          </p:cNvSpPr>
          <p:nvPr>
            <p:ph type="title"/>
          </p:nvPr>
        </p:nvSpPr>
        <p:spPr/>
        <p:txBody>
          <a:bodyPr>
            <a:normAutofit/>
          </a:bodyPr>
          <a:lstStyle/>
          <a:p>
            <a:r>
              <a:rPr kumimoji="0" lang="en-US" sz="2400" b="0" i="0" u="none" strike="noStrike" kern="1200" cap="all" spc="0" normalizeH="0" baseline="0" noProof="0" dirty="0">
                <a:ln>
                  <a:noFill/>
                </a:ln>
                <a:solidFill>
                  <a:prstClr val="black"/>
                </a:solidFill>
                <a:effectLst/>
                <a:uLnTx/>
                <a:uFillTx/>
                <a:latin typeface="Gill Sans MT" panose="020B0502020104020203"/>
                <a:ea typeface="+mj-ea"/>
                <a:cs typeface="+mj-cs"/>
              </a:rPr>
              <a:t>Why have we reformulated the Motif Finding Problem?</a:t>
            </a:r>
            <a:endParaRPr lang="en-US" sz="2400" dirty="0"/>
          </a:p>
        </p:txBody>
      </p:sp>
      <p:sp>
        <p:nvSpPr>
          <p:cNvPr id="3" name="Content Placeholder 2">
            <a:extLst>
              <a:ext uri="{FF2B5EF4-FFF2-40B4-BE49-F238E27FC236}">
                <a16:creationId xmlns:a16="http://schemas.microsoft.com/office/drawing/2014/main" id="{DCE91CE2-F668-5F0D-5461-3F4470123592}"/>
              </a:ext>
            </a:extLst>
          </p:cNvPr>
          <p:cNvSpPr>
            <a:spLocks noGrp="1"/>
          </p:cNvSpPr>
          <p:nvPr>
            <p:ph idx="1"/>
          </p:nvPr>
        </p:nvSpPr>
        <p:spPr/>
        <p:txBody>
          <a:bodyPr/>
          <a:lstStyle/>
          <a:p>
            <a:r>
              <a:rPr lang="en-US" b="0" i="0" dirty="0">
                <a:solidFill>
                  <a:srgbClr val="000000"/>
                </a:solidFill>
                <a:effectLst/>
                <a:latin typeface="Raleway" pitchFamily="2" charset="0"/>
              </a:rPr>
              <a:t>The Median String Problem teaches an important lesson, which is that sometimes rethinking how a problem is formulated can lead to dramatic improvements in the runtime required to solve it. In this case, our simple observation that </a:t>
            </a:r>
            <a:r>
              <a:rPr lang="en-US" b="0" i="1" dirty="0">
                <a:solidFill>
                  <a:srgbClr val="000000"/>
                </a:solidFill>
                <a:effectLst/>
                <a:latin typeface="Raleway" pitchFamily="2" charset="0"/>
              </a:rPr>
              <a:t>Score</a:t>
            </a:r>
            <a:r>
              <a:rPr lang="en-US" b="0" i="0" dirty="0">
                <a:solidFill>
                  <a:srgbClr val="000000"/>
                </a:solidFill>
                <a:effectLst/>
                <a:latin typeface="Raleway" pitchFamily="2" charset="0"/>
              </a:rPr>
              <a:t>(</a:t>
            </a:r>
            <a:r>
              <a:rPr lang="en-US" b="0" i="1" dirty="0">
                <a:solidFill>
                  <a:srgbClr val="000000"/>
                </a:solidFill>
                <a:effectLst/>
                <a:latin typeface="Raleway" pitchFamily="2" charset="0"/>
              </a:rPr>
              <a:t>Motifs</a:t>
            </a:r>
            <a:r>
              <a:rPr lang="en-US" b="0" i="0" dirty="0">
                <a:solidFill>
                  <a:srgbClr val="000000"/>
                </a:solidFill>
                <a:effectLst/>
                <a:latin typeface="Raleway" pitchFamily="2" charset="0"/>
              </a:rPr>
              <a:t>) could just as easily be computed row-by-row as column-by-column produced the faster </a:t>
            </a:r>
            <a:r>
              <a:rPr lang="en-US" b="1" i="0" dirty="0" err="1">
                <a:solidFill>
                  <a:srgbClr val="000000"/>
                </a:solidFill>
                <a:effectLst/>
                <a:latin typeface="Raleway" pitchFamily="2" charset="0"/>
              </a:rPr>
              <a:t>MedianString</a:t>
            </a:r>
            <a:r>
              <a:rPr lang="en-US" b="0" i="0" dirty="0">
                <a:solidFill>
                  <a:srgbClr val="000000"/>
                </a:solidFill>
                <a:effectLst/>
                <a:latin typeface="Raleway" pitchFamily="2" charset="0"/>
              </a:rPr>
              <a:t> algorithm.</a:t>
            </a:r>
            <a:endParaRPr lang="en-US" dirty="0"/>
          </a:p>
        </p:txBody>
      </p:sp>
    </p:spTree>
    <p:extLst>
      <p:ext uri="{BB962C8B-B14F-4D97-AF65-F5344CB8AC3E}">
        <p14:creationId xmlns:p14="http://schemas.microsoft.com/office/powerpoint/2010/main" val="34951931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43169-661E-7C0B-5669-4471F65CB6F3}"/>
              </a:ext>
            </a:extLst>
          </p:cNvPr>
          <p:cNvSpPr>
            <a:spLocks noGrp="1"/>
          </p:cNvSpPr>
          <p:nvPr>
            <p:ph type="title"/>
          </p:nvPr>
        </p:nvSpPr>
        <p:spPr/>
        <p:txBody>
          <a:bodyPr/>
          <a:lstStyle/>
          <a:p>
            <a:r>
              <a:rPr kumimoji="0" lang="en-US" sz="2400" b="0" i="0" u="none" strike="noStrike" kern="1200" cap="all" spc="0" normalizeH="0" baseline="0" noProof="0" dirty="0">
                <a:ln>
                  <a:noFill/>
                </a:ln>
                <a:solidFill>
                  <a:prstClr val="black"/>
                </a:solidFill>
                <a:effectLst/>
                <a:uLnTx/>
                <a:uFillTx/>
                <a:latin typeface="Gill Sans MT" panose="020B0502020104020203"/>
                <a:ea typeface="+mj-ea"/>
                <a:cs typeface="+mj-cs"/>
              </a:rPr>
              <a:t>Why have we reformulated the Motif Finding Problem?</a:t>
            </a:r>
            <a:endParaRPr lang="en-US" dirty="0"/>
          </a:p>
        </p:txBody>
      </p:sp>
      <p:sp>
        <p:nvSpPr>
          <p:cNvPr id="3" name="Content Placeholder 2">
            <a:extLst>
              <a:ext uri="{FF2B5EF4-FFF2-40B4-BE49-F238E27FC236}">
                <a16:creationId xmlns:a16="http://schemas.microsoft.com/office/drawing/2014/main" id="{1CF51983-A43F-A291-1CB6-E3999AD110E6}"/>
              </a:ext>
            </a:extLst>
          </p:cNvPr>
          <p:cNvSpPr>
            <a:spLocks noGrp="1"/>
          </p:cNvSpPr>
          <p:nvPr>
            <p:ph idx="1"/>
          </p:nvPr>
        </p:nvSpPr>
        <p:spPr/>
        <p:txBody>
          <a:bodyPr/>
          <a:lstStyle/>
          <a:p>
            <a:r>
              <a:rPr lang="en-US" b="0" i="0" dirty="0">
                <a:solidFill>
                  <a:srgbClr val="000000"/>
                </a:solidFill>
                <a:effectLst/>
                <a:latin typeface="Raleway" pitchFamily="2" charset="0"/>
              </a:rPr>
              <a:t>Of course, the ultimate test of a bioinformatics algorithm is how it performs in practice. Unfortunately, since </a:t>
            </a:r>
            <a:r>
              <a:rPr lang="en-US" b="1" i="0" dirty="0" err="1">
                <a:solidFill>
                  <a:srgbClr val="000000"/>
                </a:solidFill>
                <a:effectLst/>
                <a:latin typeface="Raleway" pitchFamily="2" charset="0"/>
              </a:rPr>
              <a:t>MedianString</a:t>
            </a:r>
            <a:r>
              <a:rPr lang="en-US" b="0" i="0" dirty="0">
                <a:solidFill>
                  <a:srgbClr val="000000"/>
                </a:solidFill>
                <a:effectLst/>
                <a:latin typeface="Raleway" pitchFamily="2" charset="0"/>
              </a:rPr>
              <a:t> has to consider 4</a:t>
            </a:r>
            <a:r>
              <a:rPr lang="en-US" b="0" i="1" baseline="30000" dirty="0">
                <a:solidFill>
                  <a:srgbClr val="000000"/>
                </a:solidFill>
                <a:effectLst/>
                <a:latin typeface="Raleway" pitchFamily="2" charset="0"/>
              </a:rPr>
              <a:t>k</a:t>
            </a:r>
            <a:r>
              <a:rPr lang="en-US" b="0" i="0" dirty="0">
                <a:solidFill>
                  <a:srgbClr val="000000"/>
                </a:solidFill>
                <a:effectLst/>
                <a:latin typeface="Raleway" pitchFamily="2" charset="0"/>
              </a:rPr>
              <a:t>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a:t>
            </a:r>
            <a:r>
              <a:rPr lang="en-US" b="0" i="0" dirty="0" err="1">
                <a:solidFill>
                  <a:srgbClr val="000000"/>
                </a:solidFill>
                <a:effectLst/>
                <a:latin typeface="Raleway" pitchFamily="2" charset="0"/>
              </a:rPr>
              <a:t>mers</a:t>
            </a:r>
            <a:r>
              <a:rPr lang="en-US" b="0" i="0" dirty="0">
                <a:solidFill>
                  <a:srgbClr val="000000"/>
                </a:solidFill>
                <a:effectLst/>
                <a:latin typeface="Raleway" pitchFamily="2" charset="0"/>
              </a:rPr>
              <a:t>, it becomes too slow for the Subtle Motif Problem, for which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 15. We will run </a:t>
            </a:r>
            <a:r>
              <a:rPr lang="en-US" b="1" i="0" dirty="0" err="1">
                <a:solidFill>
                  <a:srgbClr val="000000"/>
                </a:solidFill>
                <a:effectLst/>
                <a:latin typeface="Raleway" pitchFamily="2" charset="0"/>
              </a:rPr>
              <a:t>MedianString</a:t>
            </a:r>
            <a:r>
              <a:rPr lang="en-US" b="0" i="0" dirty="0">
                <a:solidFill>
                  <a:srgbClr val="000000"/>
                </a:solidFill>
                <a:effectLst/>
                <a:latin typeface="Raleway" pitchFamily="2" charset="0"/>
              </a:rPr>
              <a:t> with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 13 in the hope that it will capture a substring of the correct 15-mer motif. The algorithm still requires half a day to run on our computer and returns the median string </a:t>
            </a:r>
            <a:r>
              <a:rPr lang="en-US" b="1" i="0" dirty="0" err="1">
                <a:solidFill>
                  <a:srgbClr val="FF4363"/>
                </a:solidFill>
                <a:effectLst/>
                <a:latin typeface="Courier New" panose="02070309020205020404" pitchFamily="49" charset="0"/>
              </a:rPr>
              <a:t>AAAAA</a:t>
            </a:r>
            <a:r>
              <a:rPr lang="en-US" b="1" i="0" dirty="0" err="1">
                <a:solidFill>
                  <a:srgbClr val="000000"/>
                </a:solidFill>
                <a:effectLst/>
                <a:latin typeface="Courier New" panose="02070309020205020404" pitchFamily="49" charset="0"/>
              </a:rPr>
              <a:t>t</a:t>
            </a:r>
            <a:r>
              <a:rPr lang="en-US" b="1" i="0" dirty="0" err="1">
                <a:solidFill>
                  <a:srgbClr val="FF4363"/>
                </a:solidFill>
                <a:effectLst/>
                <a:latin typeface="Courier New" panose="02070309020205020404" pitchFamily="49" charset="0"/>
              </a:rPr>
              <a:t>A</a:t>
            </a:r>
            <a:r>
              <a:rPr lang="en-US" b="1" i="0" dirty="0" err="1">
                <a:solidFill>
                  <a:srgbClr val="A03881"/>
                </a:solidFill>
                <a:effectLst/>
                <a:latin typeface="Courier New" panose="02070309020205020404" pitchFamily="49" charset="0"/>
              </a:rPr>
              <a:t>G</a:t>
            </a:r>
            <a:r>
              <a:rPr lang="en-US" b="1" i="0" dirty="0" err="1">
                <a:solidFill>
                  <a:srgbClr val="000000"/>
                </a:solidFill>
                <a:effectLst/>
                <a:latin typeface="Courier New" panose="02070309020205020404" pitchFamily="49" charset="0"/>
              </a:rPr>
              <a:t>a</a:t>
            </a:r>
            <a:r>
              <a:rPr lang="en-US" b="1" i="0" dirty="0" err="1">
                <a:solidFill>
                  <a:srgbClr val="A03881"/>
                </a:solidFill>
                <a:effectLst/>
                <a:latin typeface="Courier New" panose="02070309020205020404" pitchFamily="49" charset="0"/>
              </a:rPr>
              <a:t>GGGG</a:t>
            </a:r>
            <a:r>
              <a:rPr lang="en-US" b="0" i="0" dirty="0">
                <a:solidFill>
                  <a:srgbClr val="000000"/>
                </a:solidFill>
                <a:effectLst/>
                <a:latin typeface="Raleway" pitchFamily="2" charset="0"/>
              </a:rPr>
              <a:t> (with distance 29). This 13-mer is not a substring of the implanted pattern </a:t>
            </a:r>
            <a:r>
              <a:rPr lang="en-US" b="1" i="0" dirty="0">
                <a:solidFill>
                  <a:srgbClr val="FF4363"/>
                </a:solidFill>
                <a:effectLst/>
                <a:latin typeface="Courier New" panose="02070309020205020404" pitchFamily="49" charset="0"/>
              </a:rPr>
              <a:t>AAAAAAAA</a:t>
            </a:r>
            <a:r>
              <a:rPr lang="en-US" b="1" i="0" dirty="0">
                <a:solidFill>
                  <a:srgbClr val="A03881"/>
                </a:solidFill>
                <a:effectLst/>
                <a:latin typeface="Courier New" panose="02070309020205020404" pitchFamily="49" charset="0"/>
              </a:rPr>
              <a:t>GGGGGGG</a:t>
            </a:r>
            <a:r>
              <a:rPr lang="en-US" b="0" i="0" dirty="0">
                <a:solidFill>
                  <a:srgbClr val="000000"/>
                </a:solidFill>
                <a:effectLst/>
                <a:latin typeface="Raleway" pitchFamily="2" charset="0"/>
              </a:rPr>
              <a:t>, but it does come close.</a:t>
            </a:r>
            <a:endParaRPr lang="en-US" dirty="0"/>
          </a:p>
        </p:txBody>
      </p:sp>
    </p:spTree>
    <p:extLst>
      <p:ext uri="{BB962C8B-B14F-4D97-AF65-F5344CB8AC3E}">
        <p14:creationId xmlns:p14="http://schemas.microsoft.com/office/powerpoint/2010/main" val="2253415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CB335-B8C2-25F1-56BD-B2C18FCE2E97}"/>
              </a:ext>
            </a:extLst>
          </p:cNvPr>
          <p:cNvSpPr>
            <a:spLocks noGrp="1"/>
          </p:cNvSpPr>
          <p:nvPr>
            <p:ph type="title"/>
          </p:nvPr>
        </p:nvSpPr>
        <p:spPr/>
        <p:txBody>
          <a:bodyPr/>
          <a:lstStyle/>
          <a:p>
            <a:r>
              <a:rPr kumimoji="0" lang="en-US" sz="2400" b="0" i="0" u="none" strike="noStrike" kern="1200" cap="all" spc="0" normalizeH="0" baseline="0" noProof="0" dirty="0">
                <a:ln>
                  <a:noFill/>
                </a:ln>
                <a:solidFill>
                  <a:prstClr val="black"/>
                </a:solidFill>
                <a:effectLst/>
                <a:uLnTx/>
                <a:uFillTx/>
                <a:latin typeface="Gill Sans MT" panose="020B0502020104020203"/>
                <a:ea typeface="+mj-ea"/>
                <a:cs typeface="+mj-cs"/>
              </a:rPr>
              <a:t>Why have we reformulated the Motif Finding Problem?</a:t>
            </a:r>
            <a:endParaRPr lang="en-US" dirty="0"/>
          </a:p>
        </p:txBody>
      </p:sp>
      <p:sp>
        <p:nvSpPr>
          <p:cNvPr id="3" name="Content Placeholder 2">
            <a:extLst>
              <a:ext uri="{FF2B5EF4-FFF2-40B4-BE49-F238E27FC236}">
                <a16:creationId xmlns:a16="http://schemas.microsoft.com/office/drawing/2014/main" id="{B740FB9D-36D4-A095-D3C6-0A53B7CA3BAF}"/>
              </a:ext>
            </a:extLst>
          </p:cNvPr>
          <p:cNvSpPr>
            <a:spLocks noGrp="1"/>
          </p:cNvSpPr>
          <p:nvPr>
            <p:ph idx="1"/>
          </p:nvPr>
        </p:nvSpPr>
        <p:spPr/>
        <p:txBody>
          <a:bodyPr/>
          <a:lstStyle/>
          <a:p>
            <a:pPr algn="l">
              <a:buNone/>
            </a:pPr>
            <a:r>
              <a:rPr lang="en-US" b="1" i="0" dirty="0">
                <a:solidFill>
                  <a:srgbClr val="FF4363"/>
                </a:solidFill>
                <a:effectLst/>
                <a:latin typeface="Raleway" pitchFamily="2" charset="0"/>
              </a:rPr>
              <a:t>STOP and Think:</a:t>
            </a:r>
            <a:r>
              <a:rPr lang="en-US" b="0" i="0" dirty="0">
                <a:solidFill>
                  <a:srgbClr val="000000"/>
                </a:solidFill>
                <a:effectLst/>
                <a:latin typeface="Raleway" pitchFamily="2" charset="0"/>
              </a:rPr>
              <a:t> How can a slightly incorrect median string of length 13 help us find the correct median string of length 15?</a:t>
            </a:r>
          </a:p>
          <a:p>
            <a:pPr algn="l">
              <a:buNone/>
            </a:pPr>
            <a:r>
              <a:rPr lang="en-US" b="0" i="0" dirty="0">
                <a:solidFill>
                  <a:srgbClr val="000000"/>
                </a:solidFill>
                <a:effectLst/>
                <a:latin typeface="Raleway" pitchFamily="2" charset="0"/>
              </a:rPr>
              <a:t>We have thus far assumed that the value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is known in advance, which is not the case in practice. As a result, we are forced to run our motif finding algorithms for different values of </a:t>
            </a:r>
            <a:r>
              <a:rPr lang="en-US" b="0" i="1" dirty="0">
                <a:solidFill>
                  <a:srgbClr val="000000"/>
                </a:solidFill>
                <a:effectLst/>
                <a:latin typeface="Raleway" pitchFamily="2" charset="0"/>
              </a:rPr>
              <a:t>k</a:t>
            </a:r>
            <a:r>
              <a:rPr lang="en-US" b="0" i="0" dirty="0">
                <a:solidFill>
                  <a:srgbClr val="000000"/>
                </a:solidFill>
                <a:effectLst/>
                <a:latin typeface="Raleway" pitchFamily="2" charset="0"/>
              </a:rPr>
              <a:t> and then try to deduce the correct motif length. Since some regulatory motifs are rather long — later in the chapter, we will search for a biologically important motif of length 20 — </a:t>
            </a:r>
            <a:r>
              <a:rPr lang="en-US" b="1" i="0" dirty="0" err="1">
                <a:solidFill>
                  <a:srgbClr val="000000"/>
                </a:solidFill>
                <a:effectLst/>
                <a:latin typeface="Raleway" pitchFamily="2" charset="0"/>
              </a:rPr>
              <a:t>MedianString</a:t>
            </a:r>
            <a:r>
              <a:rPr lang="en-US" b="0" i="0" dirty="0">
                <a:solidFill>
                  <a:srgbClr val="000000"/>
                </a:solidFill>
                <a:effectLst/>
                <a:latin typeface="Raleway" pitchFamily="2" charset="0"/>
              </a:rPr>
              <a:t> may be too slow to find them.</a:t>
            </a:r>
          </a:p>
          <a:p>
            <a:endParaRPr lang="en-US" dirty="0"/>
          </a:p>
        </p:txBody>
      </p:sp>
    </p:spTree>
    <p:extLst>
      <p:ext uri="{BB962C8B-B14F-4D97-AF65-F5344CB8AC3E}">
        <p14:creationId xmlns:p14="http://schemas.microsoft.com/office/powerpoint/2010/main" val="27783568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1D6B5-396E-5EB0-53DD-63279001CF9C}"/>
              </a:ext>
            </a:extLst>
          </p:cNvPr>
          <p:cNvSpPr>
            <a:spLocks noGrp="1"/>
          </p:cNvSpPr>
          <p:nvPr>
            <p:ph type="title"/>
          </p:nvPr>
        </p:nvSpPr>
        <p:spPr/>
        <p:txBody>
          <a:bodyPr/>
          <a:lstStyle/>
          <a:p>
            <a:pPr algn="ctr"/>
            <a:r>
              <a:rPr lang="en-US" dirty="0"/>
              <a:t>Thx for listening hope you enjoyed</a:t>
            </a:r>
          </a:p>
        </p:txBody>
      </p:sp>
      <p:sp>
        <p:nvSpPr>
          <p:cNvPr id="3" name="Text Placeholder 2">
            <a:extLst>
              <a:ext uri="{FF2B5EF4-FFF2-40B4-BE49-F238E27FC236}">
                <a16:creationId xmlns:a16="http://schemas.microsoft.com/office/drawing/2014/main" id="{3A1BE968-888D-D7B4-1A46-FCDA6D703E3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3650744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TM10001114[[fn=Gallery]]</Template>
  <TotalTime>904</TotalTime>
  <Words>6018</Words>
  <Application>Microsoft Office PowerPoint</Application>
  <PresentationFormat>Widescreen</PresentationFormat>
  <Paragraphs>186</Paragraphs>
  <Slides>64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Aptos</vt:lpstr>
      <vt:lpstr>Arabic Typesetting</vt:lpstr>
      <vt:lpstr>Arial</vt:lpstr>
      <vt:lpstr>Arial Unicode MS</vt:lpstr>
      <vt:lpstr>Courier New</vt:lpstr>
      <vt:lpstr>Gill Sans MT</vt:lpstr>
      <vt:lpstr>Raleway</vt:lpstr>
      <vt:lpstr>Raleway</vt:lpstr>
      <vt:lpstr>Gallery</vt:lpstr>
      <vt:lpstr>Which DNA Patterns Play the Role of Molecular Clocks?</vt:lpstr>
      <vt:lpstr>Do we Have a "Clock" Gene?</vt:lpstr>
      <vt:lpstr>Do we Have a "Clock" Gene?</vt:lpstr>
      <vt:lpstr>Do we Have a "Clock" Gene?</vt:lpstr>
      <vt:lpstr>Do we Have a "Clock" Gene?</vt:lpstr>
      <vt:lpstr>Do we Have a "Clock" Gene?</vt:lpstr>
      <vt:lpstr>Do we Have a "Clock" Gene?</vt:lpstr>
      <vt:lpstr>Do we Have a "Clock" Gene?</vt:lpstr>
      <vt:lpstr>Do we Have a "Clock" Gene?</vt:lpstr>
      <vt:lpstr>Motif finding is more difficult than you think </vt:lpstr>
      <vt:lpstr>Identifying the evening element </vt:lpstr>
      <vt:lpstr>Identifying the evening element</vt:lpstr>
      <vt:lpstr>1  T C G G G G g T T T t t   2  c C G G t G A c T T a C   3  a C G G G G A T T T t C   4  T t G G G G A c T T t t   5  a a G G G G A c T T C C   6  T t G G G G A c T T C C   7  T C G G G G A T T c a t   8  T C G G G G A T T c C t   9  T a G G G G A a c T a C   10 T C G G G t A T a a C C</vt:lpstr>
      <vt:lpstr>Hide and seek with motifs </vt:lpstr>
      <vt:lpstr>Hide and seek with motifs</vt:lpstr>
      <vt:lpstr>Hide and seek with motifs</vt:lpstr>
      <vt:lpstr>Hide and seek with motifs</vt:lpstr>
      <vt:lpstr>Hide and seek with motifs</vt:lpstr>
      <vt:lpstr>Hide and seek with motifs</vt:lpstr>
      <vt:lpstr>Hide and seek with motifs</vt:lpstr>
      <vt:lpstr>Hide and seek with motifs</vt:lpstr>
      <vt:lpstr>A brute force algorithm for motif finding</vt:lpstr>
      <vt:lpstr>A brute force algorithm for motif finding</vt:lpstr>
      <vt:lpstr>A brute force algorithm for motif finding</vt:lpstr>
      <vt:lpstr>A brute force algorithm for motif finding</vt:lpstr>
      <vt:lpstr>Scoring Motifs</vt:lpstr>
      <vt:lpstr>From motifs to profile matrices and consensus strings</vt:lpstr>
      <vt:lpstr>From motifs to profile matrices and consensus strings</vt:lpstr>
      <vt:lpstr>PowerPoint Presentation</vt:lpstr>
      <vt:lpstr>From motifs to profile matrices and consensus strings</vt:lpstr>
      <vt:lpstr>PowerPoint Presentation</vt:lpstr>
      <vt:lpstr>From motifs to profile matrices and consensus strings</vt:lpstr>
      <vt:lpstr>PowerPoint Presentation</vt:lpstr>
      <vt:lpstr>PowerPoint Presentation</vt:lpstr>
      <vt:lpstr>Towards a more adequate motif scoring function</vt:lpstr>
      <vt:lpstr>PowerPoint Presentation</vt:lpstr>
      <vt:lpstr>Towards a more adequate motif scoring function</vt:lpstr>
      <vt:lpstr>Towards a more adequate motif scoring function</vt:lpstr>
      <vt:lpstr>Entropy and the motif logo</vt:lpstr>
      <vt:lpstr>Entropy and the motif logo</vt:lpstr>
      <vt:lpstr>Entropy and the motif logo</vt:lpstr>
      <vt:lpstr>Exercise Break: Compute the entropy of the NF-κB motif matrix (reproduced below).  </vt:lpstr>
      <vt:lpstr>Entropy and the motif logo</vt:lpstr>
      <vt:lpstr>PowerPoint Presentation</vt:lpstr>
      <vt:lpstr>From Motif Finding to Finding a Median String</vt:lpstr>
      <vt:lpstr>The Motif Finding Problem </vt:lpstr>
      <vt:lpstr>Reformulating the Motif Finding Problem</vt:lpstr>
      <vt:lpstr>Reformulating the Motif Finding Problem</vt:lpstr>
      <vt:lpstr>PowerPoint Presentation</vt:lpstr>
      <vt:lpstr>Reformulating the Motif Finding Problem</vt:lpstr>
      <vt:lpstr>Reformulating the Motif Finding Problem</vt:lpstr>
      <vt:lpstr>Reformulating the Motif Finding Problem</vt:lpstr>
      <vt:lpstr>The Median String Problem</vt:lpstr>
      <vt:lpstr>PowerPoint Presentation</vt:lpstr>
      <vt:lpstr>The Median String Problem</vt:lpstr>
      <vt:lpstr>The Median String Problem</vt:lpstr>
      <vt:lpstr>For example, for the strings Dna shown below, d(AAA, Dna) = 1 + 1 + 2 + 0 + 1 = 5.</vt:lpstr>
      <vt:lpstr>The Median String Problem</vt:lpstr>
      <vt:lpstr>The Median String Problem</vt:lpstr>
      <vt:lpstr>Why have we reformulated the Motif Finding Problem?</vt:lpstr>
      <vt:lpstr>Why have we reformulated the Motif Finding Problem?</vt:lpstr>
      <vt:lpstr>Why have we reformulated the Motif Finding Problem?</vt:lpstr>
      <vt:lpstr>Why have we reformulated the Motif Finding Problem?</vt:lpstr>
      <vt:lpstr>Thx for listening hope you enjoyed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keyvan abbasi</dc:creator>
  <cp:lastModifiedBy>keyvan abbasi</cp:lastModifiedBy>
  <cp:revision>3</cp:revision>
  <dcterms:created xsi:type="dcterms:W3CDTF">2025-10-15T21:38:53Z</dcterms:created>
  <dcterms:modified xsi:type="dcterms:W3CDTF">2025-10-16T12:43:36Z</dcterms:modified>
</cp:coreProperties>
</file>