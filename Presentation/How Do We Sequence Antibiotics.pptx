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9"/>
  </p:notesMasterIdLst>
  <p:handoutMasterIdLst>
    <p:handoutMasterId r:id="rId50"/>
  </p:handoutMasterIdLst>
  <p:sldIdLst>
    <p:sldId id="256" r:id="rId5"/>
    <p:sldId id="286" r:id="rId6"/>
    <p:sldId id="257" r:id="rId7"/>
    <p:sldId id="279" r:id="rId8"/>
    <p:sldId id="278" r:id="rId9"/>
    <p:sldId id="258" r:id="rId10"/>
    <p:sldId id="287" r:id="rId11"/>
    <p:sldId id="289" r:id="rId12"/>
    <p:sldId id="290" r:id="rId13"/>
    <p:sldId id="288" r:id="rId14"/>
    <p:sldId id="281" r:id="rId15"/>
    <p:sldId id="291" r:id="rId16"/>
    <p:sldId id="292" r:id="rId17"/>
    <p:sldId id="293" r:id="rId18"/>
    <p:sldId id="294" r:id="rId19"/>
    <p:sldId id="295" r:id="rId20"/>
    <p:sldId id="282"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11" r:id="rId35"/>
    <p:sldId id="309" r:id="rId36"/>
    <p:sldId id="310" r:id="rId37"/>
    <p:sldId id="312" r:id="rId38"/>
    <p:sldId id="313" r:id="rId39"/>
    <p:sldId id="315" r:id="rId40"/>
    <p:sldId id="314" r:id="rId41"/>
    <p:sldId id="316" r:id="rId42"/>
    <p:sldId id="317" r:id="rId43"/>
    <p:sldId id="318" r:id="rId44"/>
    <p:sldId id="319" r:id="rId45"/>
    <p:sldId id="320" r:id="rId46"/>
    <p:sldId id="321" r:id="rId47"/>
    <p:sldId id="27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0655" autoAdjust="0"/>
  </p:normalViewPr>
  <p:slideViewPr>
    <p:cSldViewPr snapToGrid="0">
      <p:cViewPr varScale="1">
        <p:scale>
          <a:sx n="62" d="100"/>
          <a:sy n="62" d="100"/>
        </p:scale>
        <p:origin x="1056" y="7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10/22/2025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10/22/2025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44</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1"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3316637" y="4649492"/>
            <a:ext cx="8648055" cy="1880698"/>
          </a:xfrm>
        </p:spPr>
        <p:txBody>
          <a:bodyPr anchor="ctr"/>
          <a:lstStyle/>
          <a:p>
            <a:r>
              <a:rPr lang="en-US" b="1" dirty="0"/>
              <a:t>How Do We Sequence Antibiotics?</a:t>
            </a:r>
            <a:endParaRPr lang="en-US" b="1" dirty="0">
              <a:effectLst/>
            </a:endParaRP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C632-EACF-3F9E-ED99-DB22529983F5}"/>
              </a:ext>
            </a:extLst>
          </p:cNvPr>
          <p:cNvSpPr>
            <a:spLocks noGrp="1"/>
          </p:cNvSpPr>
          <p:nvPr>
            <p:ph type="title"/>
          </p:nvPr>
        </p:nvSpPr>
        <p:spPr>
          <a:xfrm>
            <a:off x="728420" y="1035476"/>
            <a:ext cx="10632482" cy="4605907"/>
          </a:xfrm>
        </p:spPr>
        <p:txBody>
          <a:bodyPr>
            <a:normAutofit/>
          </a:bodyPr>
          <a:lstStyle/>
          <a:p>
            <a:r>
              <a:rPr lang="en-US" dirty="0"/>
              <a:t>Professor : </a:t>
            </a:r>
            <a:r>
              <a:rPr lang="en-US" dirty="0" err="1"/>
              <a:t>dr.reza</a:t>
            </a:r>
            <a:r>
              <a:rPr lang="en-US" dirty="0"/>
              <a:t> </a:t>
            </a:r>
            <a:r>
              <a:rPr lang="en-US" dirty="0" err="1"/>
              <a:t>rezazadegan</a:t>
            </a:r>
            <a:br>
              <a:rPr lang="en-US" dirty="0"/>
            </a:br>
            <a:br>
              <a:rPr lang="en-US" dirty="0"/>
            </a:br>
            <a:r>
              <a:rPr lang="en-US" sz="2400" dirty="0"/>
              <a:t>presenters : </a:t>
            </a:r>
            <a:r>
              <a:rPr lang="en-US" sz="2400" dirty="0" err="1"/>
              <a:t>arsham</a:t>
            </a:r>
            <a:r>
              <a:rPr lang="en-US" sz="2400" dirty="0"/>
              <a:t> </a:t>
            </a:r>
            <a:r>
              <a:rPr lang="en-US" sz="2400" dirty="0" err="1"/>
              <a:t>salari</a:t>
            </a:r>
            <a:r>
              <a:rPr lang="en-US" sz="2400" dirty="0"/>
              <a:t>  &amp;  amir Hossein </a:t>
            </a:r>
            <a:r>
              <a:rPr lang="en-US" sz="2400" dirty="0" err="1"/>
              <a:t>mohammadipour</a:t>
            </a:r>
            <a:br>
              <a:rPr lang="en-US" sz="2400" dirty="0"/>
            </a:br>
            <a:br>
              <a:rPr lang="en-US" sz="2400" dirty="0"/>
            </a:br>
            <a:br>
              <a:rPr lang="en-US" sz="2400" dirty="0"/>
            </a:br>
            <a:br>
              <a:rPr lang="en-US" sz="2400" dirty="0"/>
            </a:br>
            <a:r>
              <a:rPr lang="en-US" sz="2000" dirty="0"/>
              <a:t>04/08/01</a:t>
            </a:r>
            <a:br>
              <a:rPr lang="en-US" sz="2400" dirty="0"/>
            </a:br>
            <a:br>
              <a:rPr lang="en-US" sz="2400" dirty="0"/>
            </a:br>
            <a:r>
              <a:rPr lang="en-US" sz="2000" dirty="0"/>
              <a:t>bioinformatics</a:t>
            </a:r>
            <a:br>
              <a:rPr lang="en-US" sz="2400" dirty="0"/>
            </a:br>
            <a:br>
              <a:rPr lang="en-US" sz="2400" dirty="0"/>
            </a:br>
            <a:endParaRPr lang="fa-IR" sz="2400" dirty="0"/>
          </a:p>
        </p:txBody>
      </p:sp>
      <p:sp>
        <p:nvSpPr>
          <p:cNvPr id="4" name="Slide Number Placeholder 3">
            <a:extLst>
              <a:ext uri="{FF2B5EF4-FFF2-40B4-BE49-F238E27FC236}">
                <a16:creationId xmlns:a16="http://schemas.microsoft.com/office/drawing/2014/main" id="{AA7C526C-4683-2188-A28A-564F46A7F354}"/>
              </a:ext>
            </a:extLst>
          </p:cNvPr>
          <p:cNvSpPr>
            <a:spLocks noGrp="1"/>
          </p:cNvSpPr>
          <p:nvPr>
            <p:ph type="sldNum" sz="quarter" idx="12"/>
          </p:nvPr>
        </p:nvSpPr>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372004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333500" y="1020445"/>
            <a:ext cx="2895600" cy="1325563"/>
          </a:xfrm>
        </p:spPr>
        <p:txBody>
          <a:bodyPr/>
          <a:lstStyle/>
          <a:p>
            <a:r>
              <a:rPr lang="en-US" dirty="0"/>
              <a:t>TOPICS</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0" y="3369051"/>
            <a:ext cx="6803756" cy="3269589"/>
          </a:xfrm>
        </p:spPr>
        <p:txBody>
          <a:bodyPr>
            <a:normAutofit/>
          </a:bodyPr>
          <a:lstStyle/>
          <a:p>
            <a:pPr lvl="2" algn="l">
              <a:lnSpc>
                <a:spcPct val="160000"/>
              </a:lnSpc>
            </a:pPr>
            <a:r>
              <a:rPr lang="en-US" b="1" dirty="0"/>
              <a:t># The Discovery of Antibiotics</a:t>
            </a:r>
          </a:p>
          <a:p>
            <a:pPr lvl="2" algn="l">
              <a:lnSpc>
                <a:spcPct val="160000"/>
              </a:lnSpc>
            </a:pPr>
            <a:r>
              <a:rPr lang="en-US" b="1" dirty="0"/>
              <a:t># How Do Bacteria Make Antibiotics?</a:t>
            </a:r>
          </a:p>
          <a:p>
            <a:pPr lvl="2" algn="l">
              <a:lnSpc>
                <a:spcPct val="160000"/>
              </a:lnSpc>
            </a:pPr>
            <a:r>
              <a:rPr lang="en-US" b="1" dirty="0"/>
              <a:t># Dodging the Central Dogma of Molecular Biology</a:t>
            </a:r>
          </a:p>
          <a:p>
            <a:pPr lvl="2" algn="l">
              <a:lnSpc>
                <a:spcPct val="160000"/>
              </a:lnSpc>
            </a:pPr>
            <a:r>
              <a:rPr lang="en-US" b="1" dirty="0"/>
              <a:t># Sequencing Antibiotics By Shattering Them Into Pieces</a:t>
            </a:r>
          </a:p>
          <a:p>
            <a:pPr lvl="2" algn="l">
              <a:lnSpc>
                <a:spcPct val="160000"/>
              </a:lnSpc>
            </a:pPr>
            <a:r>
              <a:rPr lang="en-US" b="1" dirty="0"/>
              <a:t># Algorithms</a:t>
            </a:r>
            <a:endParaRPr lang="en-US" b="1" dirty="0">
              <a:effectLst/>
            </a:endParaRP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6991350" y="487680"/>
            <a:ext cx="4179570" cy="3376691"/>
          </a:xfrm>
        </p:spPr>
        <p:txBody>
          <a:bodyPr/>
          <a:lstStyle/>
          <a:p>
            <a:r>
              <a:rPr lang="en-US" dirty="0"/>
              <a:t>What is an antibiotics ?</a:t>
            </a:r>
          </a:p>
        </p:txBody>
      </p:sp>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Placeholder 13">
            <a:extLst>
              <a:ext uri="{FF2B5EF4-FFF2-40B4-BE49-F238E27FC236}">
                <a16:creationId xmlns:a16="http://schemas.microsoft.com/office/drawing/2014/main" id="{817B4BA4-2121-42CD-B5C3-2A8BFD3878A4}"/>
              </a:ext>
            </a:extLst>
          </p:cNvPr>
          <p:cNvPicPr>
            <a:picLocks noGrp="1" noChangeAspect="1"/>
          </p:cNvPicPr>
          <p:nvPr>
            <p:ph type="pic" sz="quarter" idx="10"/>
          </p:nvPr>
        </p:nvPicPr>
        <p:blipFill>
          <a:blip r:embed="rId3"/>
          <a:srcRect l="10197" r="10197"/>
          <a:stretch>
            <a:fillRect/>
          </a:stretch>
        </p:blipFill>
        <p:spPr>
          <a:xfrm>
            <a:off x="0" y="0"/>
            <a:ext cx="6576291" cy="68726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4145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772759" y="487017"/>
            <a:ext cx="3223647" cy="4224467"/>
          </a:xfrm>
        </p:spPr>
        <p:txBody>
          <a:bodyPr/>
          <a:lstStyle/>
          <a:p>
            <a:r>
              <a:rPr lang="en-US" b="1" dirty="0"/>
              <a:t>The Discovery of Antibiotics</a:t>
            </a:r>
            <a:endParaRPr lang="en-US" b="1" dirty="0">
              <a:effectLst/>
            </a:endParaRPr>
          </a:p>
        </p:txBody>
      </p:sp>
    </p:spTree>
    <p:extLst>
      <p:ext uri="{BB962C8B-B14F-4D97-AF65-F5344CB8AC3E}">
        <p14:creationId xmlns:p14="http://schemas.microsoft.com/office/powerpoint/2010/main" val="60879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normAutofit fontScale="90000"/>
          </a:bodyPr>
          <a:lstStyle/>
          <a:p>
            <a:r>
              <a:rPr lang="en-US" sz="1600" dirty="0"/>
              <a:t>In August 1928, before leaving for vacation, Scottish microbiologist Alexander Fleming stacked his cultures of infection-causing </a:t>
            </a:r>
            <a:r>
              <a:rPr lang="en-US" sz="1600" i="1" dirty="0"/>
              <a:t>Staphylococcus</a:t>
            </a:r>
            <a:r>
              <a:rPr lang="en-US" sz="1600" dirty="0"/>
              <a:t> bacteria on a laboratory bench. When he returned to work a few weeks later, Fleming noticed that one culture had been contaminated with </a:t>
            </a:r>
            <a:r>
              <a:rPr lang="en-US" sz="1600" i="1" dirty="0"/>
              <a:t>Penicillium</a:t>
            </a:r>
            <a:r>
              <a:rPr lang="en-US" sz="1600" dirty="0"/>
              <a:t> fungus, and that the colony of </a:t>
            </a:r>
            <a:r>
              <a:rPr lang="en-US" sz="1600" i="1" dirty="0"/>
              <a:t>Staphylococcus</a:t>
            </a:r>
            <a:r>
              <a:rPr lang="en-US" sz="1600" dirty="0"/>
              <a:t> surrounding it had been destroyed! Fleming named the bacteria-killing substance </a:t>
            </a:r>
            <a:r>
              <a:rPr lang="en-US" sz="1600" b="1" dirty="0"/>
              <a:t>penicillin</a:t>
            </a:r>
            <a:r>
              <a:rPr lang="en-US" sz="1600" dirty="0"/>
              <a:t>, and he suggested that it could be used to treat bacterial infections in humans.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63078"/>
            <a:ext cx="7288212" cy="3407051"/>
          </a:xfrm>
        </p:spPr>
        <p:txBody>
          <a:bodyPr>
            <a:normAutofit/>
          </a:bodyPr>
          <a:lstStyle/>
          <a:p>
            <a:pPr algn="l"/>
            <a:r>
              <a:rPr lang="en-US" dirty="0"/>
              <a:t>When Fleming published his discovery in 1929, his article had little immediate impact. Subsequent experiments struggled to isolate the antibiotic agent (i.e., the compound that actually killed bacteria) from the fungus. As a result, Fleming eventually concluded that penicillin could not be practically applied to treat bacterial infections and abandoned his antibiotics research.</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14AB4-ABD7-4B6F-A082-9F23D1B6D4EC}"/>
              </a:ext>
            </a:extLst>
          </p:cNvPr>
          <p:cNvSpPr>
            <a:spLocks noGrp="1"/>
          </p:cNvSpPr>
          <p:nvPr>
            <p:ph type="title"/>
          </p:nvPr>
        </p:nvSpPr>
        <p:spPr>
          <a:xfrm>
            <a:off x="838200" y="353550"/>
            <a:ext cx="10515600" cy="6248728"/>
          </a:xfrm>
        </p:spPr>
        <p:txBody>
          <a:bodyPr>
            <a:normAutofit/>
          </a:bodyPr>
          <a:lstStyle/>
          <a:p>
            <a:pPr algn="l"/>
            <a:r>
              <a:rPr lang="en-US" sz="1800" dirty="0"/>
              <a:t>Also in 1942, Russian biologists Georgy Gause and Maria </a:t>
            </a:r>
            <a:r>
              <a:rPr lang="en-US" sz="1800" dirty="0" err="1"/>
              <a:t>Brazhnikova</a:t>
            </a:r>
            <a:r>
              <a:rPr lang="en-US" sz="1800" dirty="0"/>
              <a:t> noticed that the </a:t>
            </a:r>
            <a:r>
              <a:rPr lang="en-US" sz="1800" b="1" i="1" dirty="0"/>
              <a:t>Bacillus brevis</a:t>
            </a:r>
            <a:r>
              <a:rPr lang="en-US" sz="1800" b="1" dirty="0"/>
              <a:t> </a:t>
            </a:r>
            <a:r>
              <a:rPr lang="en-US" sz="1800" dirty="0"/>
              <a:t>bacterium killed the pathogenic bacterium </a:t>
            </a:r>
            <a:r>
              <a:rPr lang="en-US" sz="1800" i="1" dirty="0"/>
              <a:t>Staphylococcus aureus</a:t>
            </a:r>
            <a:r>
              <a:rPr lang="en-US" sz="1800" dirty="0"/>
              <a:t>. In contrast to Fleming’s efforts with penicillin, they successfully isolated the antibiotic compound from </a:t>
            </a:r>
            <a:r>
              <a:rPr lang="en-US" sz="1800" i="1" dirty="0"/>
              <a:t>Bacillus brevis</a:t>
            </a:r>
            <a:r>
              <a:rPr lang="en-US" sz="1800" dirty="0"/>
              <a:t> and named it </a:t>
            </a:r>
            <a:r>
              <a:rPr lang="en-US" sz="1800" i="1" u="sng" dirty="0"/>
              <a:t>Gramicidin Soviet</a:t>
            </a:r>
            <a:r>
              <a:rPr lang="en-US" sz="1800" dirty="0"/>
              <a:t>. Within a year, this antibiotic was distributed to Soviet military hospitals.</a:t>
            </a:r>
            <a:br>
              <a:rPr lang="fa-IR" sz="1800" dirty="0"/>
            </a:br>
            <a:br>
              <a:rPr lang="fa-IR" sz="1800" dirty="0"/>
            </a:br>
            <a:br>
              <a:rPr lang="fa-IR" sz="1800" dirty="0"/>
            </a:br>
            <a:br>
              <a:rPr lang="fa-IR" sz="1800" dirty="0"/>
            </a:br>
            <a:br>
              <a:rPr lang="fa-IR" sz="1800" dirty="0"/>
            </a:br>
            <a:br>
              <a:rPr lang="fa-IR" sz="1800" dirty="0"/>
            </a:br>
            <a:r>
              <a:rPr lang="en-US" sz="1800" dirty="0"/>
              <a:t>Meanwhile, American scientists were scouring various food markets for rotten groceries and finally found a moldy cantaloupe in Illinois with a high concentration of penicillin. This mundane discovery allowed the United States to produce 2 million doses of penicillin in time for the Allied invasion of Normandy in 1944, thus saving thousands of wounded soldiers’ lives.</a:t>
            </a:r>
            <a:br>
              <a:rPr lang="fa-IR" sz="1800" dirty="0"/>
            </a:br>
            <a:br>
              <a:rPr lang="fa-IR" sz="1800" dirty="0"/>
            </a:br>
            <a:br>
              <a:rPr lang="fa-IR" sz="1800" dirty="0"/>
            </a:br>
            <a:br>
              <a:rPr lang="fa-IR" sz="1800" dirty="0"/>
            </a:br>
            <a:endParaRPr lang="fa-IR" sz="1800" dirty="0"/>
          </a:p>
        </p:txBody>
      </p:sp>
      <p:sp>
        <p:nvSpPr>
          <p:cNvPr id="4" name="Slide Number Placeholder 3">
            <a:extLst>
              <a:ext uri="{FF2B5EF4-FFF2-40B4-BE49-F238E27FC236}">
                <a16:creationId xmlns:a16="http://schemas.microsoft.com/office/drawing/2014/main" id="{6E6814FF-79FF-A4F4-BEFD-C049CEC20953}"/>
              </a:ext>
            </a:extLst>
          </p:cNvPr>
          <p:cNvSpPr>
            <a:spLocks noGrp="1"/>
          </p:cNvSpPr>
          <p:nvPr>
            <p:ph type="sldNum" sz="quarter" idx="12"/>
          </p:nvPr>
        </p:nvSpPr>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103725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329C8-63FB-FA17-FC53-AF6516A2B2B2}"/>
              </a:ext>
            </a:extLst>
          </p:cNvPr>
          <p:cNvSpPr>
            <a:spLocks noGrp="1"/>
          </p:cNvSpPr>
          <p:nvPr>
            <p:ph type="title"/>
          </p:nvPr>
        </p:nvSpPr>
        <p:spPr>
          <a:xfrm>
            <a:off x="1322318" y="268360"/>
            <a:ext cx="7288282" cy="909511"/>
          </a:xfrm>
        </p:spPr>
        <p:txBody>
          <a:bodyPr/>
          <a:lstStyle/>
          <a:p>
            <a:r>
              <a:rPr lang="en-US" b="1" dirty="0"/>
              <a:t>peptides</a:t>
            </a:r>
            <a:endParaRPr lang="fa-IR" dirty="0"/>
          </a:p>
        </p:txBody>
      </p:sp>
      <p:sp>
        <p:nvSpPr>
          <p:cNvPr id="3" name="Content Placeholder 2">
            <a:extLst>
              <a:ext uri="{FF2B5EF4-FFF2-40B4-BE49-F238E27FC236}">
                <a16:creationId xmlns:a16="http://schemas.microsoft.com/office/drawing/2014/main" id="{6668BE18-3D67-6859-8D7F-7399A16CDEBE}"/>
              </a:ext>
            </a:extLst>
          </p:cNvPr>
          <p:cNvSpPr>
            <a:spLocks noGrp="1"/>
          </p:cNvSpPr>
          <p:nvPr>
            <p:ph sz="half" idx="2"/>
          </p:nvPr>
        </p:nvSpPr>
        <p:spPr/>
        <p:txBody>
          <a:bodyPr/>
          <a:lstStyle/>
          <a:p>
            <a:pPr algn="l"/>
            <a:r>
              <a:rPr lang="en-US" dirty="0"/>
              <a:t>Gause continued his research into </a:t>
            </a:r>
            <a:r>
              <a:rPr lang="en-US" i="1" dirty="0"/>
              <a:t>Gramicidin Soviet</a:t>
            </a:r>
            <a:r>
              <a:rPr lang="en-US" dirty="0"/>
              <a:t> after World War II but failed to elucidate its chemical structure. Taking the torch from Gause, English biochemist Richard Synge studied </a:t>
            </a:r>
            <a:r>
              <a:rPr lang="en-US" i="1" dirty="0"/>
              <a:t>Gramicidin Soviet</a:t>
            </a:r>
            <a:r>
              <a:rPr lang="en-US" dirty="0"/>
              <a:t> and a wide array of other antibiotics produced by </a:t>
            </a:r>
            <a:r>
              <a:rPr lang="en-US" i="1" dirty="0"/>
              <a:t>Bacillus brevis</a:t>
            </a:r>
            <a:r>
              <a:rPr lang="en-US" dirty="0"/>
              <a:t>. A few years after World War II ended, he demonstrated that they represent short amino acid sequences (mini-proteins) called peptides.</a:t>
            </a:r>
            <a:endParaRPr lang="fa-IR" dirty="0"/>
          </a:p>
        </p:txBody>
      </p:sp>
      <p:sp>
        <p:nvSpPr>
          <p:cNvPr id="4" name="Slide Number Placeholder 3">
            <a:extLst>
              <a:ext uri="{FF2B5EF4-FFF2-40B4-BE49-F238E27FC236}">
                <a16:creationId xmlns:a16="http://schemas.microsoft.com/office/drawing/2014/main" id="{350B8756-2DEB-1369-8209-28E188C20287}"/>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Tree>
    <p:extLst>
      <p:ext uri="{BB962C8B-B14F-4D97-AF65-F5344CB8AC3E}">
        <p14:creationId xmlns:p14="http://schemas.microsoft.com/office/powerpoint/2010/main" val="97197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6021-28B8-60E0-4733-C78965FBA9BE}"/>
              </a:ext>
            </a:extLst>
          </p:cNvPr>
          <p:cNvSpPr>
            <a:spLocks noGrp="1"/>
          </p:cNvSpPr>
          <p:nvPr>
            <p:ph type="ctrTitle"/>
          </p:nvPr>
        </p:nvSpPr>
        <p:spPr>
          <a:xfrm>
            <a:off x="4267199" y="76205"/>
            <a:ext cx="6256149" cy="1303144"/>
          </a:xfrm>
        </p:spPr>
        <p:txBody>
          <a:bodyPr/>
          <a:lstStyle/>
          <a:p>
            <a:r>
              <a:rPr lang="en-US" dirty="0"/>
              <a:t>MRSA</a:t>
            </a:r>
            <a:br>
              <a:rPr lang="en-US" dirty="0"/>
            </a:br>
            <a:r>
              <a:rPr lang="en-US" sz="1800" b="1" dirty="0"/>
              <a:t>Methicillin-resistant </a:t>
            </a:r>
            <a:r>
              <a:rPr lang="en-US" sz="1800" b="1" i="1" dirty="0"/>
              <a:t>Staphylococcus aureus</a:t>
            </a:r>
            <a:endParaRPr lang="fa-IR" sz="1800" dirty="0"/>
          </a:p>
        </p:txBody>
      </p:sp>
      <p:sp>
        <p:nvSpPr>
          <p:cNvPr id="3" name="Subtitle 2">
            <a:extLst>
              <a:ext uri="{FF2B5EF4-FFF2-40B4-BE49-F238E27FC236}">
                <a16:creationId xmlns:a16="http://schemas.microsoft.com/office/drawing/2014/main" id="{AF8AA4D3-9677-A942-37CF-112CE02BF9EE}"/>
              </a:ext>
            </a:extLst>
          </p:cNvPr>
          <p:cNvSpPr>
            <a:spLocks noGrp="1"/>
          </p:cNvSpPr>
          <p:nvPr>
            <p:ph type="subTitle" idx="1"/>
          </p:nvPr>
        </p:nvSpPr>
        <p:spPr>
          <a:xfrm>
            <a:off x="4267200" y="1890793"/>
            <a:ext cx="7480515" cy="4197491"/>
          </a:xfrm>
        </p:spPr>
        <p:txBody>
          <a:bodyPr>
            <a:normAutofit fontScale="77500" lnSpcReduction="20000"/>
          </a:bodyPr>
          <a:lstStyle/>
          <a:p>
            <a:r>
              <a:rPr lang="en-US" dirty="0"/>
              <a:t>The mass-production of antibiotics initiated an evolutionary arms race between pharmaceutical companies and pathogenic bacteria. The former worked to develop new antibiotic drugs, while the latter acquired resistance against these drugs. Although modern medicine won every battle for six decades, the last ten years have witnessed an alarming rise in antibiotic-resistant bacterial infections that cannot be treated even by the most powerful antibiotics. In particular, the </a:t>
            </a:r>
            <a:r>
              <a:rPr lang="en-US" i="1" dirty="0"/>
              <a:t>Staphylococcus aureus</a:t>
            </a:r>
            <a:r>
              <a:rPr lang="en-US" dirty="0"/>
              <a:t> bacterium that Gause had studied in 1942 mutated into a resistant strain known as </a:t>
            </a:r>
            <a:r>
              <a:rPr lang="en-US" b="1" dirty="0"/>
              <a:t>Methicillin-resistant </a:t>
            </a:r>
            <a:r>
              <a:rPr lang="en-US" b="1" i="1" dirty="0"/>
              <a:t>Staphylococcus aureus</a:t>
            </a:r>
            <a:r>
              <a:rPr lang="en-US" dirty="0"/>
              <a:t> (</a:t>
            </a:r>
            <a:r>
              <a:rPr lang="en-US" b="1" dirty="0"/>
              <a:t>MRSA</a:t>
            </a:r>
            <a:r>
              <a:rPr lang="en-US" dirty="0"/>
              <a:t>). MRSA is now the leading cause of death from infections in hospitals; its death rate has even passed that of AIDS in the United States.</a:t>
            </a:r>
          </a:p>
          <a:p>
            <a:r>
              <a:rPr lang="en-US" dirty="0"/>
              <a:t>With the rise of MRSA at hand, developing new antibiotics represents a central challenge to modern medicine. A difficult problem in antibiotics research is that of </a:t>
            </a:r>
            <a:r>
              <a:rPr lang="en-US" b="1" dirty="0"/>
              <a:t>sequencing</a:t>
            </a:r>
            <a:r>
              <a:rPr lang="en-US" dirty="0"/>
              <a:t> newly discovered antibiotics, or determining the order of amino acids making up the antibiotic peptide.</a:t>
            </a:r>
          </a:p>
          <a:p>
            <a:endParaRPr lang="fa-IR" dirty="0"/>
          </a:p>
        </p:txBody>
      </p:sp>
      <p:sp>
        <p:nvSpPr>
          <p:cNvPr id="4" name="Slide Number Placeholder 3">
            <a:extLst>
              <a:ext uri="{FF2B5EF4-FFF2-40B4-BE49-F238E27FC236}">
                <a16:creationId xmlns:a16="http://schemas.microsoft.com/office/drawing/2014/main" id="{82AB79E3-2C9F-2222-40B3-471494259C63}"/>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Tree>
    <p:extLst>
      <p:ext uri="{BB962C8B-B14F-4D97-AF65-F5344CB8AC3E}">
        <p14:creationId xmlns:p14="http://schemas.microsoft.com/office/powerpoint/2010/main" val="198769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147AB-CD88-8C3B-E722-CD6573211E30}"/>
              </a:ext>
            </a:extLst>
          </p:cNvPr>
          <p:cNvSpPr>
            <a:spLocks noGrp="1"/>
          </p:cNvSpPr>
          <p:nvPr>
            <p:ph type="ctrTitle"/>
          </p:nvPr>
        </p:nvSpPr>
        <p:spPr>
          <a:xfrm>
            <a:off x="6991350" y="487017"/>
            <a:ext cx="3330521" cy="3403057"/>
          </a:xfrm>
        </p:spPr>
        <p:txBody>
          <a:bodyPr/>
          <a:lstStyle/>
          <a:p>
            <a:r>
              <a:rPr lang="en-US" b="1" dirty="0"/>
              <a:t>How Do Bacteria Make Antibiotics?</a:t>
            </a:r>
            <a:br>
              <a:rPr lang="en-US" b="1" dirty="0"/>
            </a:br>
            <a:endParaRPr lang="fa-IR" dirty="0"/>
          </a:p>
        </p:txBody>
      </p:sp>
    </p:spTree>
    <p:extLst>
      <p:ext uri="{BB962C8B-B14F-4D97-AF65-F5344CB8AC3E}">
        <p14:creationId xmlns:p14="http://schemas.microsoft.com/office/powerpoint/2010/main" val="89997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748395"/>
          </a:xfrm>
        </p:spPr>
        <p:txBody>
          <a:bodyPr/>
          <a:lstStyle/>
          <a:p>
            <a:r>
              <a:rPr lang="en-US" b="1" dirty="0"/>
              <a:t>How peptides are encoded by the genome</a:t>
            </a:r>
            <a:endParaRPr lang="en-US" b="1" dirty="0">
              <a:effectLst/>
            </a:endParaRPr>
          </a:p>
        </p:txBody>
      </p:sp>
      <p:sp>
        <p:nvSpPr>
          <p:cNvPr id="12" name="Text Placeholder 11">
            <a:extLst>
              <a:ext uri="{FF2B5EF4-FFF2-40B4-BE49-F238E27FC236}">
                <a16:creationId xmlns:a16="http://schemas.microsoft.com/office/drawing/2014/main" id="{554B61B9-26F6-B304-92CD-03053DAAF2A8}"/>
              </a:ext>
            </a:extLst>
          </p:cNvPr>
          <p:cNvSpPr>
            <a:spLocks noGrp="1"/>
          </p:cNvSpPr>
          <p:nvPr>
            <p:ph type="body" idx="1"/>
          </p:nvPr>
        </p:nvSpPr>
        <p:spPr>
          <a:xfrm>
            <a:off x="2933700" y="2797255"/>
            <a:ext cx="3924300" cy="464499"/>
          </a:xfrm>
        </p:spPr>
        <p:txBody>
          <a:bodyPr/>
          <a:lstStyle/>
          <a:p>
            <a:pPr algn="l"/>
            <a:r>
              <a:rPr lang="en-US" dirty="0"/>
              <a:t>Tyrocidine B1</a:t>
            </a:r>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2933700" y="3251596"/>
            <a:ext cx="8225080" cy="3234264"/>
          </a:xfrm>
        </p:spPr>
        <p:txBody>
          <a:bodyPr>
            <a:normAutofit/>
          </a:bodyPr>
          <a:lstStyle/>
          <a:p>
            <a:pPr algn="l"/>
            <a:r>
              <a:rPr lang="en-US" dirty="0"/>
              <a:t>Let’s begin by considering </a:t>
            </a:r>
            <a:r>
              <a:rPr lang="en-US" b="1" dirty="0"/>
              <a:t>Tyrocidine B1</a:t>
            </a:r>
            <a:r>
              <a:rPr lang="en-US" dirty="0"/>
              <a:t>, one of many antibiotics produced by </a:t>
            </a:r>
            <a:r>
              <a:rPr lang="en-US" i="1" dirty="0"/>
              <a:t>Bacillus brevis</a:t>
            </a:r>
            <a:r>
              <a:rPr lang="en-US" dirty="0"/>
              <a:t>. Tyrocidine B1 is defined by the 10 amino acid-long sequence shown below (using both the one-letter and three-letter notations for amino acids). Our goal in this section is to figure out how </a:t>
            </a:r>
            <a:r>
              <a:rPr lang="en-US" i="1" dirty="0"/>
              <a:t>Bacillus brevis</a:t>
            </a:r>
            <a:r>
              <a:rPr lang="en-US" dirty="0"/>
              <a:t> could have made this antibiotic.</a:t>
            </a:r>
          </a:p>
          <a:p>
            <a:pPr algn="l"/>
            <a:r>
              <a:rPr lang="en-US" dirty="0"/>
              <a:t>Val-Lys-Leu-</a:t>
            </a:r>
            <a:r>
              <a:rPr lang="en-US" dirty="0" err="1"/>
              <a:t>Phe</a:t>
            </a:r>
            <a:r>
              <a:rPr lang="en-US" dirty="0"/>
              <a:t>-Pro-</a:t>
            </a:r>
            <a:r>
              <a:rPr lang="en-US" dirty="0" err="1"/>
              <a:t>Trp</a:t>
            </a:r>
            <a:r>
              <a:rPr lang="en-US" dirty="0"/>
              <a:t>-</a:t>
            </a:r>
            <a:r>
              <a:rPr lang="en-US" dirty="0" err="1"/>
              <a:t>Phe</a:t>
            </a:r>
            <a:r>
              <a:rPr lang="en-US" dirty="0"/>
              <a:t>-</a:t>
            </a:r>
            <a:r>
              <a:rPr lang="en-US" dirty="0" err="1"/>
              <a:t>Asn</a:t>
            </a:r>
            <a:r>
              <a:rPr lang="en-US" dirty="0"/>
              <a:t>-Gln-Tyr</a:t>
            </a:r>
            <a:br>
              <a:rPr lang="en-US" dirty="0"/>
            </a:br>
            <a:r>
              <a:rPr lang="en-US" dirty="0"/>
              <a:t>V   K   L   F   P   W   F   N   Q   Y</a:t>
            </a:r>
          </a:p>
          <a:p>
            <a:pPr algn="l"/>
            <a:endParaRPr lang="en-US" dirty="0"/>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Tree>
    <p:extLst>
      <p:ext uri="{BB962C8B-B14F-4D97-AF65-F5344CB8AC3E}">
        <p14:creationId xmlns:p14="http://schemas.microsoft.com/office/powerpoint/2010/main" val="103458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FA5D8-DD99-F241-2122-87ED2E1B57C2}"/>
              </a:ext>
            </a:extLst>
          </p:cNvPr>
          <p:cNvSpPr>
            <a:spLocks noGrp="1"/>
          </p:cNvSpPr>
          <p:nvPr>
            <p:ph type="title"/>
          </p:nvPr>
        </p:nvSpPr>
        <p:spPr/>
        <p:txBody>
          <a:bodyPr/>
          <a:lstStyle/>
          <a:p>
            <a:r>
              <a:rPr lang="en-US" b="1" dirty="0"/>
              <a:t>Central Dogma of Molecular Biology</a:t>
            </a:r>
            <a:endParaRPr lang="fa-IR" dirty="0"/>
          </a:p>
        </p:txBody>
      </p:sp>
      <p:pic>
        <p:nvPicPr>
          <p:cNvPr id="7" name="Content Placeholder 6">
            <a:extLst>
              <a:ext uri="{FF2B5EF4-FFF2-40B4-BE49-F238E27FC236}">
                <a16:creationId xmlns:a16="http://schemas.microsoft.com/office/drawing/2014/main" id="{98D322F5-54BA-6A63-1D50-26A6D71A806A}"/>
              </a:ext>
            </a:extLst>
          </p:cNvPr>
          <p:cNvPicPr>
            <a:picLocks noGrp="1" noChangeAspect="1"/>
          </p:cNvPicPr>
          <p:nvPr>
            <p:ph sz="half" idx="16"/>
          </p:nvPr>
        </p:nvPicPr>
        <p:blipFill>
          <a:blip r:embed="rId2"/>
          <a:stretch>
            <a:fillRect/>
          </a:stretch>
        </p:blipFill>
        <p:spPr>
          <a:xfrm>
            <a:off x="707669" y="2572719"/>
            <a:ext cx="3078250" cy="3783630"/>
          </a:xfrm>
        </p:spPr>
      </p:pic>
      <p:sp>
        <p:nvSpPr>
          <p:cNvPr id="5" name="Slide Number Placeholder 4">
            <a:extLst>
              <a:ext uri="{FF2B5EF4-FFF2-40B4-BE49-F238E27FC236}">
                <a16:creationId xmlns:a16="http://schemas.microsoft.com/office/drawing/2014/main" id="{BB7523C9-9748-4778-7C55-9A9F69221D74}"/>
              </a:ext>
            </a:extLst>
          </p:cNvPr>
          <p:cNvSpPr>
            <a:spLocks noGrp="1"/>
          </p:cNvSpPr>
          <p:nvPr>
            <p:ph type="sldNum" sz="quarter" idx="12"/>
          </p:nvPr>
        </p:nvSpPr>
        <p:spPr/>
        <p:txBody>
          <a:bodyPr/>
          <a:lstStyle/>
          <a:p>
            <a:fld id="{A49DFD55-3C28-40EF-9E31-A92D2E4017FF}" type="slidenum">
              <a:rPr lang="en-US" smtClean="0"/>
              <a:pPr/>
              <a:t>12</a:t>
            </a:fld>
            <a:endParaRPr lang="en-US" dirty="0"/>
          </a:p>
        </p:txBody>
      </p:sp>
      <p:sp>
        <p:nvSpPr>
          <p:cNvPr id="8" name="TextBox 7">
            <a:extLst>
              <a:ext uri="{FF2B5EF4-FFF2-40B4-BE49-F238E27FC236}">
                <a16:creationId xmlns:a16="http://schemas.microsoft.com/office/drawing/2014/main" id="{975455EC-BDFB-3107-1579-6A8C49C54E9C}"/>
              </a:ext>
            </a:extLst>
          </p:cNvPr>
          <p:cNvSpPr txBox="1"/>
          <p:nvPr/>
        </p:nvSpPr>
        <p:spPr>
          <a:xfrm>
            <a:off x="4866468" y="1224366"/>
            <a:ext cx="6617863" cy="2585323"/>
          </a:xfrm>
          <a:prstGeom prst="rect">
            <a:avLst/>
          </a:prstGeom>
          <a:noFill/>
        </p:spPr>
        <p:txBody>
          <a:bodyPr wrap="square" rtlCol="1">
            <a:spAutoFit/>
          </a:bodyPr>
          <a:lstStyle/>
          <a:p>
            <a:r>
              <a:rPr lang="en-US" dirty="0"/>
              <a:t>The </a:t>
            </a:r>
            <a:r>
              <a:rPr lang="en-US" b="1" dirty="0"/>
              <a:t>Central Dogma of Molecular Biology</a:t>
            </a:r>
            <a:r>
              <a:rPr lang="en-US" dirty="0"/>
              <a:t> states that “DNA makes RNA makes protein.” According to the Central Dogma, a gene from a genome is first </a:t>
            </a:r>
            <a:r>
              <a:rPr lang="en-US" b="1" dirty="0"/>
              <a:t>transcribed</a:t>
            </a:r>
            <a:r>
              <a:rPr lang="en-US" dirty="0"/>
              <a:t> into a strand of RNA composed of four </a:t>
            </a:r>
            <a:r>
              <a:rPr lang="en-US" b="1" dirty="0"/>
              <a:t>ribonucleotides</a:t>
            </a:r>
            <a:r>
              <a:rPr lang="en-US" dirty="0"/>
              <a:t>: adenine, guanine, cytosine, and uracil. A strand of RNA can be represented as an </a:t>
            </a:r>
            <a:r>
              <a:rPr lang="en-US" b="1" dirty="0"/>
              <a:t>RNA string</a:t>
            </a:r>
            <a:r>
              <a:rPr lang="en-US" dirty="0"/>
              <a:t>, formed over the four-letter alphabet {A, C, G, U}.</a:t>
            </a:r>
          </a:p>
          <a:p>
            <a:endParaRPr lang="fa-IR" dirty="0"/>
          </a:p>
          <a:p>
            <a:r>
              <a:rPr lang="en-US" dirty="0"/>
              <a:t>Then, the RNA transcript is </a:t>
            </a:r>
            <a:r>
              <a:rPr lang="en-US" b="1" dirty="0"/>
              <a:t>translated</a:t>
            </a:r>
            <a:r>
              <a:rPr lang="en-US" dirty="0"/>
              <a:t> into an amino acid sequence of a protein.</a:t>
            </a:r>
            <a:endParaRPr lang="fa-IR" dirty="0"/>
          </a:p>
        </p:txBody>
      </p:sp>
    </p:spTree>
    <p:extLst>
      <p:ext uri="{BB962C8B-B14F-4D97-AF65-F5344CB8AC3E}">
        <p14:creationId xmlns:p14="http://schemas.microsoft.com/office/powerpoint/2010/main" val="140572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7964-E622-9DAA-6F33-8DF65E72A086}"/>
              </a:ext>
            </a:extLst>
          </p:cNvPr>
          <p:cNvSpPr>
            <a:spLocks noGrp="1"/>
          </p:cNvSpPr>
          <p:nvPr>
            <p:ph type="title"/>
          </p:nvPr>
        </p:nvSpPr>
        <p:spPr>
          <a:xfrm>
            <a:off x="73414" y="593824"/>
            <a:ext cx="6022586" cy="5762525"/>
          </a:xfrm>
        </p:spPr>
        <p:txBody>
          <a:bodyPr>
            <a:noAutofit/>
          </a:bodyPr>
          <a:lstStyle/>
          <a:p>
            <a:r>
              <a:rPr lang="en-US" sz="1400" dirty="0"/>
              <a:t>Much like replication, the chemical machinery underlying transcription and translation is fascinating, but from a computational perspective, both processes are straightforward. Transcription simply transforms a DNA string into an RNA string by replacing all occurrences of T with U. The resulting strand of RNA is translated into an amino acid sequence as follows. During translation, the RNA strand is partitioned into non-overlapping 3-mers called </a:t>
            </a:r>
            <a:r>
              <a:rPr lang="en-US" sz="1400" b="1" dirty="0"/>
              <a:t>codons</a:t>
            </a:r>
            <a:r>
              <a:rPr lang="en-US" sz="1400" dirty="0"/>
              <a:t>. Then, each codon is converted into one of 20 amino acids via the </a:t>
            </a:r>
            <a:r>
              <a:rPr lang="en-US" sz="1400" b="1" dirty="0"/>
              <a:t>genetic code</a:t>
            </a:r>
            <a:r>
              <a:rPr lang="en-US" sz="1400" dirty="0"/>
              <a:t>; the resulting sequence can be represented as an </a:t>
            </a:r>
            <a:r>
              <a:rPr lang="en-US" sz="1400" b="1" dirty="0"/>
              <a:t>amino acid string</a:t>
            </a:r>
            <a:r>
              <a:rPr lang="en-US" sz="1400" dirty="0"/>
              <a:t> formed over a 20-letter alphabet. As illustrated in the figure below, each of the 64 RNA codons encodes its own amino acid (some codons encode the same amino acid), with the exception of three </a:t>
            </a:r>
            <a:r>
              <a:rPr lang="en-US" sz="1400" b="1" dirty="0"/>
              <a:t>stop codons</a:t>
            </a:r>
            <a:r>
              <a:rPr lang="en-US" sz="1400" dirty="0"/>
              <a:t> that do not translate into amino acids and serve to halt translation.</a:t>
            </a:r>
            <a:br>
              <a:rPr lang="fa-IR" sz="1400" dirty="0"/>
            </a:br>
            <a:br>
              <a:rPr lang="fa-IR" sz="1400" dirty="0"/>
            </a:br>
            <a:br>
              <a:rPr lang="fa-IR" sz="1400" dirty="0"/>
            </a:br>
            <a:br>
              <a:rPr lang="fa-IR" sz="1400" dirty="0"/>
            </a:br>
            <a:r>
              <a:rPr lang="en-US" sz="1400" dirty="0"/>
              <a:t>For example, the DNA string </a:t>
            </a:r>
            <a:r>
              <a:rPr lang="en-US" sz="1400" b="1" dirty="0"/>
              <a:t>TATACGAAA</a:t>
            </a:r>
            <a:r>
              <a:rPr lang="en-US" sz="1400" dirty="0"/>
              <a:t> transcribes into the RNA string </a:t>
            </a:r>
            <a:r>
              <a:rPr lang="en-US" sz="1400" b="1" dirty="0"/>
              <a:t>UAUACGAAA</a:t>
            </a:r>
            <a:r>
              <a:rPr lang="en-US" sz="1400" dirty="0"/>
              <a:t>, which in turn translates into the amino acid string </a:t>
            </a:r>
            <a:r>
              <a:rPr lang="en-US" sz="1400" b="1" dirty="0"/>
              <a:t>Y-T-K</a:t>
            </a:r>
            <a:r>
              <a:rPr lang="en-US" sz="1400" dirty="0"/>
              <a:t>.</a:t>
            </a:r>
            <a:endParaRPr lang="fa-IR" sz="1400" dirty="0"/>
          </a:p>
        </p:txBody>
      </p:sp>
      <p:pic>
        <p:nvPicPr>
          <p:cNvPr id="6" name="Content Placeholder 5">
            <a:extLst>
              <a:ext uri="{FF2B5EF4-FFF2-40B4-BE49-F238E27FC236}">
                <a16:creationId xmlns:a16="http://schemas.microsoft.com/office/drawing/2014/main" id="{7805CB89-1166-B2B1-CFB7-314FEEB89576}"/>
              </a:ext>
            </a:extLst>
          </p:cNvPr>
          <p:cNvPicPr>
            <a:picLocks noGrp="1" noChangeAspect="1"/>
          </p:cNvPicPr>
          <p:nvPr>
            <p:ph sz="half" idx="2"/>
          </p:nvPr>
        </p:nvPicPr>
        <p:blipFill>
          <a:blip r:embed="rId2"/>
          <a:stretch>
            <a:fillRect/>
          </a:stretch>
        </p:blipFill>
        <p:spPr>
          <a:xfrm>
            <a:off x="6116482" y="809207"/>
            <a:ext cx="5806698" cy="5239586"/>
          </a:xfrm>
        </p:spPr>
      </p:pic>
      <p:sp>
        <p:nvSpPr>
          <p:cNvPr id="4" name="Slide Number Placeholder 3">
            <a:extLst>
              <a:ext uri="{FF2B5EF4-FFF2-40B4-BE49-F238E27FC236}">
                <a16:creationId xmlns:a16="http://schemas.microsoft.com/office/drawing/2014/main" id="{9A22DA00-9E7F-6D69-92EE-2D9AB5ED2B80}"/>
              </a:ext>
            </a:extLst>
          </p:cNvPr>
          <p:cNvSpPr>
            <a:spLocks noGrp="1"/>
          </p:cNvSpPr>
          <p:nvPr>
            <p:ph type="sldNum" sz="quarter" idx="12"/>
          </p:nvPr>
        </p:nvSpPr>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648445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0FB2-805F-A539-4798-51CA8976D922}"/>
              </a:ext>
            </a:extLst>
          </p:cNvPr>
          <p:cNvSpPr>
            <a:spLocks noGrp="1"/>
          </p:cNvSpPr>
          <p:nvPr>
            <p:ph type="ctrTitle"/>
          </p:nvPr>
        </p:nvSpPr>
        <p:spPr>
          <a:xfrm>
            <a:off x="4241369" y="577351"/>
            <a:ext cx="4179570" cy="724508"/>
          </a:xfrm>
        </p:spPr>
        <p:txBody>
          <a:bodyPr/>
          <a:lstStyle/>
          <a:p>
            <a:r>
              <a:rPr lang="en-US" dirty="0"/>
              <a:t>Question !!!</a:t>
            </a:r>
            <a:endParaRPr lang="fa-IR" dirty="0"/>
          </a:p>
        </p:txBody>
      </p:sp>
      <p:sp>
        <p:nvSpPr>
          <p:cNvPr id="3" name="Subtitle 2">
            <a:extLst>
              <a:ext uri="{FF2B5EF4-FFF2-40B4-BE49-F238E27FC236}">
                <a16:creationId xmlns:a16="http://schemas.microsoft.com/office/drawing/2014/main" id="{2AEB1809-CE2D-D415-836D-810EAAEE940F}"/>
              </a:ext>
            </a:extLst>
          </p:cNvPr>
          <p:cNvSpPr>
            <a:spLocks noGrp="1"/>
          </p:cNvSpPr>
          <p:nvPr>
            <p:ph type="subTitle" idx="1"/>
          </p:nvPr>
        </p:nvSpPr>
        <p:spPr>
          <a:xfrm>
            <a:off x="4241369" y="2556178"/>
            <a:ext cx="7712990" cy="2850181"/>
          </a:xfrm>
        </p:spPr>
        <p:txBody>
          <a:bodyPr>
            <a:normAutofit fontScale="92500" lnSpcReduction="20000"/>
          </a:bodyPr>
          <a:lstStyle/>
          <a:p>
            <a:r>
              <a:rPr lang="en-US" sz="2200" dirty="0"/>
              <a:t>How many DNA strings of length 30 transcribe and translate into Tyrocidine B1 ? (Don't include the stop codon.)</a:t>
            </a:r>
            <a:endParaRPr lang="fa-IR" sz="2200" dirty="0"/>
          </a:p>
          <a:p>
            <a:endParaRPr lang="fa-IR" dirty="0"/>
          </a:p>
          <a:p>
            <a:endParaRPr lang="en-US" dirty="0"/>
          </a:p>
          <a:p>
            <a:r>
              <a:rPr lang="pl-PL" dirty="0"/>
              <a:t>V(4), K(2), L(6), F(2), P(4), W(1), F(2), N(2), Q(2), Y(2)</a:t>
            </a:r>
          </a:p>
          <a:p>
            <a:r>
              <a:rPr lang="en-US" dirty="0"/>
              <a:t>So -&gt; 4*2*6*2*4*1*2*2*2*2 = 6144</a:t>
            </a:r>
            <a:endParaRPr lang="fa-IR" dirty="0"/>
          </a:p>
          <a:p>
            <a:endParaRPr lang="fa-IR" dirty="0"/>
          </a:p>
        </p:txBody>
      </p:sp>
      <p:sp>
        <p:nvSpPr>
          <p:cNvPr id="4" name="Slide Number Placeholder 3">
            <a:extLst>
              <a:ext uri="{FF2B5EF4-FFF2-40B4-BE49-F238E27FC236}">
                <a16:creationId xmlns:a16="http://schemas.microsoft.com/office/drawing/2014/main" id="{CCC30709-76B2-4586-0FE6-D8C06A3DF174}"/>
              </a:ext>
            </a:extLst>
          </p:cNvPr>
          <p:cNvSpPr>
            <a:spLocks noGrp="1"/>
          </p:cNvSpPr>
          <p:nvPr>
            <p:ph type="sldNum" sz="quarter" idx="12"/>
          </p:nvPr>
        </p:nvSpPr>
        <p:spPr/>
        <p:txBody>
          <a:bodyPr/>
          <a:lstStyle/>
          <a:p>
            <a:fld id="{A49DFD55-3C28-40EF-9E31-A92D2E4017FF}" type="slidenum">
              <a:rPr lang="en-US" smtClean="0"/>
              <a:pPr/>
              <a:t>14</a:t>
            </a:fld>
            <a:endParaRPr lang="en-US" dirty="0"/>
          </a:p>
        </p:txBody>
      </p:sp>
    </p:spTree>
    <p:extLst>
      <p:ext uri="{BB962C8B-B14F-4D97-AF65-F5344CB8AC3E}">
        <p14:creationId xmlns:p14="http://schemas.microsoft.com/office/powerpoint/2010/main" val="76481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85BD-76E5-FDA9-99C0-2CA146914B97}"/>
              </a:ext>
            </a:extLst>
          </p:cNvPr>
          <p:cNvSpPr>
            <a:spLocks noGrp="1"/>
          </p:cNvSpPr>
          <p:nvPr>
            <p:ph type="title"/>
          </p:nvPr>
        </p:nvSpPr>
        <p:spPr>
          <a:xfrm>
            <a:off x="1341120" y="558801"/>
            <a:ext cx="9953308" cy="1269999"/>
          </a:xfrm>
        </p:spPr>
        <p:txBody>
          <a:bodyPr/>
          <a:lstStyle/>
          <a:p>
            <a:r>
              <a:rPr lang="en-US" b="1" dirty="0"/>
              <a:t>Where is Tyrocidine encoded in the </a:t>
            </a:r>
            <a:r>
              <a:rPr lang="en-US" b="1" i="1" dirty="0"/>
              <a:t>Bacillus brevis</a:t>
            </a:r>
            <a:r>
              <a:rPr lang="en-US" b="1" dirty="0"/>
              <a:t> genome?</a:t>
            </a:r>
            <a:endParaRPr lang="fa-IR" dirty="0"/>
          </a:p>
        </p:txBody>
      </p:sp>
      <p:pic>
        <p:nvPicPr>
          <p:cNvPr id="9" name="Content Placeholder 8">
            <a:extLst>
              <a:ext uri="{FF2B5EF4-FFF2-40B4-BE49-F238E27FC236}">
                <a16:creationId xmlns:a16="http://schemas.microsoft.com/office/drawing/2014/main" id="{EC0887FF-01FD-70B3-B14E-F350D774FA98}"/>
              </a:ext>
            </a:extLst>
          </p:cNvPr>
          <p:cNvPicPr>
            <a:picLocks noGrp="1" noChangeAspect="1"/>
          </p:cNvPicPr>
          <p:nvPr>
            <p:ph sz="half" idx="14"/>
          </p:nvPr>
        </p:nvPicPr>
        <p:blipFill>
          <a:blip r:embed="rId2"/>
          <a:stretch>
            <a:fillRect/>
          </a:stretch>
        </p:blipFill>
        <p:spPr>
          <a:xfrm>
            <a:off x="4869798" y="2262753"/>
            <a:ext cx="6614446" cy="4093597"/>
          </a:xfrm>
        </p:spPr>
      </p:pic>
      <p:sp>
        <p:nvSpPr>
          <p:cNvPr id="7" name="Slide Number Placeholder 6">
            <a:extLst>
              <a:ext uri="{FF2B5EF4-FFF2-40B4-BE49-F238E27FC236}">
                <a16:creationId xmlns:a16="http://schemas.microsoft.com/office/drawing/2014/main" id="{99087CF8-110C-3785-7E0C-E264BB90967D}"/>
              </a:ext>
            </a:extLst>
          </p:cNvPr>
          <p:cNvSpPr>
            <a:spLocks noGrp="1"/>
          </p:cNvSpPr>
          <p:nvPr>
            <p:ph type="sldNum" sz="quarter" idx="13"/>
          </p:nvPr>
        </p:nvSpPr>
        <p:spPr/>
        <p:txBody>
          <a:bodyPr/>
          <a:lstStyle/>
          <a:p>
            <a:fld id="{A49DFD55-3C28-40EF-9E31-A92D2E4017FF}" type="slidenum">
              <a:rPr lang="en-US" smtClean="0"/>
              <a:pPr/>
              <a:t>15</a:t>
            </a:fld>
            <a:endParaRPr lang="en-US" dirty="0"/>
          </a:p>
        </p:txBody>
      </p:sp>
      <p:sp>
        <p:nvSpPr>
          <p:cNvPr id="14" name="TextBox 13">
            <a:extLst>
              <a:ext uri="{FF2B5EF4-FFF2-40B4-BE49-F238E27FC236}">
                <a16:creationId xmlns:a16="http://schemas.microsoft.com/office/drawing/2014/main" id="{012AD7AA-98F0-A565-91E0-5F54BD6CC865}"/>
              </a:ext>
            </a:extLst>
          </p:cNvPr>
          <p:cNvSpPr txBox="1"/>
          <p:nvPr/>
        </p:nvSpPr>
        <p:spPr>
          <a:xfrm>
            <a:off x="371959" y="2443380"/>
            <a:ext cx="3766088" cy="4278094"/>
          </a:xfrm>
          <a:prstGeom prst="rect">
            <a:avLst/>
          </a:prstGeom>
          <a:noFill/>
        </p:spPr>
        <p:txBody>
          <a:bodyPr wrap="square" rtlCol="1">
            <a:spAutoFit/>
          </a:bodyPr>
          <a:lstStyle/>
          <a:p>
            <a:r>
              <a:rPr lang="en-US" sz="2400" b="1" dirty="0"/>
              <a:t>reading frames</a:t>
            </a:r>
          </a:p>
          <a:p>
            <a:endParaRPr lang="en-US" sz="2400" dirty="0"/>
          </a:p>
          <a:p>
            <a:r>
              <a:rPr lang="en-US" sz="1600" dirty="0"/>
              <a:t>Thousands of different DNA 30-mers could code for Tyrocidine B1, and we would like to know which one appears in the </a:t>
            </a:r>
            <a:r>
              <a:rPr lang="en-US" sz="1600" i="1" dirty="0"/>
              <a:t>Bacillus brevis</a:t>
            </a:r>
            <a:r>
              <a:rPr lang="en-US" sz="1600" dirty="0"/>
              <a:t> genome. There are three different ways to divide a DNA string into codons for translation, one starting at each of the first three starting positions of the string. These different ways of dividing a DNA string into codons are called </a:t>
            </a:r>
            <a:r>
              <a:rPr lang="en-US" sz="1600" b="1" dirty="0"/>
              <a:t>reading frames</a:t>
            </a:r>
            <a:r>
              <a:rPr lang="en-US" sz="1600" dirty="0"/>
              <a:t>. Since DNA is double-stranded, a genome has six reading frames (three on each strand), as shown in the figure below.</a:t>
            </a:r>
            <a:endParaRPr lang="fa-IR" sz="1600" dirty="0"/>
          </a:p>
        </p:txBody>
      </p:sp>
    </p:spTree>
    <p:extLst>
      <p:ext uri="{BB962C8B-B14F-4D97-AF65-F5344CB8AC3E}">
        <p14:creationId xmlns:p14="http://schemas.microsoft.com/office/powerpoint/2010/main" val="3940126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B68A-5805-ED19-4A7E-6E64B925EF54}"/>
              </a:ext>
            </a:extLst>
          </p:cNvPr>
          <p:cNvSpPr>
            <a:spLocks noGrp="1"/>
          </p:cNvSpPr>
          <p:nvPr>
            <p:ph type="ctrTitle"/>
          </p:nvPr>
        </p:nvSpPr>
        <p:spPr>
          <a:xfrm>
            <a:off x="4267200" y="1615736"/>
            <a:ext cx="6814088" cy="1524735"/>
          </a:xfrm>
        </p:spPr>
        <p:txBody>
          <a:bodyPr/>
          <a:lstStyle/>
          <a:p>
            <a:r>
              <a:rPr lang="en-US" sz="2000" dirty="0"/>
              <a:t>We say that a DNA string </a:t>
            </a:r>
            <a:r>
              <a:rPr lang="en-US" sz="2000" i="1" dirty="0"/>
              <a:t>Pattern</a:t>
            </a:r>
            <a:r>
              <a:rPr lang="en-US" sz="2000" dirty="0"/>
              <a:t> </a:t>
            </a:r>
            <a:r>
              <a:rPr lang="en-US" sz="2000" b="1" u="sng" dirty="0"/>
              <a:t>encodes</a:t>
            </a:r>
            <a:r>
              <a:rPr lang="en-US" sz="2000" dirty="0"/>
              <a:t> an amino acid string </a:t>
            </a:r>
            <a:r>
              <a:rPr lang="en-US" sz="2000" i="1" dirty="0"/>
              <a:t>Peptide</a:t>
            </a:r>
            <a:r>
              <a:rPr lang="en-US" sz="2000" dirty="0"/>
              <a:t> if the RNA string transcribed from either </a:t>
            </a:r>
            <a:r>
              <a:rPr lang="en-US" sz="2000" i="1" dirty="0"/>
              <a:t>Pattern</a:t>
            </a:r>
            <a:r>
              <a:rPr lang="en-US" sz="2000" dirty="0"/>
              <a:t> or its reverse complement </a:t>
            </a:r>
            <a:r>
              <a:rPr lang="en-US" sz="2000" i="1" dirty="0"/>
              <a:t>Pattern</a:t>
            </a:r>
            <a:r>
              <a:rPr lang="en-US" sz="2000" dirty="0"/>
              <a:t> translates into Peptide.</a:t>
            </a:r>
            <a:endParaRPr lang="fa-IR" sz="2000" dirty="0"/>
          </a:p>
        </p:txBody>
      </p:sp>
      <p:sp>
        <p:nvSpPr>
          <p:cNvPr id="3" name="Subtitle 2">
            <a:extLst>
              <a:ext uri="{FF2B5EF4-FFF2-40B4-BE49-F238E27FC236}">
                <a16:creationId xmlns:a16="http://schemas.microsoft.com/office/drawing/2014/main" id="{70902892-F10A-A5F2-CDF9-58E441BE772C}"/>
              </a:ext>
            </a:extLst>
          </p:cNvPr>
          <p:cNvSpPr>
            <a:spLocks noGrp="1"/>
          </p:cNvSpPr>
          <p:nvPr>
            <p:ph type="subTitle" idx="1"/>
          </p:nvPr>
        </p:nvSpPr>
        <p:spPr>
          <a:xfrm>
            <a:off x="5399857" y="3506169"/>
            <a:ext cx="5526447" cy="2850181"/>
          </a:xfrm>
        </p:spPr>
        <p:txBody>
          <a:bodyPr/>
          <a:lstStyle/>
          <a:p>
            <a:r>
              <a:rPr lang="en-US" dirty="0"/>
              <a:t>For example, the DNA string GAAACT is transcribed into GAAACU and translated into ET. The reverse complement of this DNA string, AGTTTC, is transcribed into AGUUUC and translated into SF. Thus, GAAACT encodes both ET and SF.</a:t>
            </a:r>
            <a:endParaRPr lang="fa-IR" dirty="0"/>
          </a:p>
        </p:txBody>
      </p:sp>
      <p:sp>
        <p:nvSpPr>
          <p:cNvPr id="4" name="Slide Number Placeholder 3">
            <a:extLst>
              <a:ext uri="{FF2B5EF4-FFF2-40B4-BE49-F238E27FC236}">
                <a16:creationId xmlns:a16="http://schemas.microsoft.com/office/drawing/2014/main" id="{10DB64B4-15E1-9A44-EA1D-E6C28E857B1F}"/>
              </a:ext>
            </a:extLst>
          </p:cNvPr>
          <p:cNvSpPr>
            <a:spLocks noGrp="1"/>
          </p:cNvSpPr>
          <p:nvPr>
            <p:ph type="sldNum" sz="quarter" idx="12"/>
          </p:nvPr>
        </p:nvSpPr>
        <p:spPr/>
        <p:txBody>
          <a:bodyPr/>
          <a:lstStyle/>
          <a:p>
            <a:fld id="{A49DFD55-3C28-40EF-9E31-A92D2E4017FF}" type="slidenum">
              <a:rPr lang="en-US" smtClean="0"/>
              <a:pPr/>
              <a:t>16</a:t>
            </a:fld>
            <a:endParaRPr lang="en-US" dirty="0"/>
          </a:p>
        </p:txBody>
      </p:sp>
    </p:spTree>
    <p:extLst>
      <p:ext uri="{BB962C8B-B14F-4D97-AF65-F5344CB8AC3E}">
        <p14:creationId xmlns:p14="http://schemas.microsoft.com/office/powerpoint/2010/main" val="3971425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406449" y="946259"/>
            <a:ext cx="9953308" cy="1146013"/>
          </a:xfrm>
        </p:spPr>
        <p:txBody>
          <a:bodyPr>
            <a:normAutofit fontScale="90000"/>
          </a:bodyPr>
          <a:lstStyle/>
          <a:p>
            <a:r>
              <a:rPr lang="en-US" dirty="0"/>
              <a:t>Solve the Peptide Encoding Problem for </a:t>
            </a:r>
            <a:r>
              <a:rPr lang="en-US" i="1" dirty="0"/>
              <a:t>Bacillus brevis</a:t>
            </a:r>
            <a:r>
              <a:rPr lang="en-US" dirty="0"/>
              <a:t> and Tyrocidine B1 </a:t>
            </a:r>
            <a:r>
              <a:rPr lang="en-US" sz="2000" dirty="0"/>
              <a:t>(Val-Lys-Leu-Phe-Pro-Trp-Phe-Asn-Gln-Tyr</a:t>
            </a:r>
            <a:r>
              <a:rPr lang="en-US" dirty="0"/>
              <a:t>).</a:t>
            </a:r>
            <a:endParaRPr lang="en-US" b="1" dirty="0">
              <a:effectLst/>
            </a:endParaRPr>
          </a:p>
        </p:txBody>
      </p:sp>
      <p:sp>
        <p:nvSpPr>
          <p:cNvPr id="15" name="Text Placeholder 14">
            <a:extLst>
              <a:ext uri="{FF2B5EF4-FFF2-40B4-BE49-F238E27FC236}">
                <a16:creationId xmlns:a16="http://schemas.microsoft.com/office/drawing/2014/main" id="{A536BD54-EFA1-25A2-9F04-4F22C36E2A5D}"/>
              </a:ext>
            </a:extLst>
          </p:cNvPr>
          <p:cNvSpPr>
            <a:spLocks noGrp="1"/>
          </p:cNvSpPr>
          <p:nvPr>
            <p:ph type="body" idx="10"/>
          </p:nvPr>
        </p:nvSpPr>
        <p:spPr>
          <a:xfrm>
            <a:off x="1022888" y="2960877"/>
            <a:ext cx="9248873" cy="363982"/>
          </a:xfrm>
        </p:spPr>
        <p:txBody>
          <a:bodyPr>
            <a:noAutofit/>
          </a:bodyPr>
          <a:lstStyle/>
          <a:p>
            <a:pPr algn="l"/>
            <a:r>
              <a:rPr lang="en-US" dirty="0"/>
              <a:t>How many starting positions in </a:t>
            </a:r>
            <a:r>
              <a:rPr lang="en-US" i="1" dirty="0"/>
              <a:t>Bacillus brevis</a:t>
            </a:r>
            <a:r>
              <a:rPr lang="en-US" dirty="0"/>
              <a:t> encode this peptide?</a:t>
            </a:r>
          </a:p>
        </p:txBody>
      </p:sp>
      <p:sp>
        <p:nvSpPr>
          <p:cNvPr id="14" name="Content Placeholder 13">
            <a:extLst>
              <a:ext uri="{FF2B5EF4-FFF2-40B4-BE49-F238E27FC236}">
                <a16:creationId xmlns:a16="http://schemas.microsoft.com/office/drawing/2014/main" id="{5112969F-EB84-49D5-7100-1FB28870FB30}"/>
              </a:ext>
            </a:extLst>
          </p:cNvPr>
          <p:cNvSpPr>
            <a:spLocks noGrp="1"/>
          </p:cNvSpPr>
          <p:nvPr>
            <p:ph sz="half" idx="14"/>
          </p:nvPr>
        </p:nvSpPr>
        <p:spPr>
          <a:xfrm>
            <a:off x="1270861" y="3533143"/>
            <a:ext cx="8990740" cy="2823206"/>
          </a:xfrm>
        </p:spPr>
        <p:txBody>
          <a:bodyPr>
            <a:normAutofit/>
          </a:bodyPr>
          <a:lstStyle/>
          <a:p>
            <a:pPr algn="l"/>
            <a:r>
              <a:rPr lang="en-US" dirty="0"/>
              <a:t>After solving the Peptide Encoding Problem for Tyrocidine B1, we should be able to find a 30-mer in the </a:t>
            </a:r>
            <a:r>
              <a:rPr lang="en-US" i="1" dirty="0"/>
              <a:t>Bacillus brevis</a:t>
            </a:r>
            <a:r>
              <a:rPr lang="en-US" dirty="0"/>
              <a:t> genome encoding Tyrocidine B1, and yet no such 30-mer exists!</a:t>
            </a:r>
            <a:endParaRPr lang="fa-IR" dirty="0"/>
          </a:p>
          <a:p>
            <a:pPr algn="l"/>
            <a:endParaRPr lang="fa-IR" dirty="0"/>
          </a:p>
          <a:p>
            <a:pPr algn="l"/>
            <a:endParaRPr lang="fa-IR" dirty="0"/>
          </a:p>
          <a:p>
            <a:pPr algn="l"/>
            <a:endParaRPr lang="fa-IR" dirty="0"/>
          </a:p>
          <a:p>
            <a:pPr algn="l"/>
            <a:r>
              <a:rPr lang="en-US" sz="2000" b="1" i="1" dirty="0"/>
              <a:t>How could a bacterium produce a peptide that is not encoded by the bacterium’s genome?</a:t>
            </a:r>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17</a:t>
            </a:fld>
            <a:endParaRPr lang="en-US" dirty="0"/>
          </a:p>
        </p:txBody>
      </p:sp>
    </p:spTree>
    <p:extLst>
      <p:ext uri="{BB962C8B-B14F-4D97-AF65-F5344CB8AC3E}">
        <p14:creationId xmlns:p14="http://schemas.microsoft.com/office/powerpoint/2010/main" val="636929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4350D-F857-9C92-AF12-67A788BAF9EA}"/>
              </a:ext>
            </a:extLst>
          </p:cNvPr>
          <p:cNvSpPr>
            <a:spLocks noGrp="1"/>
          </p:cNvSpPr>
          <p:nvPr>
            <p:ph type="title"/>
          </p:nvPr>
        </p:nvSpPr>
        <p:spPr>
          <a:xfrm>
            <a:off x="108488" y="558799"/>
            <a:ext cx="11185940" cy="2434415"/>
          </a:xfrm>
        </p:spPr>
        <p:txBody>
          <a:bodyPr>
            <a:noAutofit/>
          </a:bodyPr>
          <a:lstStyle/>
          <a:p>
            <a:r>
              <a:rPr lang="en-US" sz="1800" dirty="0"/>
              <a:t>Neither Gause nor Synge was aware of it, but tyrocidines and </a:t>
            </a:r>
            <a:r>
              <a:rPr lang="en-US" sz="1800" dirty="0" err="1"/>
              <a:t>gramicidins</a:t>
            </a:r>
            <a:r>
              <a:rPr lang="en-US" sz="1800" dirty="0"/>
              <a:t> are actually </a:t>
            </a:r>
            <a:r>
              <a:rPr lang="en-US" sz="1800" b="1" dirty="0"/>
              <a:t>cyclic peptides</a:t>
            </a:r>
            <a:r>
              <a:rPr lang="en-US" sz="1800" dirty="0"/>
              <a:t>; the cyclic representation for Tyrocidine B1 is shown on the left in the figure below. Thus, Tyrocidine B1 has ten different linear representations, and we should run the Peptide Encoding Problem on every one of these sequences to find potential 30-mers coding for Tyrocidine B1. Yet when we solve the Peptide Encoding Problem for each of the ten strings on the right in the figure below, we find no 30-mer in the Bacillus brevis genome encoding Tyrocidine B1!</a:t>
            </a:r>
            <a:endParaRPr lang="fa-IR" sz="1800" dirty="0"/>
          </a:p>
        </p:txBody>
      </p:sp>
      <p:pic>
        <p:nvPicPr>
          <p:cNvPr id="9" name="Content Placeholder 8">
            <a:extLst>
              <a:ext uri="{FF2B5EF4-FFF2-40B4-BE49-F238E27FC236}">
                <a16:creationId xmlns:a16="http://schemas.microsoft.com/office/drawing/2014/main" id="{DF2A46F1-8FD0-53F3-83F3-2A86D03B65F1}"/>
              </a:ext>
            </a:extLst>
          </p:cNvPr>
          <p:cNvPicPr>
            <a:picLocks noGrp="1" noChangeAspect="1"/>
          </p:cNvPicPr>
          <p:nvPr>
            <p:ph sz="half" idx="14"/>
          </p:nvPr>
        </p:nvPicPr>
        <p:blipFill>
          <a:blip r:embed="rId2"/>
          <a:stretch>
            <a:fillRect/>
          </a:stretch>
        </p:blipFill>
        <p:spPr>
          <a:xfrm>
            <a:off x="3657600" y="3175778"/>
            <a:ext cx="8307092" cy="3363133"/>
          </a:xfrm>
        </p:spPr>
      </p:pic>
      <p:sp>
        <p:nvSpPr>
          <p:cNvPr id="7" name="Slide Number Placeholder 6">
            <a:extLst>
              <a:ext uri="{FF2B5EF4-FFF2-40B4-BE49-F238E27FC236}">
                <a16:creationId xmlns:a16="http://schemas.microsoft.com/office/drawing/2014/main" id="{7220BBBB-8178-C89C-189F-17E73B85A6B0}"/>
              </a:ext>
            </a:extLst>
          </p:cNvPr>
          <p:cNvSpPr>
            <a:spLocks noGrp="1"/>
          </p:cNvSpPr>
          <p:nvPr>
            <p:ph type="sldNum" sz="quarter" idx="13"/>
          </p:nvPr>
        </p:nvSpPr>
        <p:spPr/>
        <p:txBody>
          <a:bodyPr/>
          <a:lstStyle/>
          <a:p>
            <a:fld id="{A49DFD55-3C28-40EF-9E31-A92D2E4017FF}" type="slidenum">
              <a:rPr lang="en-US" smtClean="0"/>
              <a:pPr/>
              <a:t>18</a:t>
            </a:fld>
            <a:endParaRPr lang="en-US" dirty="0"/>
          </a:p>
        </p:txBody>
      </p:sp>
    </p:spTree>
    <p:extLst>
      <p:ext uri="{BB962C8B-B14F-4D97-AF65-F5344CB8AC3E}">
        <p14:creationId xmlns:p14="http://schemas.microsoft.com/office/powerpoint/2010/main" val="2708950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F466-7EC3-38F3-34E6-561061978BB6}"/>
              </a:ext>
            </a:extLst>
          </p:cNvPr>
          <p:cNvSpPr>
            <a:spLocks noGrp="1"/>
          </p:cNvSpPr>
          <p:nvPr>
            <p:ph type="ctrTitle"/>
          </p:nvPr>
        </p:nvSpPr>
        <p:spPr>
          <a:xfrm>
            <a:off x="7037845" y="1060456"/>
            <a:ext cx="2927565" cy="3377354"/>
          </a:xfrm>
        </p:spPr>
        <p:txBody>
          <a:bodyPr/>
          <a:lstStyle/>
          <a:p>
            <a:r>
              <a:rPr lang="en-US" b="1" dirty="0"/>
              <a:t>Dodging the Central Dogma of Molecular Biology</a:t>
            </a:r>
            <a:br>
              <a:rPr lang="en-US" b="1" dirty="0"/>
            </a:br>
            <a:endParaRPr lang="fa-IR" dirty="0"/>
          </a:p>
        </p:txBody>
      </p:sp>
    </p:spTree>
    <p:extLst>
      <p:ext uri="{BB962C8B-B14F-4D97-AF65-F5344CB8AC3E}">
        <p14:creationId xmlns:p14="http://schemas.microsoft.com/office/powerpoint/2010/main" val="2687005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7A68-9BF7-9050-7169-A8FEB9204275}"/>
              </a:ext>
            </a:extLst>
          </p:cNvPr>
          <p:cNvSpPr>
            <a:spLocks noGrp="1"/>
          </p:cNvSpPr>
          <p:nvPr>
            <p:ph type="title"/>
          </p:nvPr>
        </p:nvSpPr>
        <p:spPr>
          <a:xfrm>
            <a:off x="934860" y="1100380"/>
            <a:ext cx="7288282" cy="4994328"/>
          </a:xfrm>
        </p:spPr>
        <p:txBody>
          <a:bodyPr>
            <a:noAutofit/>
          </a:bodyPr>
          <a:lstStyle/>
          <a:p>
            <a:r>
              <a:rPr lang="en-US" sz="1600" dirty="0"/>
              <a:t>Hopefully, you are perplexed, because the Central Dogma of Molecular Biology implies that </a:t>
            </a:r>
            <a:r>
              <a:rPr lang="en-US" sz="1600" i="1" dirty="0"/>
              <a:t>all</a:t>
            </a:r>
            <a:r>
              <a:rPr lang="en-US" sz="1600" dirty="0"/>
              <a:t> peptides must be encoded by the genome. Nobel laureate Edward Tatum was just as confused, and in 1963, he devised an ingenious experiment. Protein translation is carried out by a molecular machine called a </a:t>
            </a:r>
            <a:r>
              <a:rPr lang="en-US" sz="1600" b="1" dirty="0"/>
              <a:t>ribosome</a:t>
            </a:r>
            <a:r>
              <a:rPr lang="en-US" sz="1600" dirty="0"/>
              <a:t>, and so Tatum reasoned that if he inhibited the ribosome, all protein production in </a:t>
            </a:r>
            <a:r>
              <a:rPr lang="en-US" sz="1600" i="1" dirty="0"/>
              <a:t>Bacillus brevis</a:t>
            </a:r>
            <a:r>
              <a:rPr lang="en-US" sz="1600" dirty="0"/>
              <a:t> should grind to a halt. To his amazement, all proteins did indeed shut down — except for tyrocidines and </a:t>
            </a:r>
            <a:r>
              <a:rPr lang="en-US" sz="1600" dirty="0" err="1"/>
              <a:t>gramicidins</a:t>
            </a:r>
            <a:r>
              <a:rPr lang="en-US" sz="1600" dirty="0"/>
              <a:t>! His experiment led Tatum to hypothesize that some yet unknown </a:t>
            </a:r>
            <a:r>
              <a:rPr lang="en-US" sz="1600" i="1" dirty="0"/>
              <a:t>non-ribosomal</a:t>
            </a:r>
            <a:r>
              <a:rPr lang="en-US" sz="1600" dirty="0"/>
              <a:t> mechanism must assemble these peptides.</a:t>
            </a:r>
            <a:br>
              <a:rPr lang="fa-IR" sz="1600" dirty="0"/>
            </a:br>
            <a:br>
              <a:rPr lang="en-US" sz="1600" dirty="0"/>
            </a:br>
            <a:r>
              <a:rPr lang="en-US" sz="1600" dirty="0"/>
              <a:t>In 1969, Fritz Lipmann (another Nobel laureate) demonstrated that tyrocidines and </a:t>
            </a:r>
            <a:r>
              <a:rPr lang="en-US" sz="1600" dirty="0" err="1"/>
              <a:t>gramicidins</a:t>
            </a:r>
            <a:r>
              <a:rPr lang="en-US" sz="1600" dirty="0"/>
              <a:t> are </a:t>
            </a:r>
            <a:r>
              <a:rPr lang="en-US" sz="1600" b="1" dirty="0"/>
              <a:t>non-ribosomal peptides</a:t>
            </a:r>
            <a:r>
              <a:rPr lang="en-US" sz="1600" dirty="0"/>
              <a:t> (</a:t>
            </a:r>
            <a:r>
              <a:rPr lang="en-US" sz="1600" b="1" dirty="0"/>
              <a:t>NRPs</a:t>
            </a:r>
            <a:r>
              <a:rPr lang="en-US" sz="1600" dirty="0"/>
              <a:t>), synthesized not by the ribosome, but by a giant protein called </a:t>
            </a:r>
            <a:r>
              <a:rPr lang="en-US" sz="1600" b="1" dirty="0"/>
              <a:t>NRP synthetase</a:t>
            </a:r>
            <a:r>
              <a:rPr lang="en-US" sz="1600" dirty="0"/>
              <a:t>. This enzyme pieces together antibiotic peptides without any reliance on RNA or the genetic code! We now know that every NRP synthetase assembles peptides by growing them one amino acid at a time, as shown in the figure below.</a:t>
            </a:r>
            <a:br>
              <a:rPr lang="en-US" sz="1600" dirty="0"/>
            </a:br>
            <a:endParaRPr lang="fa-IR" sz="1600" dirty="0"/>
          </a:p>
        </p:txBody>
      </p:sp>
      <p:sp>
        <p:nvSpPr>
          <p:cNvPr id="4" name="Slide Number Placeholder 3">
            <a:extLst>
              <a:ext uri="{FF2B5EF4-FFF2-40B4-BE49-F238E27FC236}">
                <a16:creationId xmlns:a16="http://schemas.microsoft.com/office/drawing/2014/main" id="{2F213AC7-08C1-AFE7-BFC0-754C066F4144}"/>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2284652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5B0C-906B-173E-EE63-F1F6232EBBA6}"/>
              </a:ext>
            </a:extLst>
          </p:cNvPr>
          <p:cNvSpPr>
            <a:spLocks noGrp="1"/>
          </p:cNvSpPr>
          <p:nvPr>
            <p:ph type="title"/>
          </p:nvPr>
        </p:nvSpPr>
        <p:spPr>
          <a:xfrm>
            <a:off x="1340630" y="146302"/>
            <a:ext cx="9526496" cy="1560440"/>
          </a:xfrm>
        </p:spPr>
        <p:txBody>
          <a:bodyPr>
            <a:normAutofit/>
          </a:bodyPr>
          <a:lstStyle/>
          <a:p>
            <a:r>
              <a:rPr lang="en-US" sz="1600" dirty="0"/>
              <a:t>NRP synthetase is a giant multi-module protein that assembles a cyclic peptide in steps, one amino acid at a time. Each of ten different modules (shown by different colors) adds a single amino acid to the peptide, which in the figure is one of many tyrocidines produced by </a:t>
            </a:r>
            <a:r>
              <a:rPr lang="en-US" sz="1600" dirty="0" err="1"/>
              <a:t>Bacilus</a:t>
            </a:r>
            <a:r>
              <a:rPr lang="en-US" sz="1600" dirty="0"/>
              <a:t> brevis. In a final step, the peptide is circularized.</a:t>
            </a:r>
            <a:endParaRPr lang="fa-IR" sz="1600" dirty="0"/>
          </a:p>
        </p:txBody>
      </p:sp>
      <p:pic>
        <p:nvPicPr>
          <p:cNvPr id="6" name="Content Placeholder 5">
            <a:extLst>
              <a:ext uri="{FF2B5EF4-FFF2-40B4-BE49-F238E27FC236}">
                <a16:creationId xmlns:a16="http://schemas.microsoft.com/office/drawing/2014/main" id="{91769830-C306-3C39-9047-C7D3EDDF692C}"/>
              </a:ext>
            </a:extLst>
          </p:cNvPr>
          <p:cNvPicPr>
            <a:picLocks noGrp="1" noChangeAspect="1"/>
          </p:cNvPicPr>
          <p:nvPr>
            <p:ph sz="half" idx="2"/>
          </p:nvPr>
        </p:nvPicPr>
        <p:blipFill>
          <a:blip r:embed="rId2"/>
          <a:stretch>
            <a:fillRect/>
          </a:stretch>
        </p:blipFill>
        <p:spPr>
          <a:xfrm>
            <a:off x="185981" y="2309247"/>
            <a:ext cx="9407470" cy="4548753"/>
          </a:xfrm>
        </p:spPr>
      </p:pic>
      <p:sp>
        <p:nvSpPr>
          <p:cNvPr id="4" name="Slide Number Placeholder 3">
            <a:extLst>
              <a:ext uri="{FF2B5EF4-FFF2-40B4-BE49-F238E27FC236}">
                <a16:creationId xmlns:a16="http://schemas.microsoft.com/office/drawing/2014/main" id="{E3D21361-1308-BEF8-77AE-80442580111A}"/>
              </a:ext>
            </a:extLst>
          </p:cNvPr>
          <p:cNvSpPr>
            <a:spLocks noGrp="1"/>
          </p:cNvSpPr>
          <p:nvPr>
            <p:ph type="sldNum" sz="quarter" idx="12"/>
          </p:nvPr>
        </p:nvSpPr>
        <p:spPr/>
        <p:txBody>
          <a:bodyPr/>
          <a:lstStyle/>
          <a:p>
            <a:fld id="{A49DFD55-3C28-40EF-9E31-A92D2E4017FF}" type="slidenum">
              <a:rPr lang="en-US" smtClean="0"/>
              <a:pPr/>
              <a:t>21</a:t>
            </a:fld>
            <a:endParaRPr lang="en-US" dirty="0"/>
          </a:p>
        </p:txBody>
      </p:sp>
      <p:sp>
        <p:nvSpPr>
          <p:cNvPr id="10" name="TextBox 9">
            <a:extLst>
              <a:ext uri="{FF2B5EF4-FFF2-40B4-BE49-F238E27FC236}">
                <a16:creationId xmlns:a16="http://schemas.microsoft.com/office/drawing/2014/main" id="{76F425F0-6026-B0B3-417E-81D980F4393D}"/>
              </a:ext>
            </a:extLst>
          </p:cNvPr>
          <p:cNvSpPr txBox="1"/>
          <p:nvPr/>
        </p:nvSpPr>
        <p:spPr>
          <a:xfrm>
            <a:off x="1322318" y="11857"/>
            <a:ext cx="1751309" cy="584775"/>
          </a:xfrm>
          <a:prstGeom prst="rect">
            <a:avLst/>
          </a:prstGeom>
          <a:noFill/>
        </p:spPr>
        <p:txBody>
          <a:bodyPr wrap="square" rtlCol="1">
            <a:spAutoFit/>
          </a:bodyPr>
          <a:lstStyle/>
          <a:p>
            <a:r>
              <a:rPr lang="en-US" sz="3200" dirty="0"/>
              <a:t>NRPS</a:t>
            </a:r>
            <a:endParaRPr lang="fa-IR" sz="3200" dirty="0"/>
          </a:p>
        </p:txBody>
      </p:sp>
    </p:spTree>
    <p:extLst>
      <p:ext uri="{BB962C8B-B14F-4D97-AF65-F5344CB8AC3E}">
        <p14:creationId xmlns:p14="http://schemas.microsoft.com/office/powerpoint/2010/main" val="3723836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94FA-6184-9A8C-1EF0-59F432A3B844}"/>
              </a:ext>
            </a:extLst>
          </p:cNvPr>
          <p:cNvSpPr>
            <a:spLocks noGrp="1"/>
          </p:cNvSpPr>
          <p:nvPr>
            <p:ph type="ctrTitle"/>
          </p:nvPr>
        </p:nvSpPr>
        <p:spPr>
          <a:xfrm>
            <a:off x="6991350" y="487017"/>
            <a:ext cx="3671484" cy="3635531"/>
          </a:xfrm>
        </p:spPr>
        <p:txBody>
          <a:bodyPr/>
          <a:lstStyle/>
          <a:p>
            <a:r>
              <a:rPr lang="en-US" b="1" dirty="0"/>
              <a:t>Sequencing Antibiotics By Shattering Them Into Pieces</a:t>
            </a:r>
            <a:br>
              <a:rPr lang="en-US" b="1" dirty="0"/>
            </a:br>
            <a:endParaRPr lang="fa-IR" dirty="0"/>
          </a:p>
        </p:txBody>
      </p:sp>
    </p:spTree>
    <p:extLst>
      <p:ext uri="{BB962C8B-B14F-4D97-AF65-F5344CB8AC3E}">
        <p14:creationId xmlns:p14="http://schemas.microsoft.com/office/powerpoint/2010/main" val="4164960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7A3D-BACF-B954-9D56-C62469637657}"/>
              </a:ext>
            </a:extLst>
          </p:cNvPr>
          <p:cNvSpPr>
            <a:spLocks noGrp="1"/>
          </p:cNvSpPr>
          <p:nvPr>
            <p:ph type="title"/>
          </p:nvPr>
        </p:nvSpPr>
        <p:spPr>
          <a:xfrm>
            <a:off x="1322318" y="268361"/>
            <a:ext cx="7914672" cy="1668928"/>
          </a:xfrm>
        </p:spPr>
        <p:txBody>
          <a:bodyPr/>
          <a:lstStyle/>
          <a:p>
            <a:r>
              <a:rPr lang="en-US" b="1" dirty="0"/>
              <a:t>Introduction to mass spectrometry</a:t>
            </a:r>
            <a:br>
              <a:rPr lang="en-US" b="1" dirty="0"/>
            </a:br>
            <a:endParaRPr lang="fa-IR" dirty="0"/>
          </a:p>
        </p:txBody>
      </p:sp>
      <p:sp>
        <p:nvSpPr>
          <p:cNvPr id="3" name="Content Placeholder 2">
            <a:extLst>
              <a:ext uri="{FF2B5EF4-FFF2-40B4-BE49-F238E27FC236}">
                <a16:creationId xmlns:a16="http://schemas.microsoft.com/office/drawing/2014/main" id="{49F209E4-CA51-E533-ED2E-71F388516510}"/>
              </a:ext>
            </a:extLst>
          </p:cNvPr>
          <p:cNvSpPr>
            <a:spLocks noGrp="1"/>
          </p:cNvSpPr>
          <p:nvPr>
            <p:ph sz="half" idx="2"/>
          </p:nvPr>
        </p:nvSpPr>
        <p:spPr/>
        <p:txBody>
          <a:bodyPr/>
          <a:lstStyle/>
          <a:p>
            <a:pPr algn="l"/>
            <a:r>
              <a:rPr lang="en-US" dirty="0"/>
              <a:t>Since NRPs do not adhere to the Central Dogma, we cannot infer them from the genome, which brings us back to where we started. What makes sequencing these peptides even more difficult is that many NRPs (including tyrocidines and </a:t>
            </a:r>
            <a:r>
              <a:rPr lang="en-US" dirty="0" err="1"/>
              <a:t>gramicidins</a:t>
            </a:r>
            <a:r>
              <a:rPr lang="en-US" dirty="0"/>
              <a:t>) are cyclic. Thus, the standard tools for sequencing linear peptides, which we will describe in a follow-up chapter, are not applicable to NRP analysis.</a:t>
            </a:r>
            <a:endParaRPr lang="fa-IR" dirty="0"/>
          </a:p>
        </p:txBody>
      </p:sp>
      <p:sp>
        <p:nvSpPr>
          <p:cNvPr id="4" name="Slide Number Placeholder 3">
            <a:extLst>
              <a:ext uri="{FF2B5EF4-FFF2-40B4-BE49-F238E27FC236}">
                <a16:creationId xmlns:a16="http://schemas.microsoft.com/office/drawing/2014/main" id="{FEB0C5D5-BA08-578E-579C-C3E8A3DB4C25}"/>
              </a:ext>
            </a:extLst>
          </p:cNvPr>
          <p:cNvSpPr>
            <a:spLocks noGrp="1"/>
          </p:cNvSpPr>
          <p:nvPr>
            <p:ph type="sldNum" sz="quarter" idx="12"/>
          </p:nvPr>
        </p:nvSpPr>
        <p:spPr/>
        <p:txBody>
          <a:bodyPr/>
          <a:lstStyle/>
          <a:p>
            <a:fld id="{A49DFD55-3C28-40EF-9E31-A92D2E4017FF}" type="slidenum">
              <a:rPr lang="en-US" smtClean="0"/>
              <a:pPr/>
              <a:t>23</a:t>
            </a:fld>
            <a:endParaRPr lang="en-US" dirty="0"/>
          </a:p>
        </p:txBody>
      </p:sp>
    </p:spTree>
    <p:extLst>
      <p:ext uri="{BB962C8B-B14F-4D97-AF65-F5344CB8AC3E}">
        <p14:creationId xmlns:p14="http://schemas.microsoft.com/office/powerpoint/2010/main" val="1134894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D9E06-2BE9-04BB-4826-76EB57A74F4F}"/>
              </a:ext>
            </a:extLst>
          </p:cNvPr>
          <p:cNvSpPr>
            <a:spLocks noGrp="1"/>
          </p:cNvSpPr>
          <p:nvPr>
            <p:ph type="title"/>
          </p:nvPr>
        </p:nvSpPr>
        <p:spPr>
          <a:xfrm>
            <a:off x="1322317" y="268360"/>
            <a:ext cx="7666699" cy="2494718"/>
          </a:xfrm>
        </p:spPr>
        <p:txBody>
          <a:bodyPr>
            <a:normAutofit/>
          </a:bodyPr>
          <a:lstStyle/>
          <a:p>
            <a:r>
              <a:rPr lang="en-US" sz="1400" dirty="0"/>
              <a:t>The workhorse of peptide sequencing is the </a:t>
            </a:r>
            <a:r>
              <a:rPr lang="en-US" sz="1400" b="1" dirty="0"/>
              <a:t>mass spectrometer</a:t>
            </a:r>
            <a:r>
              <a:rPr lang="en-US" sz="1400" dirty="0"/>
              <a:t>, an expensive molecular scale that shatters molecules into pieces and then weighs the resulting fragments. The mass spectrometer measures the mass of a molecule in </a:t>
            </a:r>
            <a:r>
              <a:rPr lang="en-US" sz="1400" b="1" dirty="0" err="1"/>
              <a:t>daltons</a:t>
            </a:r>
            <a:r>
              <a:rPr lang="en-US" sz="1400" dirty="0"/>
              <a:t> (</a:t>
            </a:r>
            <a:r>
              <a:rPr lang="en-US" sz="1400" b="1" dirty="0"/>
              <a:t>Da</a:t>
            </a:r>
            <a:r>
              <a:rPr lang="en-US" sz="1400" dirty="0"/>
              <a:t>); 1 Da is approximately equal to the mass of a single nuclear particle .</a:t>
            </a:r>
            <a:br>
              <a:rPr lang="en-US" sz="1400" dirty="0"/>
            </a:br>
            <a:r>
              <a:rPr lang="en-US" sz="1400" dirty="0"/>
              <a:t>We will approximate the mass of a molecule by simply adding the number of protons and neutrons found in the molecule’s constituent atoms, which yields the molecule’s </a:t>
            </a:r>
            <a:r>
              <a:rPr lang="en-US" sz="1400" b="1" dirty="0"/>
              <a:t>integer mass</a:t>
            </a:r>
            <a:r>
              <a:rPr lang="en-US" sz="1400" dirty="0"/>
              <a:t>. For example, the amino acid glycine, which has chemical formula C2H3ON, has an integer mass of 57, since 2·12 + 3·1 + 1·16 + 1·14 = 57</a:t>
            </a:r>
            <a:endParaRPr lang="fa-IR" sz="1400" dirty="0"/>
          </a:p>
        </p:txBody>
      </p:sp>
      <p:pic>
        <p:nvPicPr>
          <p:cNvPr id="6" name="Content Placeholder 5">
            <a:extLst>
              <a:ext uri="{FF2B5EF4-FFF2-40B4-BE49-F238E27FC236}">
                <a16:creationId xmlns:a16="http://schemas.microsoft.com/office/drawing/2014/main" id="{C5F00CDF-4689-73DC-D65A-0039E47BC405}"/>
              </a:ext>
            </a:extLst>
          </p:cNvPr>
          <p:cNvPicPr>
            <a:picLocks noGrp="1" noChangeAspect="1"/>
          </p:cNvPicPr>
          <p:nvPr>
            <p:ph sz="half" idx="2"/>
          </p:nvPr>
        </p:nvPicPr>
        <p:blipFill>
          <a:blip r:embed="rId2"/>
          <a:stretch>
            <a:fillRect/>
          </a:stretch>
        </p:blipFill>
        <p:spPr>
          <a:xfrm>
            <a:off x="1322317" y="5644753"/>
            <a:ext cx="6919695" cy="477458"/>
          </a:xfrm>
        </p:spPr>
      </p:pic>
      <p:sp>
        <p:nvSpPr>
          <p:cNvPr id="4" name="Slide Number Placeholder 3">
            <a:extLst>
              <a:ext uri="{FF2B5EF4-FFF2-40B4-BE49-F238E27FC236}">
                <a16:creationId xmlns:a16="http://schemas.microsoft.com/office/drawing/2014/main" id="{49737B47-99A4-55F4-340C-8D35F73D548E}"/>
              </a:ext>
            </a:extLst>
          </p:cNvPr>
          <p:cNvSpPr>
            <a:spLocks noGrp="1"/>
          </p:cNvSpPr>
          <p:nvPr>
            <p:ph type="sldNum" sz="quarter" idx="12"/>
          </p:nvPr>
        </p:nvSpPr>
        <p:spPr/>
        <p:txBody>
          <a:bodyPr/>
          <a:lstStyle/>
          <a:p>
            <a:fld id="{A49DFD55-3C28-40EF-9E31-A92D2E4017FF}" type="slidenum">
              <a:rPr lang="en-US" smtClean="0"/>
              <a:pPr/>
              <a:t>24</a:t>
            </a:fld>
            <a:endParaRPr lang="en-US" dirty="0"/>
          </a:p>
        </p:txBody>
      </p:sp>
      <p:sp>
        <p:nvSpPr>
          <p:cNvPr id="7" name="TextBox 6">
            <a:extLst>
              <a:ext uri="{FF2B5EF4-FFF2-40B4-BE49-F238E27FC236}">
                <a16:creationId xmlns:a16="http://schemas.microsoft.com/office/drawing/2014/main" id="{79B5E91C-9166-DCC8-20F5-7C255C363171}"/>
              </a:ext>
            </a:extLst>
          </p:cNvPr>
          <p:cNvSpPr txBox="1"/>
          <p:nvPr/>
        </p:nvSpPr>
        <p:spPr>
          <a:xfrm>
            <a:off x="1322317" y="4519945"/>
            <a:ext cx="6919695" cy="923330"/>
          </a:xfrm>
          <a:prstGeom prst="rect">
            <a:avLst/>
          </a:prstGeom>
          <a:noFill/>
        </p:spPr>
        <p:txBody>
          <a:bodyPr wrap="square" rtlCol="1">
            <a:spAutoFit/>
          </a:bodyPr>
          <a:lstStyle/>
          <a:p>
            <a:r>
              <a:rPr lang="en-US" dirty="0"/>
              <a:t>Tyrocidine B1, which is represented by VKLFPWFNQY, has total mass 1322 Da </a:t>
            </a:r>
          </a:p>
          <a:p>
            <a:r>
              <a:rPr lang="en-US" dirty="0"/>
              <a:t>(99 + 128 + 113 + 147 + 97 + 186 + 147 + 114 + 128 + 163 = 1322).</a:t>
            </a:r>
            <a:endParaRPr lang="fa-IR" dirty="0"/>
          </a:p>
        </p:txBody>
      </p:sp>
    </p:spTree>
    <p:extLst>
      <p:ext uri="{BB962C8B-B14F-4D97-AF65-F5344CB8AC3E}">
        <p14:creationId xmlns:p14="http://schemas.microsoft.com/office/powerpoint/2010/main" val="3399007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D87BA-5572-6DD4-3598-108462DABDB8}"/>
              </a:ext>
            </a:extLst>
          </p:cNvPr>
          <p:cNvSpPr>
            <a:spLocks noGrp="1"/>
          </p:cNvSpPr>
          <p:nvPr>
            <p:ph type="ctrTitle"/>
          </p:nvPr>
        </p:nvSpPr>
        <p:spPr>
          <a:xfrm>
            <a:off x="4267200" y="902814"/>
            <a:ext cx="4179570" cy="1524735"/>
          </a:xfrm>
        </p:spPr>
        <p:txBody>
          <a:bodyPr/>
          <a:lstStyle/>
          <a:p>
            <a:r>
              <a:rPr lang="en-US" dirty="0"/>
              <a:t>Mass spectrometer performance</a:t>
            </a:r>
            <a:endParaRPr lang="fa-IR" dirty="0"/>
          </a:p>
        </p:txBody>
      </p:sp>
      <p:sp>
        <p:nvSpPr>
          <p:cNvPr id="3" name="Subtitle 2">
            <a:extLst>
              <a:ext uri="{FF2B5EF4-FFF2-40B4-BE49-F238E27FC236}">
                <a16:creationId xmlns:a16="http://schemas.microsoft.com/office/drawing/2014/main" id="{C87B1D37-964A-B5E5-5736-536F0F11FC8D}"/>
              </a:ext>
            </a:extLst>
          </p:cNvPr>
          <p:cNvSpPr>
            <a:spLocks noGrp="1"/>
          </p:cNvSpPr>
          <p:nvPr>
            <p:ph type="subTitle" idx="1"/>
          </p:nvPr>
        </p:nvSpPr>
        <p:spPr>
          <a:xfrm>
            <a:off x="4267200" y="3238103"/>
            <a:ext cx="7294536" cy="2850181"/>
          </a:xfrm>
        </p:spPr>
        <p:txBody>
          <a:bodyPr>
            <a:noAutofit/>
          </a:bodyPr>
          <a:lstStyle/>
          <a:p>
            <a:r>
              <a:rPr lang="en-US" sz="1600" dirty="0"/>
              <a:t>The mass spectrometer can break each molecule of Tyrocidine B1 into two linear fragments, and it analyzes samples that may contain billions of identical copies of the peptide, with each copy breaking in its own way. One copy may break into LFP and WFNQYVK (with respective masses 357 and 965), whereas another may break into PWFN and QYVKLF. Our goal is to use the masses of these and other fragments to sequence the peptide. The collection of all the fragment masses generated by the mass spectrometer is called an </a:t>
            </a:r>
            <a:r>
              <a:rPr lang="en-US" sz="1600" b="1" dirty="0"/>
              <a:t>experimental spectrum</a:t>
            </a:r>
            <a:r>
              <a:rPr lang="en-US" sz="1600" dirty="0"/>
              <a:t>.</a:t>
            </a:r>
            <a:endParaRPr lang="fa-IR" sz="1600" dirty="0"/>
          </a:p>
        </p:txBody>
      </p:sp>
      <p:sp>
        <p:nvSpPr>
          <p:cNvPr id="4" name="Slide Number Placeholder 3">
            <a:extLst>
              <a:ext uri="{FF2B5EF4-FFF2-40B4-BE49-F238E27FC236}">
                <a16:creationId xmlns:a16="http://schemas.microsoft.com/office/drawing/2014/main" id="{33AF370D-DCC0-2FA1-B3F5-99E3ED622555}"/>
              </a:ext>
            </a:extLst>
          </p:cNvPr>
          <p:cNvSpPr>
            <a:spLocks noGrp="1"/>
          </p:cNvSpPr>
          <p:nvPr>
            <p:ph type="sldNum" sz="quarter" idx="12"/>
          </p:nvPr>
        </p:nvSpPr>
        <p:spPr/>
        <p:txBody>
          <a:bodyPr/>
          <a:lstStyle/>
          <a:p>
            <a:fld id="{A49DFD55-3C28-40EF-9E31-A92D2E4017FF}" type="slidenum">
              <a:rPr lang="en-US" smtClean="0"/>
              <a:pPr/>
              <a:t>25</a:t>
            </a:fld>
            <a:endParaRPr lang="en-US" dirty="0"/>
          </a:p>
        </p:txBody>
      </p:sp>
    </p:spTree>
    <p:extLst>
      <p:ext uri="{BB962C8B-B14F-4D97-AF65-F5344CB8AC3E}">
        <p14:creationId xmlns:p14="http://schemas.microsoft.com/office/powerpoint/2010/main" val="4112756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AC262-4809-C1AB-C06E-6B89B6DC6841}"/>
              </a:ext>
            </a:extLst>
          </p:cNvPr>
          <p:cNvSpPr>
            <a:spLocks noGrp="1"/>
          </p:cNvSpPr>
          <p:nvPr>
            <p:ph type="title"/>
          </p:nvPr>
        </p:nvSpPr>
        <p:spPr>
          <a:xfrm>
            <a:off x="1322318" y="268361"/>
            <a:ext cx="7288282" cy="1265972"/>
          </a:xfrm>
        </p:spPr>
        <p:txBody>
          <a:bodyPr/>
          <a:lstStyle/>
          <a:p>
            <a:r>
              <a:rPr lang="en-US" dirty="0"/>
              <a:t>How can we use the experimental spectrum to sequence a peptide?</a:t>
            </a:r>
            <a:endParaRPr lang="fa-IR" dirty="0"/>
          </a:p>
        </p:txBody>
      </p:sp>
      <p:sp>
        <p:nvSpPr>
          <p:cNvPr id="3" name="Content Placeholder 2">
            <a:extLst>
              <a:ext uri="{FF2B5EF4-FFF2-40B4-BE49-F238E27FC236}">
                <a16:creationId xmlns:a16="http://schemas.microsoft.com/office/drawing/2014/main" id="{75217AAB-9895-4826-2950-6768913C6910}"/>
              </a:ext>
            </a:extLst>
          </p:cNvPr>
          <p:cNvSpPr>
            <a:spLocks noGrp="1"/>
          </p:cNvSpPr>
          <p:nvPr>
            <p:ph sz="half" idx="2"/>
          </p:nvPr>
        </p:nvSpPr>
        <p:spPr/>
        <p:txBody>
          <a:bodyPr/>
          <a:lstStyle/>
          <a:p>
            <a:pPr algn="l"/>
            <a:r>
              <a:rPr lang="en-US" dirty="0"/>
              <a:t>For now, we will assume for simplicity that the mass spectrometer breaks the copies of a cyclic peptide at every possible two bonds, so that the resulting experimental spectrum contains the masses of all possible linear fragments of the peptide, which are called </a:t>
            </a:r>
            <a:r>
              <a:rPr lang="en-US" dirty="0" err="1"/>
              <a:t>subpeptides</a:t>
            </a:r>
            <a:r>
              <a:rPr lang="en-US" dirty="0"/>
              <a:t>. For example, the cyclic peptide NQEL has 12 </a:t>
            </a:r>
            <a:r>
              <a:rPr lang="en-US" dirty="0" err="1"/>
              <a:t>subpeptides</a:t>
            </a:r>
            <a:r>
              <a:rPr lang="en-US" dirty="0"/>
              <a:t>: N, Q, E, L, NQ, QE, EL, LN, NQE, QEL, ELN, and LNQ.</a:t>
            </a:r>
            <a:endParaRPr lang="fa-IR" dirty="0"/>
          </a:p>
        </p:txBody>
      </p:sp>
      <p:sp>
        <p:nvSpPr>
          <p:cNvPr id="4" name="Slide Number Placeholder 3">
            <a:extLst>
              <a:ext uri="{FF2B5EF4-FFF2-40B4-BE49-F238E27FC236}">
                <a16:creationId xmlns:a16="http://schemas.microsoft.com/office/drawing/2014/main" id="{64F655BD-A076-C118-C209-F6400666538A}"/>
              </a:ext>
            </a:extLst>
          </p:cNvPr>
          <p:cNvSpPr>
            <a:spLocks noGrp="1"/>
          </p:cNvSpPr>
          <p:nvPr>
            <p:ph type="sldNum" sz="quarter" idx="12"/>
          </p:nvPr>
        </p:nvSpPr>
        <p:spPr/>
        <p:txBody>
          <a:bodyPr/>
          <a:lstStyle/>
          <a:p>
            <a:fld id="{A49DFD55-3C28-40EF-9E31-A92D2E4017FF}" type="slidenum">
              <a:rPr lang="en-US" smtClean="0"/>
              <a:pPr/>
              <a:t>26</a:t>
            </a:fld>
            <a:endParaRPr lang="en-US" dirty="0"/>
          </a:p>
        </p:txBody>
      </p:sp>
    </p:spTree>
    <p:extLst>
      <p:ext uri="{BB962C8B-B14F-4D97-AF65-F5344CB8AC3E}">
        <p14:creationId xmlns:p14="http://schemas.microsoft.com/office/powerpoint/2010/main" val="3388898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43802-1DD5-3BBF-63B9-96D23E06511B}"/>
              </a:ext>
            </a:extLst>
          </p:cNvPr>
          <p:cNvSpPr>
            <a:spLocks noGrp="1"/>
          </p:cNvSpPr>
          <p:nvPr>
            <p:ph type="title"/>
          </p:nvPr>
        </p:nvSpPr>
        <p:spPr>
          <a:xfrm>
            <a:off x="1322388" y="755341"/>
            <a:ext cx="8162645" cy="3407051"/>
          </a:xfrm>
        </p:spPr>
        <p:txBody>
          <a:bodyPr>
            <a:noAutofit/>
          </a:bodyPr>
          <a:lstStyle/>
          <a:p>
            <a:r>
              <a:rPr lang="en-US" sz="2400" dirty="0"/>
              <a:t>The </a:t>
            </a:r>
            <a:r>
              <a:rPr lang="en-US" sz="2400" b="1" dirty="0"/>
              <a:t>theoretical spectrum</a:t>
            </a:r>
            <a:r>
              <a:rPr lang="en-US" sz="2400" dirty="0"/>
              <a:t> of a cyclic peptide </a:t>
            </a:r>
            <a:r>
              <a:rPr lang="en-US" sz="2400" i="1" dirty="0" err="1"/>
              <a:t>Peptide</a:t>
            </a:r>
            <a:r>
              <a:rPr lang="en-US" sz="2400" dirty="0"/>
              <a:t>, denoted </a:t>
            </a:r>
            <a:r>
              <a:rPr lang="en-US" sz="2400" i="1" dirty="0" err="1"/>
              <a:t>Cyclospectrum</a:t>
            </a:r>
            <a:r>
              <a:rPr lang="en-US" sz="2400" dirty="0"/>
              <a:t>(</a:t>
            </a:r>
            <a:r>
              <a:rPr lang="en-US" sz="2400" i="1" dirty="0"/>
              <a:t>Peptide</a:t>
            </a:r>
            <a:r>
              <a:rPr lang="en-US" sz="2400" dirty="0"/>
              <a:t>), is the collection of all of the masses of its </a:t>
            </a:r>
            <a:r>
              <a:rPr lang="en-US" sz="2400" dirty="0" err="1"/>
              <a:t>subpeptides</a:t>
            </a:r>
            <a:r>
              <a:rPr lang="en-US" sz="2400" dirty="0"/>
              <a:t>, in addition to the mass 0 and the mass of the entire peptide, with masses ordered from smallest to largest. We will assume that the theoretical spectrum can contain duplicate elements, as is the case for NQEL (shown below), where </a:t>
            </a:r>
            <a:r>
              <a:rPr lang="en-US" sz="2400" b="1" dirty="0"/>
              <a:t>NQ</a:t>
            </a:r>
            <a:r>
              <a:rPr lang="en-US" sz="2400" dirty="0"/>
              <a:t> and </a:t>
            </a:r>
            <a:r>
              <a:rPr lang="en-US" sz="2400" b="1" dirty="0"/>
              <a:t>EL</a:t>
            </a:r>
            <a:r>
              <a:rPr lang="en-US" sz="2400" dirty="0"/>
              <a:t> have the same mass.</a:t>
            </a:r>
            <a:endParaRPr lang="fa-IR" sz="2400" dirty="0"/>
          </a:p>
        </p:txBody>
      </p:sp>
      <p:pic>
        <p:nvPicPr>
          <p:cNvPr id="6" name="Content Placeholder 5">
            <a:extLst>
              <a:ext uri="{FF2B5EF4-FFF2-40B4-BE49-F238E27FC236}">
                <a16:creationId xmlns:a16="http://schemas.microsoft.com/office/drawing/2014/main" id="{685FE508-DA41-29C4-C862-34CB0692BE45}"/>
              </a:ext>
            </a:extLst>
          </p:cNvPr>
          <p:cNvPicPr>
            <a:picLocks noGrp="1" noChangeAspect="1"/>
          </p:cNvPicPr>
          <p:nvPr>
            <p:ph sz="half" idx="2"/>
          </p:nvPr>
        </p:nvPicPr>
        <p:blipFill>
          <a:blip r:embed="rId2"/>
          <a:stretch>
            <a:fillRect/>
          </a:stretch>
        </p:blipFill>
        <p:spPr>
          <a:xfrm>
            <a:off x="1322388" y="5532895"/>
            <a:ext cx="7304681" cy="569764"/>
          </a:xfrm>
        </p:spPr>
      </p:pic>
      <p:sp>
        <p:nvSpPr>
          <p:cNvPr id="4" name="Slide Number Placeholder 3">
            <a:extLst>
              <a:ext uri="{FF2B5EF4-FFF2-40B4-BE49-F238E27FC236}">
                <a16:creationId xmlns:a16="http://schemas.microsoft.com/office/drawing/2014/main" id="{0DBF80AA-F1D5-5350-B77F-FA36F28867C5}"/>
              </a:ext>
            </a:extLst>
          </p:cNvPr>
          <p:cNvSpPr>
            <a:spLocks noGrp="1"/>
          </p:cNvSpPr>
          <p:nvPr>
            <p:ph type="sldNum" sz="quarter" idx="12"/>
          </p:nvPr>
        </p:nvSpPr>
        <p:spPr/>
        <p:txBody>
          <a:bodyPr/>
          <a:lstStyle/>
          <a:p>
            <a:fld id="{A49DFD55-3C28-40EF-9E31-A92D2E4017FF}" type="slidenum">
              <a:rPr lang="en-US" smtClean="0"/>
              <a:pPr/>
              <a:t>27</a:t>
            </a:fld>
            <a:endParaRPr lang="en-US" dirty="0"/>
          </a:p>
        </p:txBody>
      </p:sp>
    </p:spTree>
    <p:extLst>
      <p:ext uri="{BB962C8B-B14F-4D97-AF65-F5344CB8AC3E}">
        <p14:creationId xmlns:p14="http://schemas.microsoft.com/office/powerpoint/2010/main" val="3931037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0856-7D55-B091-7985-F272BB8815E3}"/>
              </a:ext>
            </a:extLst>
          </p:cNvPr>
          <p:cNvSpPr>
            <a:spLocks noGrp="1"/>
          </p:cNvSpPr>
          <p:nvPr>
            <p:ph type="ctrTitle"/>
          </p:nvPr>
        </p:nvSpPr>
        <p:spPr/>
        <p:txBody>
          <a:bodyPr/>
          <a:lstStyle/>
          <a:p>
            <a:r>
              <a:rPr lang="en-US" dirty="0"/>
              <a:t>algorithms</a:t>
            </a:r>
            <a:endParaRPr lang="fa-IR" dirty="0"/>
          </a:p>
        </p:txBody>
      </p:sp>
    </p:spTree>
    <p:extLst>
      <p:ext uri="{BB962C8B-B14F-4D97-AF65-F5344CB8AC3E}">
        <p14:creationId xmlns:p14="http://schemas.microsoft.com/office/powerpoint/2010/main" val="4038215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F1AC-0B85-80F8-0641-9378A987A73B}"/>
              </a:ext>
            </a:extLst>
          </p:cNvPr>
          <p:cNvSpPr>
            <a:spLocks noGrp="1"/>
          </p:cNvSpPr>
          <p:nvPr>
            <p:ph type="title"/>
          </p:nvPr>
        </p:nvSpPr>
        <p:spPr>
          <a:xfrm>
            <a:off x="1322318" y="268360"/>
            <a:ext cx="7288282" cy="1513945"/>
          </a:xfrm>
        </p:spPr>
        <p:txBody>
          <a:bodyPr/>
          <a:lstStyle/>
          <a:p>
            <a:r>
              <a:rPr lang="en-US" dirty="0"/>
              <a:t>A Brute Force Algorithm for Cyclopeptide Sequencing</a:t>
            </a:r>
            <a:br>
              <a:rPr lang="en-US" dirty="0"/>
            </a:br>
            <a:endParaRPr lang="fa-IR" dirty="0"/>
          </a:p>
        </p:txBody>
      </p:sp>
      <p:sp>
        <p:nvSpPr>
          <p:cNvPr id="3" name="Content Placeholder 2">
            <a:extLst>
              <a:ext uri="{FF2B5EF4-FFF2-40B4-BE49-F238E27FC236}">
                <a16:creationId xmlns:a16="http://schemas.microsoft.com/office/drawing/2014/main" id="{786FFE07-9AFB-1718-5C25-6D6A42F0F970}"/>
              </a:ext>
            </a:extLst>
          </p:cNvPr>
          <p:cNvSpPr>
            <a:spLocks noGrp="1"/>
          </p:cNvSpPr>
          <p:nvPr>
            <p:ph sz="half" idx="2"/>
          </p:nvPr>
        </p:nvSpPr>
        <p:spPr/>
        <p:txBody>
          <a:bodyPr/>
          <a:lstStyle/>
          <a:p>
            <a:pPr algn="l"/>
            <a:r>
              <a:rPr lang="en-US" dirty="0"/>
              <a:t>Let’s design a straightforward brute force algorithm for the Cyclopeptide Sequencing Problem. We denote the total mass of an amino acid string Peptide as Mass(Peptide). In mass spectrometry experiments, whereas the peptide that generated Spectrum is unknown, Mass(Peptide) can be inferred from ﻿Spectrum and is denoted </a:t>
            </a:r>
            <a:r>
              <a:rPr lang="en-US" dirty="0" err="1"/>
              <a:t>ParentMass</a:t>
            </a:r>
            <a:r>
              <a:rPr lang="en-US" dirty="0"/>
              <a:t>(Spectrum). For the sake of simplicity, we will assume that for all experimental spectra, </a:t>
            </a:r>
            <a:r>
              <a:rPr lang="en-US" dirty="0" err="1"/>
              <a:t>ParentMass</a:t>
            </a:r>
            <a:r>
              <a:rPr lang="en-US" dirty="0"/>
              <a:t>(Spectrum) is equal to the largest mass in Spectrum.</a:t>
            </a:r>
            <a:endParaRPr lang="fa-IR" dirty="0"/>
          </a:p>
        </p:txBody>
      </p:sp>
      <p:sp>
        <p:nvSpPr>
          <p:cNvPr id="4" name="Slide Number Placeholder 3">
            <a:extLst>
              <a:ext uri="{FF2B5EF4-FFF2-40B4-BE49-F238E27FC236}">
                <a16:creationId xmlns:a16="http://schemas.microsoft.com/office/drawing/2014/main" id="{C607CF25-55C6-C1D6-054A-FD08649FD78F}"/>
              </a:ext>
            </a:extLst>
          </p:cNvPr>
          <p:cNvSpPr>
            <a:spLocks noGrp="1"/>
          </p:cNvSpPr>
          <p:nvPr>
            <p:ph type="sldNum" sz="quarter" idx="12"/>
          </p:nvPr>
        </p:nvSpPr>
        <p:spPr/>
        <p:txBody>
          <a:bodyPr/>
          <a:lstStyle/>
          <a:p>
            <a:fld id="{A49DFD55-3C28-40EF-9E31-A92D2E4017FF}" type="slidenum">
              <a:rPr lang="en-US" smtClean="0"/>
              <a:pPr/>
              <a:t>29</a:t>
            </a:fld>
            <a:endParaRPr lang="en-US" dirty="0"/>
          </a:p>
        </p:txBody>
      </p:sp>
    </p:spTree>
    <p:extLst>
      <p:ext uri="{BB962C8B-B14F-4D97-AF65-F5344CB8AC3E}">
        <p14:creationId xmlns:p14="http://schemas.microsoft.com/office/powerpoint/2010/main" val="3144702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81F80-5CF9-E9A6-1AFC-7285818AAC0F}"/>
              </a:ext>
            </a:extLst>
          </p:cNvPr>
          <p:cNvSpPr>
            <a:spLocks noGrp="1"/>
          </p:cNvSpPr>
          <p:nvPr>
            <p:ph type="title"/>
          </p:nvPr>
        </p:nvSpPr>
        <p:spPr>
          <a:xfrm>
            <a:off x="1322318" y="268361"/>
            <a:ext cx="7288282" cy="1064494"/>
          </a:xfrm>
        </p:spPr>
        <p:txBody>
          <a:bodyPr/>
          <a:lstStyle/>
          <a:p>
            <a:r>
              <a:rPr lang="en-US" dirty="0"/>
              <a:t>The brute force cyclopeptide sequencing algorithm </a:t>
            </a:r>
            <a:endParaRPr lang="fa-IR" dirty="0"/>
          </a:p>
        </p:txBody>
      </p:sp>
      <p:sp>
        <p:nvSpPr>
          <p:cNvPr id="3" name="Content Placeholder 2">
            <a:extLst>
              <a:ext uri="{FF2B5EF4-FFF2-40B4-BE49-F238E27FC236}">
                <a16:creationId xmlns:a16="http://schemas.microsoft.com/office/drawing/2014/main" id="{815C5AD6-7388-48D4-2F35-41AE21C387FA}"/>
              </a:ext>
            </a:extLst>
          </p:cNvPr>
          <p:cNvSpPr>
            <a:spLocks noGrp="1"/>
          </p:cNvSpPr>
          <p:nvPr>
            <p:ph sz="half" idx="2"/>
          </p:nvPr>
        </p:nvSpPr>
        <p:spPr/>
        <p:txBody>
          <a:bodyPr/>
          <a:lstStyle/>
          <a:p>
            <a:pPr algn="l"/>
            <a:r>
              <a:rPr lang="en-US" dirty="0" err="1"/>
              <a:t>BFCyclopeptideSequencing</a:t>
            </a:r>
            <a:r>
              <a:rPr lang="en-US" dirty="0"/>
              <a:t> generates all possible peptides whose mass is equal to </a:t>
            </a:r>
            <a:r>
              <a:rPr lang="en-US" dirty="0" err="1"/>
              <a:t>ParentMass</a:t>
            </a:r>
            <a:r>
              <a:rPr lang="en-US" dirty="0"/>
              <a:t>(Spectrum) and then checks which of these peptides has theoretical spectra matching Spectrum.</a:t>
            </a:r>
          </a:p>
          <a:p>
            <a:pPr algn="l"/>
            <a:endParaRPr lang="en-US" dirty="0"/>
          </a:p>
          <a:p>
            <a:pPr algn="l"/>
            <a:r>
              <a:rPr lang="en-US" dirty="0" err="1"/>
              <a:t>BFCyclopeptideSequencing</a:t>
            </a:r>
            <a:r>
              <a:rPr lang="en-US" dirty="0"/>
              <a:t>(Spectrum) </a:t>
            </a:r>
          </a:p>
          <a:p>
            <a:pPr algn="l"/>
            <a:r>
              <a:rPr lang="en-US" dirty="0"/>
              <a:t>  for every peptide with Mass(Peptide) equal to </a:t>
            </a:r>
            <a:r>
              <a:rPr lang="en-US" dirty="0" err="1"/>
              <a:t>ParentMass</a:t>
            </a:r>
            <a:r>
              <a:rPr lang="en-US" dirty="0"/>
              <a:t>(Spectrum) </a:t>
            </a:r>
          </a:p>
          <a:p>
            <a:pPr algn="l"/>
            <a:r>
              <a:rPr lang="en-US" dirty="0"/>
              <a:t>    if Spectrum = </a:t>
            </a:r>
            <a:r>
              <a:rPr lang="en-US" dirty="0" err="1"/>
              <a:t>Cyclospectrum</a:t>
            </a:r>
            <a:r>
              <a:rPr lang="en-US" dirty="0"/>
              <a:t>(Peptide) </a:t>
            </a:r>
          </a:p>
          <a:p>
            <a:pPr algn="l"/>
            <a:r>
              <a:rPr lang="en-US" dirty="0"/>
              <a:t>      output Peptide</a:t>
            </a:r>
            <a:endParaRPr lang="fa-IR" dirty="0"/>
          </a:p>
        </p:txBody>
      </p:sp>
      <p:sp>
        <p:nvSpPr>
          <p:cNvPr id="4" name="Slide Number Placeholder 3">
            <a:extLst>
              <a:ext uri="{FF2B5EF4-FFF2-40B4-BE49-F238E27FC236}">
                <a16:creationId xmlns:a16="http://schemas.microsoft.com/office/drawing/2014/main" id="{89178316-6DD1-578A-9FB9-7290D5FF1937}"/>
              </a:ext>
            </a:extLst>
          </p:cNvPr>
          <p:cNvSpPr>
            <a:spLocks noGrp="1"/>
          </p:cNvSpPr>
          <p:nvPr>
            <p:ph type="sldNum" sz="quarter" idx="12"/>
          </p:nvPr>
        </p:nvSpPr>
        <p:spPr/>
        <p:txBody>
          <a:bodyPr/>
          <a:lstStyle/>
          <a:p>
            <a:fld id="{A49DFD55-3C28-40EF-9E31-A92D2E4017FF}" type="slidenum">
              <a:rPr lang="en-US" smtClean="0"/>
              <a:pPr/>
              <a:t>30</a:t>
            </a:fld>
            <a:endParaRPr lang="en-US" dirty="0"/>
          </a:p>
        </p:txBody>
      </p:sp>
    </p:spTree>
    <p:extLst>
      <p:ext uri="{BB962C8B-B14F-4D97-AF65-F5344CB8AC3E}">
        <p14:creationId xmlns:p14="http://schemas.microsoft.com/office/powerpoint/2010/main" val="1647443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679F-7CA7-CFB2-F346-E73F2F13C1B4}"/>
              </a:ext>
            </a:extLst>
          </p:cNvPr>
          <p:cNvSpPr>
            <a:spLocks noGrp="1"/>
          </p:cNvSpPr>
          <p:nvPr>
            <p:ph type="ctrTitle"/>
          </p:nvPr>
        </p:nvSpPr>
        <p:spPr>
          <a:xfrm>
            <a:off x="6096000" y="406400"/>
            <a:ext cx="6096000" cy="3457971"/>
          </a:xfrm>
        </p:spPr>
        <p:txBody>
          <a:bodyPr/>
          <a:lstStyle/>
          <a:p>
            <a:r>
              <a:rPr lang="en-US" sz="2400" dirty="0"/>
              <a:t>Counting Peptides with Given Mass Problem: Compute the number of peptides of given mass.</a:t>
            </a:r>
            <a:br>
              <a:rPr lang="en-US" sz="2400" dirty="0"/>
            </a:br>
            <a:br>
              <a:rPr lang="en-US" sz="2400" dirty="0"/>
            </a:br>
            <a:r>
              <a:rPr lang="en-US" sz="2400" dirty="0"/>
              <a:t>Input: An integer m.</a:t>
            </a:r>
            <a:br>
              <a:rPr lang="en-US" sz="2400" dirty="0"/>
            </a:br>
            <a:r>
              <a:rPr lang="en-US" sz="2400" dirty="0"/>
              <a:t>Output: The number of linear peptides having integer mass m.</a:t>
            </a:r>
            <a:endParaRPr lang="fa-IR" sz="2400" dirty="0"/>
          </a:p>
        </p:txBody>
      </p:sp>
    </p:spTree>
    <p:extLst>
      <p:ext uri="{BB962C8B-B14F-4D97-AF65-F5344CB8AC3E}">
        <p14:creationId xmlns:p14="http://schemas.microsoft.com/office/powerpoint/2010/main" val="310030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72974-3AFB-6064-C0DB-053E39B88C8B}"/>
              </a:ext>
            </a:extLst>
          </p:cNvPr>
          <p:cNvSpPr>
            <a:spLocks noGrp="1"/>
          </p:cNvSpPr>
          <p:nvPr>
            <p:ph type="title"/>
          </p:nvPr>
        </p:nvSpPr>
        <p:spPr>
          <a:xfrm>
            <a:off x="1322318" y="268361"/>
            <a:ext cx="7288282" cy="1451952"/>
          </a:xfrm>
        </p:spPr>
        <p:txBody>
          <a:bodyPr/>
          <a:lstStyle/>
          <a:p>
            <a:r>
              <a:rPr lang="en-US" dirty="0"/>
              <a:t>Branch-and-Bound Algorithm for Cyclopeptide Sequencing</a:t>
            </a:r>
            <a:br>
              <a:rPr lang="en-US" dirty="0"/>
            </a:br>
            <a:endParaRPr lang="fa-IR" dirty="0"/>
          </a:p>
        </p:txBody>
      </p:sp>
      <p:sp>
        <p:nvSpPr>
          <p:cNvPr id="3" name="Content Placeholder 2">
            <a:extLst>
              <a:ext uri="{FF2B5EF4-FFF2-40B4-BE49-F238E27FC236}">
                <a16:creationId xmlns:a16="http://schemas.microsoft.com/office/drawing/2014/main" id="{89A2D0AB-5B10-7797-8C7B-D62CBFF209ED}"/>
              </a:ext>
            </a:extLst>
          </p:cNvPr>
          <p:cNvSpPr>
            <a:spLocks noGrp="1"/>
          </p:cNvSpPr>
          <p:nvPr>
            <p:ph sz="half" idx="2"/>
          </p:nvPr>
        </p:nvSpPr>
        <p:spPr>
          <a:xfrm>
            <a:off x="1322388" y="2131522"/>
            <a:ext cx="7288212" cy="1297478"/>
          </a:xfrm>
        </p:spPr>
        <p:txBody>
          <a:bodyPr/>
          <a:lstStyle/>
          <a:p>
            <a:pPr algn="l"/>
            <a:r>
              <a:rPr lang="en-US" dirty="0"/>
              <a:t>Instead of checking all cyclic peptides with a given mass, our new approach to solving the Cyclopeptide Sequencing Problem will "grow" candidate linear peptides whose theoretical spectra are “consistent” with the experimental spectrum.</a:t>
            </a:r>
            <a:endParaRPr lang="fa-IR" dirty="0"/>
          </a:p>
        </p:txBody>
      </p:sp>
      <p:sp>
        <p:nvSpPr>
          <p:cNvPr id="4" name="Slide Number Placeholder 3">
            <a:extLst>
              <a:ext uri="{FF2B5EF4-FFF2-40B4-BE49-F238E27FC236}">
                <a16:creationId xmlns:a16="http://schemas.microsoft.com/office/drawing/2014/main" id="{E845DBCD-1471-CF51-8AA9-6C00C8FCDEF8}"/>
              </a:ext>
            </a:extLst>
          </p:cNvPr>
          <p:cNvSpPr>
            <a:spLocks noGrp="1"/>
          </p:cNvSpPr>
          <p:nvPr>
            <p:ph type="sldNum" sz="quarter" idx="12"/>
          </p:nvPr>
        </p:nvSpPr>
        <p:spPr/>
        <p:txBody>
          <a:bodyPr/>
          <a:lstStyle/>
          <a:p>
            <a:fld id="{A49DFD55-3C28-40EF-9E31-A92D2E4017FF}" type="slidenum">
              <a:rPr lang="en-US" smtClean="0"/>
              <a:pPr/>
              <a:t>32</a:t>
            </a:fld>
            <a:endParaRPr lang="en-US" dirty="0"/>
          </a:p>
        </p:txBody>
      </p:sp>
      <p:sp>
        <p:nvSpPr>
          <p:cNvPr id="5" name="TextBox 4">
            <a:extLst>
              <a:ext uri="{FF2B5EF4-FFF2-40B4-BE49-F238E27FC236}">
                <a16:creationId xmlns:a16="http://schemas.microsoft.com/office/drawing/2014/main" id="{71B2E39B-6331-095D-21CF-A2AD9E415239}"/>
              </a:ext>
            </a:extLst>
          </p:cNvPr>
          <p:cNvSpPr txBox="1"/>
          <p:nvPr/>
        </p:nvSpPr>
        <p:spPr>
          <a:xfrm>
            <a:off x="1322318" y="3441680"/>
            <a:ext cx="5331417" cy="3416320"/>
          </a:xfrm>
          <a:prstGeom prst="rect">
            <a:avLst/>
          </a:prstGeom>
          <a:noFill/>
        </p:spPr>
        <p:txBody>
          <a:bodyPr wrap="square" rtlCol="1">
            <a:spAutoFit/>
          </a:bodyPr>
          <a:lstStyle/>
          <a:p>
            <a:r>
              <a:rPr lang="en-US" dirty="0"/>
              <a:t>while </a:t>
            </a:r>
            <a:r>
              <a:rPr lang="en-US" dirty="0" err="1"/>
              <a:t>CandidatePeptides</a:t>
            </a:r>
            <a:r>
              <a:rPr lang="en-US" dirty="0"/>
              <a:t> is nonempty</a:t>
            </a:r>
          </a:p>
          <a:p>
            <a:r>
              <a:rPr lang="en-US" dirty="0"/>
              <a:t>    </a:t>
            </a:r>
            <a:r>
              <a:rPr lang="en-US" dirty="0" err="1"/>
              <a:t>CandidatePeptides</a:t>
            </a:r>
            <a:r>
              <a:rPr lang="en-US" dirty="0"/>
              <a:t> ← Expand(</a:t>
            </a:r>
            <a:r>
              <a:rPr lang="en-US" dirty="0" err="1"/>
              <a:t>CandidatePeptides</a:t>
            </a:r>
            <a:r>
              <a:rPr lang="en-US" dirty="0"/>
              <a:t>)</a:t>
            </a:r>
          </a:p>
          <a:p>
            <a:r>
              <a:rPr lang="en-US" dirty="0"/>
              <a:t>    for each peptide </a:t>
            </a:r>
            <a:r>
              <a:rPr lang="en-US" dirty="0" err="1"/>
              <a:t>Peptide</a:t>
            </a:r>
            <a:r>
              <a:rPr lang="en-US" dirty="0"/>
              <a:t> in </a:t>
            </a:r>
            <a:r>
              <a:rPr lang="en-US" dirty="0" err="1"/>
              <a:t>CandidatePeptides</a:t>
            </a:r>
            <a:endParaRPr lang="en-US" dirty="0"/>
          </a:p>
          <a:p>
            <a:r>
              <a:rPr lang="en-US" dirty="0"/>
              <a:t>      if Mass(Peptide) = </a:t>
            </a:r>
            <a:r>
              <a:rPr lang="en-US" dirty="0" err="1"/>
              <a:t>ParentMass</a:t>
            </a:r>
            <a:r>
              <a:rPr lang="en-US" dirty="0"/>
              <a:t>(Spectrum)</a:t>
            </a:r>
          </a:p>
          <a:p>
            <a:r>
              <a:rPr lang="en-US" dirty="0"/>
              <a:t>        if </a:t>
            </a:r>
            <a:r>
              <a:rPr lang="en-US" dirty="0" err="1"/>
              <a:t>Cyclospectrum</a:t>
            </a:r>
            <a:r>
              <a:rPr lang="en-US" dirty="0"/>
              <a:t>(Peptide) = Spectrum and Peptide is not in </a:t>
            </a:r>
            <a:r>
              <a:rPr lang="en-US" dirty="0" err="1"/>
              <a:t>FinalPeptides</a:t>
            </a:r>
            <a:endParaRPr lang="en-US" dirty="0"/>
          </a:p>
          <a:p>
            <a:r>
              <a:rPr lang="en-US" dirty="0"/>
              <a:t>          append Peptide to </a:t>
            </a:r>
            <a:r>
              <a:rPr lang="en-US" dirty="0" err="1"/>
              <a:t>FinalPeptides</a:t>
            </a:r>
            <a:endParaRPr lang="en-US" dirty="0"/>
          </a:p>
          <a:p>
            <a:r>
              <a:rPr lang="en-US" dirty="0"/>
              <a:t>        remove Peptide from </a:t>
            </a:r>
            <a:r>
              <a:rPr lang="en-US" dirty="0" err="1"/>
              <a:t>CandidatePeptides</a:t>
            </a:r>
            <a:endParaRPr lang="en-US" dirty="0"/>
          </a:p>
          <a:p>
            <a:r>
              <a:rPr lang="en-US" dirty="0"/>
              <a:t>      else if Peptide is not consistent with Spectrum</a:t>
            </a:r>
          </a:p>
          <a:p>
            <a:r>
              <a:rPr lang="en-US" dirty="0"/>
              <a:t>        remove Peptide from </a:t>
            </a:r>
            <a:r>
              <a:rPr lang="en-US" dirty="0" err="1"/>
              <a:t>CandidatePeptides</a:t>
            </a:r>
            <a:endParaRPr lang="en-US" dirty="0"/>
          </a:p>
          <a:p>
            <a:r>
              <a:rPr lang="en-US" dirty="0"/>
              <a:t>  return </a:t>
            </a:r>
            <a:r>
              <a:rPr lang="en-US" dirty="0" err="1"/>
              <a:t>FinalPeptides</a:t>
            </a:r>
            <a:endParaRPr lang="fa-IR" dirty="0"/>
          </a:p>
        </p:txBody>
      </p:sp>
    </p:spTree>
    <p:extLst>
      <p:ext uri="{BB962C8B-B14F-4D97-AF65-F5344CB8AC3E}">
        <p14:creationId xmlns:p14="http://schemas.microsoft.com/office/powerpoint/2010/main" val="40663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23AD-4789-5033-F3D8-C9C4046C7D3B}"/>
              </a:ext>
            </a:extLst>
          </p:cNvPr>
          <p:cNvSpPr>
            <a:spLocks noGrp="1"/>
          </p:cNvSpPr>
          <p:nvPr>
            <p:ph type="title"/>
          </p:nvPr>
        </p:nvSpPr>
        <p:spPr>
          <a:xfrm>
            <a:off x="1322318" y="268360"/>
            <a:ext cx="7288282" cy="801023"/>
          </a:xfrm>
        </p:spPr>
        <p:txBody>
          <a:bodyPr/>
          <a:lstStyle/>
          <a:p>
            <a:r>
              <a:rPr lang="en-US" dirty="0"/>
              <a:t>Mass Spectrometry Meets Golf</a:t>
            </a:r>
            <a:endParaRPr lang="fa-IR" dirty="0"/>
          </a:p>
        </p:txBody>
      </p:sp>
      <p:sp>
        <p:nvSpPr>
          <p:cNvPr id="3" name="Content Placeholder 2">
            <a:extLst>
              <a:ext uri="{FF2B5EF4-FFF2-40B4-BE49-F238E27FC236}">
                <a16:creationId xmlns:a16="http://schemas.microsoft.com/office/drawing/2014/main" id="{46DF269D-C4FC-4DCE-0AAC-DF924DDC637A}"/>
              </a:ext>
            </a:extLst>
          </p:cNvPr>
          <p:cNvSpPr>
            <a:spLocks noGrp="1"/>
          </p:cNvSpPr>
          <p:nvPr>
            <p:ph sz="half" idx="2"/>
          </p:nvPr>
        </p:nvSpPr>
        <p:spPr/>
        <p:txBody>
          <a:bodyPr/>
          <a:lstStyle/>
          <a:p>
            <a:pPr algn="l"/>
            <a:r>
              <a:rPr lang="en-US" dirty="0"/>
              <a:t>Although </a:t>
            </a:r>
            <a:r>
              <a:rPr lang="en-US" dirty="0" err="1"/>
              <a:t>CyclopeptideSequencing</a:t>
            </a:r>
            <a:r>
              <a:rPr lang="en-US" dirty="0"/>
              <a:t> successfully reconstructed Tyrocidine B1, this algorithm only works in the case of an ideal spectrum, i.e., when the experimental spectrum of a peptide coincides exactly with its theoretical spectrum. This inflexibility of </a:t>
            </a:r>
            <a:r>
              <a:rPr lang="en-US" dirty="0" err="1"/>
              <a:t>CyclopeptideSequencing</a:t>
            </a:r>
            <a:r>
              <a:rPr lang="en-US" dirty="0"/>
              <a:t> presents a practical barrier, since mass spectrometers generate "noisy" spectra that are far from ideal — they are characterized by having both false masses and missing masses. A false mass is present in the experimental spectrum but absent from the theoretical spectrum; a missing mass is present in the theoretical spectrum but absent from the experimental spectrum.</a:t>
            </a:r>
            <a:endParaRPr lang="fa-IR" dirty="0"/>
          </a:p>
        </p:txBody>
      </p:sp>
      <p:sp>
        <p:nvSpPr>
          <p:cNvPr id="4" name="Slide Number Placeholder 3">
            <a:extLst>
              <a:ext uri="{FF2B5EF4-FFF2-40B4-BE49-F238E27FC236}">
                <a16:creationId xmlns:a16="http://schemas.microsoft.com/office/drawing/2014/main" id="{9969F5F2-6D7F-4BDE-15CA-883E1AE5B088}"/>
              </a:ext>
            </a:extLst>
          </p:cNvPr>
          <p:cNvSpPr>
            <a:spLocks noGrp="1"/>
          </p:cNvSpPr>
          <p:nvPr>
            <p:ph type="sldNum" sz="quarter" idx="12"/>
          </p:nvPr>
        </p:nvSpPr>
        <p:spPr/>
        <p:txBody>
          <a:bodyPr/>
          <a:lstStyle/>
          <a:p>
            <a:fld id="{A49DFD55-3C28-40EF-9E31-A92D2E4017FF}" type="slidenum">
              <a:rPr lang="en-US" smtClean="0"/>
              <a:pPr/>
              <a:t>33</a:t>
            </a:fld>
            <a:endParaRPr lang="en-US" dirty="0"/>
          </a:p>
        </p:txBody>
      </p:sp>
    </p:spTree>
    <p:extLst>
      <p:ext uri="{BB962C8B-B14F-4D97-AF65-F5344CB8AC3E}">
        <p14:creationId xmlns:p14="http://schemas.microsoft.com/office/powerpoint/2010/main" val="117724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A24C2-1739-74CF-ED6E-648632EEBC18}"/>
              </a:ext>
            </a:extLst>
          </p:cNvPr>
          <p:cNvSpPr>
            <a:spLocks noGrp="1"/>
          </p:cNvSpPr>
          <p:nvPr>
            <p:ph type="title"/>
          </p:nvPr>
        </p:nvSpPr>
        <p:spPr>
          <a:xfrm>
            <a:off x="1322247" y="1094721"/>
            <a:ext cx="8162715" cy="2826350"/>
          </a:xfrm>
        </p:spPr>
        <p:txBody>
          <a:bodyPr>
            <a:noAutofit/>
          </a:bodyPr>
          <a:lstStyle/>
          <a:p>
            <a:r>
              <a:rPr lang="en-US" sz="2000" dirty="0"/>
              <a:t>To generalize the Cyclopeptide Sequencing Problem to handle noisy spectra, we need to relax the requirement that a candidate peptide’s theoretical spectrum must match the experimental spectrum exactly, and instead incorporate a scoring function that will select the peptide whose theoretical spectrum matches the given experimental spectrum the most closely. Given a cyclic peptide </a:t>
            </a:r>
            <a:r>
              <a:rPr lang="en-US" sz="2000" dirty="0" err="1"/>
              <a:t>Peptide</a:t>
            </a:r>
            <a:r>
              <a:rPr lang="en-US" sz="2000" dirty="0"/>
              <a:t> and a spectrum </a:t>
            </a:r>
            <a:r>
              <a:rPr lang="en-US" sz="2000" dirty="0" err="1"/>
              <a:t>Spectrum</a:t>
            </a:r>
            <a:r>
              <a:rPr lang="en-US" sz="2000" dirty="0"/>
              <a:t>, we define Score(Peptide, Spectrum) as the number of masses shared between </a:t>
            </a:r>
            <a:r>
              <a:rPr lang="en-US" sz="2000" dirty="0" err="1"/>
              <a:t>Cyclospectrum</a:t>
            </a:r>
            <a:r>
              <a:rPr lang="en-US" sz="2000" dirty="0"/>
              <a:t>(Peptide) and Spectrum. Recall our previous example:</a:t>
            </a:r>
            <a:endParaRPr lang="fa-IR" sz="2000" dirty="0"/>
          </a:p>
        </p:txBody>
      </p:sp>
      <p:pic>
        <p:nvPicPr>
          <p:cNvPr id="6" name="Content Placeholder 5">
            <a:extLst>
              <a:ext uri="{FF2B5EF4-FFF2-40B4-BE49-F238E27FC236}">
                <a16:creationId xmlns:a16="http://schemas.microsoft.com/office/drawing/2014/main" id="{EF8B810C-1DE0-A649-0549-C45D63183CB4}"/>
              </a:ext>
            </a:extLst>
          </p:cNvPr>
          <p:cNvPicPr>
            <a:picLocks noGrp="1" noChangeAspect="1"/>
          </p:cNvPicPr>
          <p:nvPr>
            <p:ph sz="half" idx="2"/>
          </p:nvPr>
        </p:nvPicPr>
        <p:blipFill>
          <a:blip r:embed="rId2"/>
          <a:stretch>
            <a:fillRect/>
          </a:stretch>
        </p:blipFill>
        <p:spPr>
          <a:xfrm>
            <a:off x="1322247" y="4602997"/>
            <a:ext cx="7903306" cy="663879"/>
          </a:xfrm>
        </p:spPr>
      </p:pic>
      <p:sp>
        <p:nvSpPr>
          <p:cNvPr id="4" name="Slide Number Placeholder 3">
            <a:extLst>
              <a:ext uri="{FF2B5EF4-FFF2-40B4-BE49-F238E27FC236}">
                <a16:creationId xmlns:a16="http://schemas.microsoft.com/office/drawing/2014/main" id="{DA4D4502-4C71-C460-349A-F4F2080F628A}"/>
              </a:ext>
            </a:extLst>
          </p:cNvPr>
          <p:cNvSpPr>
            <a:spLocks noGrp="1"/>
          </p:cNvSpPr>
          <p:nvPr>
            <p:ph type="sldNum" sz="quarter" idx="12"/>
          </p:nvPr>
        </p:nvSpPr>
        <p:spPr/>
        <p:txBody>
          <a:bodyPr/>
          <a:lstStyle/>
          <a:p>
            <a:fld id="{A49DFD55-3C28-40EF-9E31-A92D2E4017FF}" type="slidenum">
              <a:rPr lang="en-US" smtClean="0"/>
              <a:pPr/>
              <a:t>34</a:t>
            </a:fld>
            <a:endParaRPr lang="en-US" dirty="0"/>
          </a:p>
        </p:txBody>
      </p:sp>
    </p:spTree>
    <p:extLst>
      <p:ext uri="{BB962C8B-B14F-4D97-AF65-F5344CB8AC3E}">
        <p14:creationId xmlns:p14="http://schemas.microsoft.com/office/powerpoint/2010/main" val="31404412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B182-F927-3F58-BE8E-6EE75E9061D5}"/>
              </a:ext>
            </a:extLst>
          </p:cNvPr>
          <p:cNvSpPr>
            <a:spLocks noGrp="1"/>
          </p:cNvSpPr>
          <p:nvPr>
            <p:ph type="title"/>
          </p:nvPr>
        </p:nvSpPr>
        <p:spPr>
          <a:xfrm>
            <a:off x="1322318" y="268360"/>
            <a:ext cx="7288282" cy="1405457"/>
          </a:xfrm>
        </p:spPr>
        <p:txBody>
          <a:bodyPr/>
          <a:lstStyle/>
          <a:p>
            <a:r>
              <a:rPr lang="en-US" dirty="0"/>
              <a:t>Cyclopeptide Scoring Problem: Compute the score of a cyclic peptide against a spectrum.</a:t>
            </a:r>
            <a:endParaRPr lang="fa-IR" dirty="0"/>
          </a:p>
        </p:txBody>
      </p:sp>
      <p:sp>
        <p:nvSpPr>
          <p:cNvPr id="3" name="Content Placeholder 2">
            <a:extLst>
              <a:ext uri="{FF2B5EF4-FFF2-40B4-BE49-F238E27FC236}">
                <a16:creationId xmlns:a16="http://schemas.microsoft.com/office/drawing/2014/main" id="{0B6AFB52-9A71-593A-31EF-899C6916F572}"/>
              </a:ext>
            </a:extLst>
          </p:cNvPr>
          <p:cNvSpPr>
            <a:spLocks noGrp="1"/>
          </p:cNvSpPr>
          <p:nvPr>
            <p:ph sz="half" idx="2"/>
          </p:nvPr>
        </p:nvSpPr>
        <p:spPr/>
        <p:txBody>
          <a:bodyPr>
            <a:normAutofit fontScale="92500" lnSpcReduction="10000"/>
          </a:bodyPr>
          <a:lstStyle/>
          <a:p>
            <a:pPr algn="l"/>
            <a:r>
              <a:rPr lang="en-US" dirty="0"/>
              <a:t>Input: An amino acid string Peptide and a collection of integers Spectrum.</a:t>
            </a:r>
          </a:p>
          <a:p>
            <a:pPr algn="l"/>
            <a:r>
              <a:rPr lang="en-US" dirty="0"/>
              <a:t>Output: The score of Peptide against Spectrum, Score(Peptide, Spectrum).</a:t>
            </a:r>
          </a:p>
          <a:p>
            <a:pPr algn="l"/>
            <a:endParaRPr lang="en-US" dirty="0"/>
          </a:p>
          <a:p>
            <a:pPr algn="l"/>
            <a:r>
              <a:rPr lang="en-US" dirty="0"/>
              <a:t>Cyclopeptide Sequencing Problem (for spectra with errors): Find a cyclic peptide having maximum score against an experimental spectrum.</a:t>
            </a:r>
          </a:p>
          <a:p>
            <a:pPr algn="l"/>
            <a:r>
              <a:rPr lang="en-US" dirty="0"/>
              <a:t>Input: A collection of integers Spectrum.</a:t>
            </a:r>
          </a:p>
          <a:p>
            <a:pPr algn="l"/>
            <a:r>
              <a:rPr lang="en-US" dirty="0"/>
              <a:t>Output: A cyclic peptide </a:t>
            </a:r>
            <a:r>
              <a:rPr lang="en-US" dirty="0" err="1"/>
              <a:t>Peptide</a:t>
            </a:r>
            <a:r>
              <a:rPr lang="en-US" dirty="0"/>
              <a:t> maximizing Score(Peptide, Spectrum) over all peptides Peptide with mass equal to </a:t>
            </a:r>
            <a:r>
              <a:rPr lang="en-US" dirty="0" err="1"/>
              <a:t>ParentMass</a:t>
            </a:r>
            <a:r>
              <a:rPr lang="en-US" dirty="0"/>
              <a:t>(Spectrum).</a:t>
            </a:r>
            <a:endParaRPr lang="fa-IR" dirty="0"/>
          </a:p>
        </p:txBody>
      </p:sp>
      <p:sp>
        <p:nvSpPr>
          <p:cNvPr id="4" name="Slide Number Placeholder 3">
            <a:extLst>
              <a:ext uri="{FF2B5EF4-FFF2-40B4-BE49-F238E27FC236}">
                <a16:creationId xmlns:a16="http://schemas.microsoft.com/office/drawing/2014/main" id="{DA052124-0B7A-7AA4-C94F-A1C552D94DC7}"/>
              </a:ext>
            </a:extLst>
          </p:cNvPr>
          <p:cNvSpPr>
            <a:spLocks noGrp="1"/>
          </p:cNvSpPr>
          <p:nvPr>
            <p:ph type="sldNum" sz="quarter" idx="12"/>
          </p:nvPr>
        </p:nvSpPr>
        <p:spPr/>
        <p:txBody>
          <a:bodyPr/>
          <a:lstStyle/>
          <a:p>
            <a:fld id="{A49DFD55-3C28-40EF-9E31-A92D2E4017FF}" type="slidenum">
              <a:rPr lang="en-US" smtClean="0"/>
              <a:pPr/>
              <a:t>35</a:t>
            </a:fld>
            <a:endParaRPr lang="en-US" dirty="0"/>
          </a:p>
        </p:txBody>
      </p:sp>
    </p:spTree>
    <p:extLst>
      <p:ext uri="{BB962C8B-B14F-4D97-AF65-F5344CB8AC3E}">
        <p14:creationId xmlns:p14="http://schemas.microsoft.com/office/powerpoint/2010/main" val="1597386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A610-19B2-151E-71FE-703617DAA917}"/>
              </a:ext>
            </a:extLst>
          </p:cNvPr>
          <p:cNvSpPr>
            <a:spLocks noGrp="1"/>
          </p:cNvSpPr>
          <p:nvPr>
            <p:ph type="ctrTitle"/>
          </p:nvPr>
        </p:nvSpPr>
        <p:spPr>
          <a:xfrm>
            <a:off x="5842862" y="1909736"/>
            <a:ext cx="6349138" cy="3457971"/>
          </a:xfrm>
        </p:spPr>
        <p:txBody>
          <a:bodyPr/>
          <a:lstStyle/>
          <a:p>
            <a:r>
              <a:rPr lang="en-US" sz="1600" dirty="0" err="1"/>
              <a:t>LeaderboardCyclopeptideSequencing</a:t>
            </a:r>
            <a:r>
              <a:rPr lang="en-US" sz="1600" dirty="0"/>
              <a:t>.</a:t>
            </a:r>
            <a:br>
              <a:rPr lang="en-US" sz="1600" dirty="0"/>
            </a:br>
            <a:br>
              <a:rPr lang="en-US" sz="1600" dirty="0"/>
            </a:br>
            <a:r>
              <a:rPr lang="en-US" sz="1600" dirty="0" err="1"/>
              <a:t>LeaderboardCyclopeptideSequencing</a:t>
            </a:r>
            <a:r>
              <a:rPr lang="en-US" sz="1600" dirty="0"/>
              <a:t>(Spectrum, N)</a:t>
            </a:r>
            <a:br>
              <a:rPr lang="en-US" sz="1600" dirty="0"/>
            </a:br>
            <a:r>
              <a:rPr lang="en-US" sz="1600" dirty="0"/>
              <a:t>  Leaderboard ← set containing only the empty peptide</a:t>
            </a:r>
            <a:br>
              <a:rPr lang="en-US" sz="1600" dirty="0"/>
            </a:br>
            <a:r>
              <a:rPr lang="en-US" sz="1600" dirty="0"/>
              <a:t>  </a:t>
            </a:r>
            <a:r>
              <a:rPr lang="en-US" sz="1600" dirty="0" err="1"/>
              <a:t>LeaderPeptide</a:t>
            </a:r>
            <a:r>
              <a:rPr lang="en-US" sz="1600" dirty="0"/>
              <a:t> ← empty peptide</a:t>
            </a:r>
            <a:br>
              <a:rPr lang="en-US" sz="1600" dirty="0"/>
            </a:br>
            <a:r>
              <a:rPr lang="en-US" sz="1600" dirty="0"/>
              <a:t>  while Leaderboard is non-empty</a:t>
            </a:r>
            <a:br>
              <a:rPr lang="en-US" sz="1600" dirty="0"/>
            </a:br>
            <a:r>
              <a:rPr lang="en-US" sz="1600" dirty="0"/>
              <a:t>    Leaderboard ← Expand(Leaderboard)</a:t>
            </a:r>
            <a:br>
              <a:rPr lang="en-US" sz="1600" dirty="0"/>
            </a:br>
            <a:r>
              <a:rPr lang="en-US" sz="1600" dirty="0"/>
              <a:t>    for each Peptide in Leaderboard</a:t>
            </a:r>
            <a:br>
              <a:rPr lang="en-US" sz="1600" dirty="0"/>
            </a:br>
            <a:r>
              <a:rPr lang="en-US" sz="1600" dirty="0"/>
              <a:t>      if Mass(Peptide) = </a:t>
            </a:r>
            <a:r>
              <a:rPr lang="en-US" sz="1600" dirty="0" err="1"/>
              <a:t>ParentMass</a:t>
            </a:r>
            <a:r>
              <a:rPr lang="en-US" sz="1600" dirty="0"/>
              <a:t>(Spectrum)</a:t>
            </a:r>
            <a:br>
              <a:rPr lang="en-US" sz="1600" dirty="0"/>
            </a:br>
            <a:r>
              <a:rPr lang="en-US" sz="1600" dirty="0"/>
              <a:t>        if Score(Peptide, Spectrum) &gt; Score(</a:t>
            </a:r>
            <a:r>
              <a:rPr lang="en-US" sz="1600" dirty="0" err="1"/>
              <a:t>LeaderPeptide</a:t>
            </a:r>
            <a:r>
              <a:rPr lang="en-US" sz="1600" dirty="0"/>
              <a:t>, Spectrum)</a:t>
            </a:r>
            <a:br>
              <a:rPr lang="en-US" sz="1600" dirty="0"/>
            </a:br>
            <a:r>
              <a:rPr lang="en-US" sz="1600" dirty="0"/>
              <a:t>          </a:t>
            </a:r>
            <a:r>
              <a:rPr lang="en-US" sz="1600" dirty="0" err="1"/>
              <a:t>LeaderPeptide</a:t>
            </a:r>
            <a:r>
              <a:rPr lang="en-US" sz="1600" dirty="0"/>
              <a:t> ← Peptide</a:t>
            </a:r>
            <a:br>
              <a:rPr lang="en-US" sz="1600" dirty="0"/>
            </a:br>
            <a:r>
              <a:rPr lang="en-US" sz="1600" dirty="0"/>
              <a:t>      else if Mass(Peptide) &gt; </a:t>
            </a:r>
            <a:r>
              <a:rPr lang="en-US" sz="1600" dirty="0" err="1"/>
              <a:t>ParentMass</a:t>
            </a:r>
            <a:r>
              <a:rPr lang="en-US" sz="1600" dirty="0"/>
              <a:t>(Spectrum)</a:t>
            </a:r>
            <a:br>
              <a:rPr lang="en-US" sz="1600" dirty="0"/>
            </a:br>
            <a:r>
              <a:rPr lang="en-US" sz="1600" dirty="0"/>
              <a:t>        remove Peptide from Leaderboard</a:t>
            </a:r>
            <a:br>
              <a:rPr lang="en-US" sz="1600" dirty="0"/>
            </a:br>
            <a:r>
              <a:rPr lang="en-US" sz="1600" dirty="0"/>
              <a:t>    </a:t>
            </a:r>
            <a:r>
              <a:rPr lang="en-US" sz="1600" dirty="0" err="1"/>
              <a:t>Leaderboard</a:t>
            </a:r>
            <a:r>
              <a:rPr lang="en-US" sz="1600" dirty="0"/>
              <a:t> ← Trim(Leaderboard, Spectrum, N)</a:t>
            </a:r>
            <a:br>
              <a:rPr lang="en-US" sz="1600" dirty="0"/>
            </a:br>
            <a:r>
              <a:rPr lang="en-US" sz="1600" dirty="0"/>
              <a:t>  output </a:t>
            </a:r>
            <a:r>
              <a:rPr lang="en-US" sz="1600" dirty="0" err="1"/>
              <a:t>LeaderPeptide</a:t>
            </a:r>
            <a:endParaRPr lang="fa-IR" sz="1600" dirty="0"/>
          </a:p>
        </p:txBody>
      </p:sp>
    </p:spTree>
    <p:extLst>
      <p:ext uri="{BB962C8B-B14F-4D97-AF65-F5344CB8AC3E}">
        <p14:creationId xmlns:p14="http://schemas.microsoft.com/office/powerpoint/2010/main" val="881885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346B7-3BD6-2896-0085-29B079FF63AB}"/>
              </a:ext>
            </a:extLst>
          </p:cNvPr>
          <p:cNvSpPr>
            <a:spLocks noGrp="1"/>
          </p:cNvSpPr>
          <p:nvPr>
            <p:ph type="title"/>
          </p:nvPr>
        </p:nvSpPr>
        <p:spPr>
          <a:xfrm>
            <a:off x="1322317" y="268361"/>
            <a:ext cx="7775187" cy="1482948"/>
          </a:xfrm>
        </p:spPr>
        <p:txBody>
          <a:bodyPr/>
          <a:lstStyle/>
          <a:p>
            <a:r>
              <a:rPr lang="en-US" dirty="0"/>
              <a:t>From 20 to More than 100 Amino Acids</a:t>
            </a:r>
            <a:br>
              <a:rPr lang="en-US" dirty="0"/>
            </a:br>
            <a:endParaRPr lang="fa-IR" dirty="0"/>
          </a:p>
        </p:txBody>
      </p:sp>
      <p:sp>
        <p:nvSpPr>
          <p:cNvPr id="3" name="Content Placeholder 2">
            <a:extLst>
              <a:ext uri="{FF2B5EF4-FFF2-40B4-BE49-F238E27FC236}">
                <a16:creationId xmlns:a16="http://schemas.microsoft.com/office/drawing/2014/main" id="{6032E3C0-C7B4-5D1F-5439-BCB66E3461F8}"/>
              </a:ext>
            </a:extLst>
          </p:cNvPr>
          <p:cNvSpPr>
            <a:spLocks noGrp="1"/>
          </p:cNvSpPr>
          <p:nvPr>
            <p:ph sz="half" idx="2"/>
          </p:nvPr>
        </p:nvSpPr>
        <p:spPr>
          <a:xfrm>
            <a:off x="1322317" y="1751309"/>
            <a:ext cx="8736083" cy="4605040"/>
          </a:xfrm>
        </p:spPr>
        <p:txBody>
          <a:bodyPr>
            <a:noAutofit/>
          </a:bodyPr>
          <a:lstStyle/>
          <a:p>
            <a:pPr algn="l"/>
            <a:r>
              <a:rPr lang="en-US" sz="1600" dirty="0"/>
              <a:t>Until now, we have assumed that just 20 amino acids form the building blocks of proteins; these building blocks are called proteinogenic amino acids. There are actually two additional proteinogenic amino acids, called selenocysteine and </a:t>
            </a:r>
            <a:r>
              <a:rPr lang="en-US" sz="1600" dirty="0" err="1"/>
              <a:t>pyrrolysine</a:t>
            </a:r>
            <a:r>
              <a:rPr lang="en-US" sz="1600" dirty="0"/>
              <a:t>, which are incorporated into proteins by special biosynthetic mechanisms .</a:t>
            </a:r>
            <a:endParaRPr lang="fa-IR" sz="1600" dirty="0"/>
          </a:p>
          <a:p>
            <a:pPr algn="l"/>
            <a:r>
              <a:rPr lang="en-US" sz="1600" dirty="0"/>
              <a:t>Yet in addition to the 22 proteinogenic amino acids, NRPs contain non-proteinogenic amino acids, which expand the number of possible building blocks for antibiotic peptides from 20 to over 100.</a:t>
            </a:r>
          </a:p>
          <a:p>
            <a:pPr algn="l"/>
            <a:r>
              <a:rPr lang="en-US" sz="1600" dirty="0"/>
              <a:t>Enlarging the amino acid alphabet spells trouble for our current approach to cyclopeptide sequencing. Indeed, the correct peptide now must “compete” with many more incorrect ones for a place on the leaderboard, increasing the chance that the correct peptide will be cut along the way.</a:t>
            </a:r>
            <a:endParaRPr lang="fa-IR" sz="1600" dirty="0"/>
          </a:p>
          <a:p>
            <a:pPr algn="l"/>
            <a:r>
              <a:rPr lang="en-US" sz="1600" dirty="0"/>
              <a:t>For example, although Tyrocidine B1 contains only proteinogenic amino acids, its close relative, Tyrocidine B (Val-Orn-Leu-</a:t>
            </a:r>
            <a:r>
              <a:rPr lang="en-US" sz="1600" dirty="0" err="1"/>
              <a:t>Phe</a:t>
            </a:r>
            <a:r>
              <a:rPr lang="en-US" sz="1600" dirty="0"/>
              <a:t>-Pro-</a:t>
            </a:r>
            <a:r>
              <a:rPr lang="en-US" sz="1600" dirty="0" err="1"/>
              <a:t>Trp</a:t>
            </a:r>
            <a:r>
              <a:rPr lang="en-US" sz="1600" dirty="0"/>
              <a:t>-</a:t>
            </a:r>
            <a:r>
              <a:rPr lang="en-US" sz="1600" dirty="0" err="1"/>
              <a:t>Phe</a:t>
            </a:r>
            <a:r>
              <a:rPr lang="en-US" sz="1600" dirty="0"/>
              <a:t>-</a:t>
            </a:r>
            <a:r>
              <a:rPr lang="en-US" sz="1600" dirty="0" err="1"/>
              <a:t>Asn</a:t>
            </a:r>
            <a:r>
              <a:rPr lang="en-US" sz="1600" dirty="0"/>
              <a:t>-Gln-Tyr), contains a non-proteinogenic amino acid called ornithine (Orn). Because so many non-proteinogenic amino acids exist, bioinformaticians often assume that any integer between 57 and 200 may represent the mass of an amino acid; the “lightest” amino acid, glycine (Gly), has mass 57 Da, and most amino acids have masses smaller than 200 Da.</a:t>
            </a:r>
            <a:endParaRPr lang="fa-IR" sz="1600" dirty="0"/>
          </a:p>
        </p:txBody>
      </p:sp>
      <p:sp>
        <p:nvSpPr>
          <p:cNvPr id="4" name="Slide Number Placeholder 3">
            <a:extLst>
              <a:ext uri="{FF2B5EF4-FFF2-40B4-BE49-F238E27FC236}">
                <a16:creationId xmlns:a16="http://schemas.microsoft.com/office/drawing/2014/main" id="{A427BD2B-2432-8B04-64AF-3588B2148F73}"/>
              </a:ext>
            </a:extLst>
          </p:cNvPr>
          <p:cNvSpPr>
            <a:spLocks noGrp="1"/>
          </p:cNvSpPr>
          <p:nvPr>
            <p:ph type="sldNum" sz="quarter" idx="12"/>
          </p:nvPr>
        </p:nvSpPr>
        <p:spPr/>
        <p:txBody>
          <a:bodyPr/>
          <a:lstStyle/>
          <a:p>
            <a:fld id="{A49DFD55-3C28-40EF-9E31-A92D2E4017FF}" type="slidenum">
              <a:rPr lang="en-US" smtClean="0"/>
              <a:pPr/>
              <a:t>37</a:t>
            </a:fld>
            <a:endParaRPr lang="en-US" dirty="0"/>
          </a:p>
        </p:txBody>
      </p:sp>
    </p:spTree>
    <p:extLst>
      <p:ext uri="{BB962C8B-B14F-4D97-AF65-F5344CB8AC3E}">
        <p14:creationId xmlns:p14="http://schemas.microsoft.com/office/powerpoint/2010/main" val="443254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3432E-CC64-57DF-3029-52A149233450}"/>
              </a:ext>
            </a:extLst>
          </p:cNvPr>
          <p:cNvSpPr>
            <a:spLocks noGrp="1"/>
          </p:cNvSpPr>
          <p:nvPr>
            <p:ph type="title"/>
          </p:nvPr>
        </p:nvSpPr>
        <p:spPr>
          <a:xfrm>
            <a:off x="1322317" y="268361"/>
            <a:ext cx="8395119" cy="1048996"/>
          </a:xfrm>
        </p:spPr>
        <p:txBody>
          <a:bodyPr/>
          <a:lstStyle/>
          <a:p>
            <a:r>
              <a:rPr lang="en-US" dirty="0"/>
              <a:t>The Spectral Convolution Saves the Day</a:t>
            </a:r>
            <a:endParaRPr lang="fa-IR" dirty="0"/>
          </a:p>
        </p:txBody>
      </p:sp>
      <p:sp>
        <p:nvSpPr>
          <p:cNvPr id="3" name="Content Placeholder 2">
            <a:extLst>
              <a:ext uri="{FF2B5EF4-FFF2-40B4-BE49-F238E27FC236}">
                <a16:creationId xmlns:a16="http://schemas.microsoft.com/office/drawing/2014/main" id="{1F763B42-A251-F658-27F5-CED511951562}"/>
              </a:ext>
            </a:extLst>
          </p:cNvPr>
          <p:cNvSpPr>
            <a:spLocks noGrp="1"/>
          </p:cNvSpPr>
          <p:nvPr>
            <p:ph sz="half" idx="2"/>
          </p:nvPr>
        </p:nvSpPr>
        <p:spPr/>
        <p:txBody>
          <a:bodyPr>
            <a:normAutofit lnSpcReduction="10000"/>
          </a:bodyPr>
          <a:lstStyle/>
          <a:p>
            <a:pPr algn="l"/>
            <a:r>
              <a:rPr lang="en-US" dirty="0"/>
              <a:t>composition of a peptide from its experimental spectrum would be to take the smallest masses present in the spectrum (between 57 and 200 Da). However, even if only a single amino acid mass is missing, then this approach will fail to reconstruct the peptide's amino acid composition.</a:t>
            </a:r>
          </a:p>
          <a:p>
            <a:pPr algn="l"/>
            <a:endParaRPr lang="en-US" dirty="0"/>
          </a:p>
          <a:p>
            <a:pPr algn="l"/>
            <a:r>
              <a:rPr lang="en-US" dirty="0"/>
              <a:t>Let’s take a different approach. Say that our experimental spectrum contains the masses of </a:t>
            </a:r>
            <a:r>
              <a:rPr lang="en-US" dirty="0" err="1"/>
              <a:t>subpeptides</a:t>
            </a:r>
            <a:r>
              <a:rPr lang="en-US" dirty="0"/>
              <a:t> NQE and NQ. If we subtract these two masses, then we will obtain the mass E for free, even if it was not present in the experimental spectrum! If the underlying peptide is NQEL, then we can also find the mass of E by subtracting the masses of QE and Q or NQEL and LNQ.</a:t>
            </a:r>
            <a:endParaRPr lang="fa-IR" dirty="0"/>
          </a:p>
        </p:txBody>
      </p:sp>
      <p:sp>
        <p:nvSpPr>
          <p:cNvPr id="4" name="Slide Number Placeholder 3">
            <a:extLst>
              <a:ext uri="{FF2B5EF4-FFF2-40B4-BE49-F238E27FC236}">
                <a16:creationId xmlns:a16="http://schemas.microsoft.com/office/drawing/2014/main" id="{5B32ECFA-1A2B-392D-60DF-DED33C580F01}"/>
              </a:ext>
            </a:extLst>
          </p:cNvPr>
          <p:cNvSpPr>
            <a:spLocks noGrp="1"/>
          </p:cNvSpPr>
          <p:nvPr>
            <p:ph type="sldNum" sz="quarter" idx="12"/>
          </p:nvPr>
        </p:nvSpPr>
        <p:spPr/>
        <p:txBody>
          <a:bodyPr/>
          <a:lstStyle/>
          <a:p>
            <a:fld id="{A49DFD55-3C28-40EF-9E31-A92D2E4017FF}" type="slidenum">
              <a:rPr lang="en-US" smtClean="0"/>
              <a:pPr/>
              <a:t>38</a:t>
            </a:fld>
            <a:endParaRPr lang="en-US" dirty="0"/>
          </a:p>
        </p:txBody>
      </p:sp>
    </p:spTree>
    <p:extLst>
      <p:ext uri="{BB962C8B-B14F-4D97-AF65-F5344CB8AC3E}">
        <p14:creationId xmlns:p14="http://schemas.microsoft.com/office/powerpoint/2010/main" val="3366114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A8A20-D64E-8262-DE42-58A48EB6351D}"/>
              </a:ext>
            </a:extLst>
          </p:cNvPr>
          <p:cNvSpPr>
            <a:spLocks noGrp="1"/>
          </p:cNvSpPr>
          <p:nvPr>
            <p:ph type="title"/>
          </p:nvPr>
        </p:nvSpPr>
        <p:spPr>
          <a:xfrm>
            <a:off x="1322318" y="268360"/>
            <a:ext cx="7288282" cy="2494718"/>
          </a:xfrm>
        </p:spPr>
        <p:txBody>
          <a:bodyPr>
            <a:normAutofit/>
          </a:bodyPr>
          <a:lstStyle/>
          <a:p>
            <a:r>
              <a:rPr lang="en-US" sz="2000" dirty="0"/>
              <a:t>Following this example, we define the convolution of a spectrum by taking all positive differences of masses in the spectrum. The tables on the next steps show the convolutions of the theoretical and simulated spectra of NQEL that we encountered before (spectra reproduced below).</a:t>
            </a:r>
            <a:endParaRPr lang="fa-IR" sz="2000" dirty="0"/>
          </a:p>
        </p:txBody>
      </p:sp>
      <p:pic>
        <p:nvPicPr>
          <p:cNvPr id="6" name="Content Placeholder 5">
            <a:extLst>
              <a:ext uri="{FF2B5EF4-FFF2-40B4-BE49-F238E27FC236}">
                <a16:creationId xmlns:a16="http://schemas.microsoft.com/office/drawing/2014/main" id="{773D5EB4-7298-0F74-01E0-2B27FB06C9C1}"/>
              </a:ext>
            </a:extLst>
          </p:cNvPr>
          <p:cNvPicPr>
            <a:picLocks noGrp="1" noChangeAspect="1"/>
          </p:cNvPicPr>
          <p:nvPr>
            <p:ph sz="half" idx="2"/>
          </p:nvPr>
        </p:nvPicPr>
        <p:blipFill>
          <a:blip r:embed="rId2"/>
          <a:stretch>
            <a:fillRect/>
          </a:stretch>
        </p:blipFill>
        <p:spPr>
          <a:xfrm>
            <a:off x="1322318" y="4277532"/>
            <a:ext cx="7999247" cy="671938"/>
          </a:xfrm>
        </p:spPr>
      </p:pic>
      <p:sp>
        <p:nvSpPr>
          <p:cNvPr id="4" name="Slide Number Placeholder 3">
            <a:extLst>
              <a:ext uri="{FF2B5EF4-FFF2-40B4-BE49-F238E27FC236}">
                <a16:creationId xmlns:a16="http://schemas.microsoft.com/office/drawing/2014/main" id="{62CDC0D6-8140-3BA4-0EB3-D510B2811B87}"/>
              </a:ext>
            </a:extLst>
          </p:cNvPr>
          <p:cNvSpPr>
            <a:spLocks noGrp="1"/>
          </p:cNvSpPr>
          <p:nvPr>
            <p:ph type="sldNum" sz="quarter" idx="12"/>
          </p:nvPr>
        </p:nvSpPr>
        <p:spPr/>
        <p:txBody>
          <a:bodyPr/>
          <a:lstStyle/>
          <a:p>
            <a:fld id="{A49DFD55-3C28-40EF-9E31-A92D2E4017FF}" type="slidenum">
              <a:rPr lang="en-US" smtClean="0"/>
              <a:pPr/>
              <a:t>39</a:t>
            </a:fld>
            <a:endParaRPr lang="en-US" dirty="0"/>
          </a:p>
        </p:txBody>
      </p:sp>
    </p:spTree>
    <p:extLst>
      <p:ext uri="{BB962C8B-B14F-4D97-AF65-F5344CB8AC3E}">
        <p14:creationId xmlns:p14="http://schemas.microsoft.com/office/powerpoint/2010/main" val="4033962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96C8A-7596-BBBE-39F8-FE7B7EB17849}"/>
              </a:ext>
            </a:extLst>
          </p:cNvPr>
          <p:cNvSpPr>
            <a:spLocks noGrp="1"/>
          </p:cNvSpPr>
          <p:nvPr>
            <p:ph type="title"/>
          </p:nvPr>
        </p:nvSpPr>
        <p:spPr>
          <a:xfrm>
            <a:off x="1322318" y="268361"/>
            <a:ext cx="7288282" cy="1033498"/>
          </a:xfrm>
        </p:spPr>
        <p:txBody>
          <a:bodyPr/>
          <a:lstStyle/>
          <a:p>
            <a:r>
              <a:rPr lang="en-US" dirty="0"/>
              <a:t>From Simulated to Real Spectra</a:t>
            </a:r>
            <a:endParaRPr lang="fa-IR" dirty="0"/>
          </a:p>
        </p:txBody>
      </p:sp>
      <p:sp>
        <p:nvSpPr>
          <p:cNvPr id="3" name="Content Placeholder 2">
            <a:extLst>
              <a:ext uri="{FF2B5EF4-FFF2-40B4-BE49-F238E27FC236}">
                <a16:creationId xmlns:a16="http://schemas.microsoft.com/office/drawing/2014/main" id="{4A24A183-5B9B-F65A-3718-FFB2E7711AB3}"/>
              </a:ext>
            </a:extLst>
          </p:cNvPr>
          <p:cNvSpPr>
            <a:spLocks noGrp="1"/>
          </p:cNvSpPr>
          <p:nvPr>
            <p:ph sz="half" idx="2"/>
          </p:nvPr>
        </p:nvSpPr>
        <p:spPr>
          <a:xfrm>
            <a:off x="1322318" y="2205139"/>
            <a:ext cx="8193571" cy="3407051"/>
          </a:xfrm>
        </p:spPr>
        <p:txBody>
          <a:bodyPr/>
          <a:lstStyle/>
          <a:p>
            <a:pPr algn="l"/>
            <a:r>
              <a:rPr lang="en-US" dirty="0"/>
              <a:t>the mass spectrometer first converts </a:t>
            </a:r>
            <a:r>
              <a:rPr lang="en-US" dirty="0" err="1"/>
              <a:t>subpeptides</a:t>
            </a:r>
            <a:r>
              <a:rPr lang="en-US" dirty="0"/>
              <a:t> into ions Ionization of particles helps the mass spectrometer sort the ions by using an electromagnetic field; ions are separated not by their mass, but rather according to their mass/charge ratio. If fragment ion NQY (integer mass: 114 + 128 + 163 = 405) has charge +1, then it contains one additional proton, resulting in a total integer mass of 406 and a mass/charge ratio of 406/1 = 406. To be more precise, the monoisotopic mass of NQY is approximately 114.043 + 128.058 + 163.063 = 405.164, and the mass of a proton is 1.007 Da, which makes the mass charge/ratio more closely equal to (405.164 + 1.007)/1 = 406.171.</a:t>
            </a:r>
            <a:endParaRPr lang="fa-IR" dirty="0"/>
          </a:p>
        </p:txBody>
      </p:sp>
      <p:sp>
        <p:nvSpPr>
          <p:cNvPr id="4" name="Slide Number Placeholder 3">
            <a:extLst>
              <a:ext uri="{FF2B5EF4-FFF2-40B4-BE49-F238E27FC236}">
                <a16:creationId xmlns:a16="http://schemas.microsoft.com/office/drawing/2014/main" id="{B543423E-B8FA-B0FC-B689-59F3ACBB4CB5}"/>
              </a:ext>
            </a:extLst>
          </p:cNvPr>
          <p:cNvSpPr>
            <a:spLocks noGrp="1"/>
          </p:cNvSpPr>
          <p:nvPr>
            <p:ph type="sldNum" sz="quarter" idx="12"/>
          </p:nvPr>
        </p:nvSpPr>
        <p:spPr/>
        <p:txBody>
          <a:bodyPr/>
          <a:lstStyle/>
          <a:p>
            <a:fld id="{A49DFD55-3C28-40EF-9E31-A92D2E4017FF}" type="slidenum">
              <a:rPr lang="en-US" smtClean="0"/>
              <a:pPr/>
              <a:t>40</a:t>
            </a:fld>
            <a:endParaRPr lang="en-US" dirty="0"/>
          </a:p>
        </p:txBody>
      </p:sp>
    </p:spTree>
    <p:extLst>
      <p:ext uri="{BB962C8B-B14F-4D97-AF65-F5344CB8AC3E}">
        <p14:creationId xmlns:p14="http://schemas.microsoft.com/office/powerpoint/2010/main" val="1149515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8233129-CB7E-E3C2-DE52-AE9CD2028BB3}"/>
              </a:ext>
            </a:extLst>
          </p:cNvPr>
          <p:cNvPicPr>
            <a:picLocks noGrp="1" noChangeAspect="1"/>
          </p:cNvPicPr>
          <p:nvPr>
            <p:ph sz="half" idx="2"/>
          </p:nvPr>
        </p:nvPicPr>
        <p:blipFill>
          <a:blip r:embed="rId2"/>
          <a:stretch>
            <a:fillRect/>
          </a:stretch>
        </p:blipFill>
        <p:spPr>
          <a:xfrm>
            <a:off x="872937" y="1100881"/>
            <a:ext cx="8441544" cy="4656237"/>
          </a:xfrm>
          <a:prstGeom prst="rect">
            <a:avLst/>
          </a:prstGeom>
          <a:ln w="228600" cap="sq" cmpd="thickThin">
            <a:solidFill>
              <a:srgbClr val="000000"/>
            </a:solidFill>
            <a:prstDash val="solid"/>
            <a:miter lim="800000"/>
          </a:ln>
          <a:effectLst>
            <a:innerShdw blurRad="76200">
              <a:srgbClr val="000000"/>
            </a:innerShdw>
          </a:effectLst>
        </p:spPr>
      </p:pic>
      <p:sp>
        <p:nvSpPr>
          <p:cNvPr id="4" name="Slide Number Placeholder 3">
            <a:extLst>
              <a:ext uri="{FF2B5EF4-FFF2-40B4-BE49-F238E27FC236}">
                <a16:creationId xmlns:a16="http://schemas.microsoft.com/office/drawing/2014/main" id="{AE0EBD54-B502-0D5D-EDBE-F21D8BE81E9A}"/>
              </a:ext>
            </a:extLst>
          </p:cNvPr>
          <p:cNvSpPr>
            <a:spLocks noGrp="1"/>
          </p:cNvSpPr>
          <p:nvPr>
            <p:ph type="sldNum" sz="quarter" idx="12"/>
          </p:nvPr>
        </p:nvSpPr>
        <p:spPr/>
        <p:txBody>
          <a:bodyPr/>
          <a:lstStyle/>
          <a:p>
            <a:fld id="{A49DFD55-3C28-40EF-9E31-A92D2E4017FF}" type="slidenum">
              <a:rPr lang="en-US" smtClean="0"/>
              <a:pPr/>
              <a:t>41</a:t>
            </a:fld>
            <a:endParaRPr lang="en-US" dirty="0"/>
          </a:p>
        </p:txBody>
      </p:sp>
    </p:spTree>
    <p:extLst>
      <p:ext uri="{BB962C8B-B14F-4D97-AF65-F5344CB8AC3E}">
        <p14:creationId xmlns:p14="http://schemas.microsoft.com/office/powerpoint/2010/main" val="26395457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A4C0FF-0D9C-882B-4C2B-784CA8B63397}"/>
              </a:ext>
            </a:extLst>
          </p:cNvPr>
          <p:cNvPicPr>
            <a:picLocks noGrp="1" noChangeAspect="1"/>
          </p:cNvPicPr>
          <p:nvPr>
            <p:ph sz="half" idx="2"/>
          </p:nvPr>
        </p:nvPicPr>
        <p:blipFill>
          <a:blip r:embed="rId2"/>
          <a:stretch>
            <a:fillRect/>
          </a:stretch>
        </p:blipFill>
        <p:spPr>
          <a:xfrm>
            <a:off x="923788" y="1265842"/>
            <a:ext cx="7946292" cy="4326315"/>
          </a:xfrm>
          <a:prstGeom prst="rect">
            <a:avLst/>
          </a:prstGeom>
          <a:ln w="228600" cap="sq" cmpd="thickThin">
            <a:solidFill>
              <a:srgbClr val="000000"/>
            </a:solidFill>
            <a:prstDash val="solid"/>
            <a:miter lim="800000"/>
          </a:ln>
          <a:effectLst>
            <a:innerShdw blurRad="76200">
              <a:srgbClr val="000000"/>
            </a:innerShdw>
          </a:effectLst>
        </p:spPr>
      </p:pic>
      <p:sp>
        <p:nvSpPr>
          <p:cNvPr id="4" name="Slide Number Placeholder 3">
            <a:extLst>
              <a:ext uri="{FF2B5EF4-FFF2-40B4-BE49-F238E27FC236}">
                <a16:creationId xmlns:a16="http://schemas.microsoft.com/office/drawing/2014/main" id="{E634324D-A5A2-AA62-43D2-67566DF31351}"/>
              </a:ext>
            </a:extLst>
          </p:cNvPr>
          <p:cNvSpPr>
            <a:spLocks noGrp="1"/>
          </p:cNvSpPr>
          <p:nvPr>
            <p:ph type="sldNum" sz="quarter" idx="12"/>
          </p:nvPr>
        </p:nvSpPr>
        <p:spPr/>
        <p:txBody>
          <a:bodyPr/>
          <a:lstStyle/>
          <a:p>
            <a:fld id="{A49DFD55-3C28-40EF-9E31-A92D2E4017FF}" type="slidenum">
              <a:rPr lang="en-US" smtClean="0"/>
              <a:pPr/>
              <a:t>42</a:t>
            </a:fld>
            <a:endParaRPr lang="en-US" dirty="0"/>
          </a:p>
        </p:txBody>
      </p:sp>
    </p:spTree>
    <p:extLst>
      <p:ext uri="{BB962C8B-B14F-4D97-AF65-F5344CB8AC3E}">
        <p14:creationId xmlns:p14="http://schemas.microsoft.com/office/powerpoint/2010/main" val="4014986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DA96ADD-DC8F-0846-ED1A-40E0BD2B3303}"/>
              </a:ext>
            </a:extLst>
          </p:cNvPr>
          <p:cNvPicPr>
            <a:picLocks noGrp="1" noChangeAspect="1"/>
          </p:cNvPicPr>
          <p:nvPr>
            <p:ph sz="half" idx="2"/>
          </p:nvPr>
        </p:nvPicPr>
        <p:blipFill>
          <a:blip r:embed="rId2"/>
          <a:stretch>
            <a:fillRect/>
          </a:stretch>
        </p:blipFill>
        <p:spPr>
          <a:xfrm>
            <a:off x="567609" y="1463090"/>
            <a:ext cx="9112374" cy="3931820"/>
          </a:xfrm>
          <a:prstGeom prst="rect">
            <a:avLst/>
          </a:prstGeom>
          <a:ln w="228600" cap="sq" cmpd="thickThin">
            <a:solidFill>
              <a:srgbClr val="000000"/>
            </a:solidFill>
            <a:prstDash val="solid"/>
            <a:miter lim="800000"/>
          </a:ln>
          <a:effectLst>
            <a:innerShdw blurRad="76200">
              <a:srgbClr val="000000"/>
            </a:innerShdw>
          </a:effectLst>
        </p:spPr>
      </p:pic>
      <p:sp>
        <p:nvSpPr>
          <p:cNvPr id="4" name="Slide Number Placeholder 3">
            <a:extLst>
              <a:ext uri="{FF2B5EF4-FFF2-40B4-BE49-F238E27FC236}">
                <a16:creationId xmlns:a16="http://schemas.microsoft.com/office/drawing/2014/main" id="{E7DDBB98-CCE5-19A6-357F-E12B1F2164A3}"/>
              </a:ext>
            </a:extLst>
          </p:cNvPr>
          <p:cNvSpPr>
            <a:spLocks noGrp="1"/>
          </p:cNvSpPr>
          <p:nvPr>
            <p:ph type="sldNum" sz="quarter" idx="12"/>
          </p:nvPr>
        </p:nvSpPr>
        <p:spPr/>
        <p:txBody>
          <a:bodyPr/>
          <a:lstStyle/>
          <a:p>
            <a:fld id="{A49DFD55-3C28-40EF-9E31-A92D2E4017FF}" type="slidenum">
              <a:rPr lang="en-US" smtClean="0"/>
              <a:pPr/>
              <a:t>43</a:t>
            </a:fld>
            <a:endParaRPr lang="en-US" dirty="0"/>
          </a:p>
        </p:txBody>
      </p:sp>
    </p:spTree>
    <p:extLst>
      <p:ext uri="{BB962C8B-B14F-4D97-AF65-F5344CB8AC3E}">
        <p14:creationId xmlns:p14="http://schemas.microsoft.com/office/powerpoint/2010/main" val="1027133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615736"/>
            <a:ext cx="4179570" cy="1524735"/>
          </a:xfrm>
        </p:spPr>
        <p:txBody>
          <a:bodyPr/>
          <a:lstStyle/>
          <a:p>
            <a:r>
              <a:rPr lang="en-US" dirty="0"/>
              <a:t>THANKs for </a:t>
            </a:r>
            <a:r>
              <a:rPr lang="en-US" dirty="0" err="1"/>
              <a:t>YOUr</a:t>
            </a:r>
            <a:r>
              <a:rPr lang="en-US" dirty="0"/>
              <a:t> patience </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44</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857</TotalTime>
  <Words>3489</Words>
  <Application>Microsoft Office PowerPoint</Application>
  <PresentationFormat>Widescreen</PresentationFormat>
  <Paragraphs>153</Paragraphs>
  <Slides>44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Tenorite</vt:lpstr>
      <vt:lpstr>Custom</vt:lpstr>
      <vt:lpstr>How Do We Sequence Antibiotics?</vt:lpstr>
      <vt:lpstr>Professor : dr.reza rezazadegan  presenters : arsham salari  &amp;  amir Hossein mohammadipour    04/08/01  bioinformatics  </vt:lpstr>
      <vt:lpstr>TOPICS</vt:lpstr>
      <vt:lpstr>What is an antibiotics ?</vt:lpstr>
      <vt:lpstr>The Discovery of Antibiotics</vt:lpstr>
      <vt:lpstr>In August 1928, before leaving for vacation, Scottish microbiologist Alexander Fleming stacked his cultures of infection-causing Staphylococcus bacteria on a laboratory bench. When he returned to work a few weeks later, Fleming noticed that one culture had been contaminated with Penicillium fungus, and that the colony of Staphylococcus surrounding it had been destroyed! Fleming named the bacteria-killing substance penicillin, and he suggested that it could be used to treat bacterial infections in humans.</vt:lpstr>
      <vt:lpstr>Also in 1942, Russian biologists Georgy Gause and Maria Brazhnikova noticed that the Bacillus brevis bacterium killed the pathogenic bacterium Staphylococcus aureus. In contrast to Fleming’s efforts with penicillin, they successfully isolated the antibiotic compound from Bacillus brevis and named it Gramicidin Soviet. Within a year, this antibiotic was distributed to Soviet military hospitals.      Meanwhile, American scientists were scouring various food markets for rotten groceries and finally found a moldy cantaloupe in Illinois with a high concentration of penicillin. This mundane discovery allowed the United States to produce 2 million doses of penicillin in time for the Allied invasion of Normandy in 1944, thus saving thousands of wounded soldiers’ lives.    </vt:lpstr>
      <vt:lpstr>peptides</vt:lpstr>
      <vt:lpstr>MRSA Methicillin-resistant Staphylococcus aureus</vt:lpstr>
      <vt:lpstr>How Do Bacteria Make Antibiotics? </vt:lpstr>
      <vt:lpstr>How peptides are encoded by the genome</vt:lpstr>
      <vt:lpstr>Central Dogma of Molecular Biology</vt:lpstr>
      <vt:lpstr>Much like replication, the chemical machinery underlying transcription and translation is fascinating, but from a computational perspective, both processes are straightforward. Transcription simply transforms a DNA string into an RNA string by replacing all occurrences of T with U. The resulting strand of RNA is translated into an amino acid sequence as follows. During translation, the RNA strand is partitioned into non-overlapping 3-mers called codons. Then, each codon is converted into one of 20 amino acids via the genetic code; the resulting sequence can be represented as an amino acid string formed over a 20-letter alphabet. As illustrated in the figure below, each of the 64 RNA codons encodes its own amino acid (some codons encode the same amino acid), with the exception of three stop codons that do not translate into amino acids and serve to halt translation.    For example, the DNA string TATACGAAA transcribes into the RNA string UAUACGAAA, which in turn translates into the amino acid string Y-T-K.</vt:lpstr>
      <vt:lpstr>Question !!!</vt:lpstr>
      <vt:lpstr>Where is Tyrocidine encoded in the Bacillus brevis genome?</vt:lpstr>
      <vt:lpstr>We say that a DNA string Pattern encodes an amino acid string Peptide if the RNA string transcribed from either Pattern or its reverse complement Pattern translates into Peptide.</vt:lpstr>
      <vt:lpstr>Solve the Peptide Encoding Problem for Bacillus brevis and Tyrocidine B1 (Val-Lys-Leu-Phe-Pro-Trp-Phe-Asn-Gln-Tyr).</vt:lpstr>
      <vt:lpstr>Neither Gause nor Synge was aware of it, but tyrocidines and gramicidins are actually cyclic peptides; the cyclic representation for Tyrocidine B1 is shown on the left in the figure below. Thus, Tyrocidine B1 has ten different linear representations, and we should run the Peptide Encoding Problem on every one of these sequences to find potential 30-mers coding for Tyrocidine B1. Yet when we solve the Peptide Encoding Problem for each of the ten strings on the right in the figure below, we find no 30-mer in the Bacillus brevis genome encoding Tyrocidine B1!</vt:lpstr>
      <vt:lpstr>Dodging the Central Dogma of Molecular Biology </vt:lpstr>
      <vt:lpstr>Hopefully, you are perplexed, because the Central Dogma of Molecular Biology implies that all peptides must be encoded by the genome. Nobel laureate Edward Tatum was just as confused, and in 1963, he devised an ingenious experiment. Protein translation is carried out by a molecular machine called a ribosome, and so Tatum reasoned that if he inhibited the ribosome, all protein production in Bacillus brevis should grind to a halt. To his amazement, all proteins did indeed shut down — except for tyrocidines and gramicidins! His experiment led Tatum to hypothesize that some yet unknown non-ribosomal mechanism must assemble these peptides.  In 1969, Fritz Lipmann (another Nobel laureate) demonstrated that tyrocidines and gramicidins are non-ribosomal peptides (NRPs), synthesized not by the ribosome, but by a giant protein called NRP synthetase. This enzyme pieces together antibiotic peptides without any reliance on RNA or the genetic code! We now know that every NRP synthetase assembles peptides by growing them one amino acid at a time, as shown in the figure below. </vt:lpstr>
      <vt:lpstr>NRP synthetase is a giant multi-module protein that assembles a cyclic peptide in steps, one amino acid at a time. Each of ten different modules (shown by different colors) adds a single amino acid to the peptide, which in the figure is one of many tyrocidines produced by Bacilus brevis. In a final step, the peptide is circularized.</vt:lpstr>
      <vt:lpstr>Sequencing Antibiotics By Shattering Them Into Pieces </vt:lpstr>
      <vt:lpstr>Introduction to mass spectrometry </vt:lpstr>
      <vt:lpstr>The workhorse of peptide sequencing is the mass spectrometer, an expensive molecular scale that shatters molecules into pieces and then weighs the resulting fragments. The mass spectrometer measures the mass of a molecule in daltons (Da); 1 Da is approximately equal to the mass of a single nuclear particle . We will approximate the mass of a molecule by simply adding the number of protons and neutrons found in the molecule’s constituent atoms, which yields the molecule’s integer mass. For example, the amino acid glycine, which has chemical formula C2H3ON, has an integer mass of 57, since 2·12 + 3·1 + 1·16 + 1·14 = 57</vt:lpstr>
      <vt:lpstr>Mass spectrometer performance</vt:lpstr>
      <vt:lpstr>How can we use the experimental spectrum to sequence a peptide?</vt:lpstr>
      <vt:lpstr>The theoretical spectrum of a cyclic peptide Peptide, denoted Cyclospectrum(Peptide), is the collection of all of the masses of its subpeptides, in addition to the mass 0 and the mass of the entire peptide, with masses ordered from smallest to largest. We will assume that the theoretical spectrum can contain duplicate elements, as is the case for NQEL (shown below), where NQ and EL have the same mass.</vt:lpstr>
      <vt:lpstr>algorithms</vt:lpstr>
      <vt:lpstr>A Brute Force Algorithm for Cyclopeptide Sequencing </vt:lpstr>
      <vt:lpstr>The brute force cyclopeptide sequencing algorithm </vt:lpstr>
      <vt:lpstr>Counting Peptides with Given Mass Problem: Compute the number of peptides of given mass.  Input: An integer m. Output: The number of linear peptides having integer mass m.</vt:lpstr>
      <vt:lpstr>Branch-and-Bound Algorithm for Cyclopeptide Sequencing </vt:lpstr>
      <vt:lpstr>Mass Spectrometry Meets Golf</vt:lpstr>
      <vt:lpstr>To generalize the Cyclopeptide Sequencing Problem to handle noisy spectra, we need to relax the requirement that a candidate peptide’s theoretical spectrum must match the experimental spectrum exactly, and instead incorporate a scoring function that will select the peptide whose theoretical spectrum matches the given experimental spectrum the most closely. Given a cyclic peptide Peptide and a spectrum Spectrum, we define Score(Peptide, Spectrum) as the number of masses shared between Cyclospectrum(Peptide) and Spectrum. Recall our previous example:</vt:lpstr>
      <vt:lpstr>Cyclopeptide Scoring Problem: Compute the score of a cyclic peptide against a spectrum.</vt:lpstr>
      <vt:lpstr>LeaderboardCyclopeptideSequencing.  LeaderboardCyclopeptideSequencing(Spectrum, N)   Leaderboard ← set containing only the empty peptide   LeaderPeptide ← empty peptide   while Leaderboard is non-empty     Leaderboard ← Expand(Leaderboard)     for each Peptide in Leaderboard       if Mass(Peptide) = ParentMass(Spectrum)         if Score(Peptide, Spectrum) &gt; Score(LeaderPeptide, Spectrum)           LeaderPeptide ← Peptide       else if Mass(Peptide) &gt; ParentMass(Spectrum)         remove Peptide from Leaderboard     Leaderboard ← Trim(Leaderboard, Spectrum, N)   output LeaderPeptide</vt:lpstr>
      <vt:lpstr>From 20 to More than 100 Amino Acids </vt:lpstr>
      <vt:lpstr>The Spectral Convolution Saves the Day</vt:lpstr>
      <vt:lpstr>Following this example, we define the convolution of a spectrum by taking all positive differences of masses in the spectrum. The tables on the next steps show the convolutions of the theoretical and simulated spectra of NQEL that we encountered before (spectra reproduced below).</vt:lpstr>
      <vt:lpstr>From Simulated to Real Spectra</vt:lpstr>
      <vt:lpstr>PowerPoint Presentation</vt:lpstr>
      <vt:lpstr>PowerPoint Presentation</vt:lpstr>
      <vt:lpstr>PowerPoint Presentation</vt:lpstr>
      <vt:lpstr>THANKs for YOUr patience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9</cp:revision>
  <dcterms:created xsi:type="dcterms:W3CDTF">2025-10-22T16:06:24Z</dcterms:created>
  <dcterms:modified xsi:type="dcterms:W3CDTF">2025-10-23T06:23:47Z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